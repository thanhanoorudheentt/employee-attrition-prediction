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5143500" cx="9144000"/>
  <p:notesSz cx="5143500" cy="9144000"/>
  <p:embeddedFontLst>
    <p:embeddedFont>
      <p:font typeface="Roboto Mono"/>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RobotoMono-boldItalic.fntdata"/><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font" Target="fonts/RobotoMono-regular.fntdata"/><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font" Target="fonts/RobotoMono-italic.fntdata"/><Relationship Id="rId6" Type="http://schemas.openxmlformats.org/officeDocument/2006/relationships/slide" Target="slides/slide2.xml"/><Relationship Id="rId18" Type="http://schemas.openxmlformats.org/officeDocument/2006/relationships/font" Target="fonts/RobotoMono-bold.fntdata"/><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 name="Google Shape;5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 name="Google Shape;6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 name="Google Shape;10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 name="Google Shape;15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1" name="Google Shape;17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5" name="Google Shape;20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 name="Google Shape;23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 name="Google Shape;23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 Id="rId7" Type="http://schemas.openxmlformats.org/officeDocument/2006/relationships/image" Target="../media/image1.png"/><Relationship Id="rId8"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18.png"/><Relationship Id="rId5" Type="http://schemas.openxmlformats.org/officeDocument/2006/relationships/image" Target="../media/image14.png"/><Relationship Id="rId6" Type="http://schemas.openxmlformats.org/officeDocument/2006/relationships/image" Target="../media/image27.png"/><Relationship Id="rId7" Type="http://schemas.openxmlformats.org/officeDocument/2006/relationships/image" Target="../media/image7.png"/><Relationship Id="rId8" Type="http://schemas.openxmlformats.org/officeDocument/2006/relationships/image" Target="../media/image3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38.png"/><Relationship Id="rId6" Type="http://schemas.openxmlformats.org/officeDocument/2006/relationships/image" Target="../media/image4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7.png"/><Relationship Id="rId4" Type="http://schemas.openxmlformats.org/officeDocument/2006/relationships/image" Target="../media/image3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4.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3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35.png"/><Relationship Id="rId5" Type="http://schemas.openxmlformats.org/officeDocument/2006/relationships/image" Target="../media/image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4.png"/><Relationship Id="rId9" Type="http://schemas.openxmlformats.org/officeDocument/2006/relationships/image" Target="../media/image27.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21.png"/><Relationship Id="rId8"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15" name="Shape 15"/>
        <p:cNvGrpSpPr/>
        <p:nvPr/>
      </p:nvGrpSpPr>
      <p:grpSpPr>
        <a:xfrm>
          <a:off x="0" y="0"/>
          <a:ext cx="0" cy="0"/>
          <a:chOff x="0" y="0"/>
          <a:chExt cx="0" cy="0"/>
        </a:xfrm>
      </p:grpSpPr>
      <p:sp>
        <p:nvSpPr>
          <p:cNvPr id="16" name="Google Shape;16;p3"/>
          <p:cNvSpPr/>
          <p:nvPr/>
        </p:nvSpPr>
        <p:spPr>
          <a:xfrm>
            <a:off x="0" y="0"/>
            <a:ext cx="164592" cy="51435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457200" y="1200145"/>
            <a:ext cx="8229600" cy="82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Employee Attrition</a:t>
            </a:r>
            <a:endParaRPr b="0" i="0" sz="4400" u="none" cap="none" strike="noStrike">
              <a:solidFill>
                <a:schemeClr val="dk1"/>
              </a:solidFill>
              <a:latin typeface="Calibri"/>
              <a:ea typeface="Calibri"/>
              <a:cs typeface="Calibri"/>
              <a:sym typeface="Calibri"/>
            </a:endParaRPr>
          </a:p>
        </p:txBody>
      </p:sp>
      <p:sp>
        <p:nvSpPr>
          <p:cNvPr id="18" name="Google Shape;18;p3"/>
          <p:cNvSpPr/>
          <p:nvPr/>
        </p:nvSpPr>
        <p:spPr>
          <a:xfrm>
            <a:off x="457200" y="1977385"/>
            <a:ext cx="8229600" cy="640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2800"/>
              <a:buFont typeface="Calibri"/>
              <a:buNone/>
            </a:pPr>
            <a:r>
              <a:rPr b="0" i="0" lang="en-US" sz="2800" u="none" cap="none" strike="noStrike">
                <a:solidFill>
                  <a:srgbClr val="14B8A6"/>
                </a:solidFill>
                <a:latin typeface="Calibri"/>
                <a:ea typeface="Calibri"/>
                <a:cs typeface="Calibri"/>
                <a:sym typeface="Calibri"/>
              </a:rPr>
              <a:t>Prediction Using HR Analytics</a:t>
            </a:r>
            <a:endParaRPr b="0" i="0" sz="2800" u="none" cap="none" strike="noStrike">
              <a:solidFill>
                <a:schemeClr val="dk1"/>
              </a:solidFill>
              <a:latin typeface="Calibri"/>
              <a:ea typeface="Calibri"/>
              <a:cs typeface="Calibri"/>
              <a:sym typeface="Calibri"/>
            </a:endParaRPr>
          </a:p>
        </p:txBody>
      </p:sp>
      <p:sp>
        <p:nvSpPr>
          <p:cNvPr id="19" name="Google Shape;19;p3"/>
          <p:cNvSpPr/>
          <p:nvPr/>
        </p:nvSpPr>
        <p:spPr>
          <a:xfrm>
            <a:off x="2743200" y="2681473"/>
            <a:ext cx="3657600" cy="273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457200" y="2800345"/>
            <a:ext cx="8229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300"/>
              <a:buFont typeface="Calibri"/>
              <a:buNone/>
            </a:pPr>
            <a:r>
              <a:rPr b="0" i="0" lang="en-US" sz="1300" u="none" cap="none" strike="noStrike">
                <a:solidFill>
                  <a:srgbClr val="64748B"/>
                </a:solidFill>
                <a:latin typeface="Calibri"/>
                <a:ea typeface="Calibri"/>
                <a:cs typeface="Calibri"/>
                <a:sym typeface="Calibri"/>
              </a:rPr>
              <a:t>Predictive Analytics  |  Digital University Kerala  |  202</a:t>
            </a:r>
            <a:r>
              <a:rPr lang="en-US" sz="1300">
                <a:solidFill>
                  <a:srgbClr val="64748B"/>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21" name="Google Shape;21;p3"/>
          <p:cNvSpPr/>
          <p:nvPr/>
        </p:nvSpPr>
        <p:spPr>
          <a:xfrm>
            <a:off x="457200" y="3211825"/>
            <a:ext cx="8229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E8F0"/>
              </a:buClr>
              <a:buSzPts val="1300"/>
              <a:buFont typeface="Calibri"/>
              <a:buNone/>
            </a:pPr>
            <a:r>
              <a:rPr b="0" i="0" lang="en-US" sz="1300" u="none" cap="none" strike="noStrike">
                <a:solidFill>
                  <a:srgbClr val="E2E8F0"/>
                </a:solidFill>
                <a:latin typeface="Calibri"/>
                <a:ea typeface="Calibri"/>
                <a:cs typeface="Calibri"/>
                <a:sym typeface="Calibri"/>
              </a:rPr>
              <a:t>Anusree S   ·   Thanha Noorudheen TT   ·   Nihala Thajudeen</a:t>
            </a:r>
            <a:endParaRPr b="0" i="0" sz="1300" u="none" cap="none" strike="noStrike">
              <a:solidFill>
                <a:schemeClr val="dk1"/>
              </a:solidFill>
              <a:latin typeface="Calibri"/>
              <a:ea typeface="Calibri"/>
              <a:cs typeface="Calibri"/>
              <a:sym typeface="Calibri"/>
            </a:endParaRPr>
          </a:p>
        </p:txBody>
      </p:sp>
      <p:sp>
        <p:nvSpPr>
          <p:cNvPr id="22" name="Google Shape;22;p3"/>
          <p:cNvSpPr/>
          <p:nvPr/>
        </p:nvSpPr>
        <p:spPr>
          <a:xfrm>
            <a:off x="457200" y="3623305"/>
            <a:ext cx="8229600" cy="320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200"/>
              <a:buFont typeface="Calibri"/>
              <a:buNone/>
            </a:pPr>
            <a:r>
              <a:rPr b="0" i="0" lang="en-US" u="none" cap="none" strike="noStrike">
                <a:solidFill>
                  <a:srgbClr val="64748B"/>
                </a:solidFill>
                <a:latin typeface="Calibri"/>
                <a:ea typeface="Calibri"/>
                <a:cs typeface="Calibri"/>
                <a:sym typeface="Calibri"/>
              </a:rPr>
              <a:t>Instructor: Prof. Aswin V S</a:t>
            </a:r>
            <a:endParaRPr b="0" i="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27" name="Shape 27"/>
        <p:cNvGrpSpPr/>
        <p:nvPr/>
      </p:nvGrpSpPr>
      <p:grpSpPr>
        <a:xfrm>
          <a:off x="0" y="0"/>
          <a:ext cx="0" cy="0"/>
          <a:chOff x="0" y="0"/>
          <a:chExt cx="0" cy="0"/>
        </a:xfrm>
      </p:grpSpPr>
      <p:sp>
        <p:nvSpPr>
          <p:cNvPr id="28" name="Google Shape;28;p4"/>
          <p:cNvSpPr/>
          <p:nvPr/>
        </p:nvSpPr>
        <p:spPr>
          <a:xfrm>
            <a:off x="457200" y="27432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3600"/>
              <a:buFont typeface="Calibri"/>
              <a:buNone/>
            </a:pPr>
            <a:r>
              <a:rPr b="1" i="0" lang="en-US" sz="3600" u="none" cap="none" strike="noStrike">
                <a:solidFill>
                  <a:srgbClr val="0D1B2A"/>
                </a:solidFill>
                <a:latin typeface="Calibri"/>
                <a:ea typeface="Calibri"/>
                <a:cs typeface="Calibri"/>
                <a:sym typeface="Calibri"/>
              </a:rPr>
              <a:t>Agenda</a:t>
            </a:r>
            <a:endParaRPr b="0" i="0" sz="3600" u="none" cap="none" strike="noStrike">
              <a:solidFill>
                <a:schemeClr val="dk1"/>
              </a:solidFill>
              <a:latin typeface="Calibri"/>
              <a:ea typeface="Calibri"/>
              <a:cs typeface="Calibri"/>
              <a:sym typeface="Calibri"/>
            </a:endParaRPr>
          </a:p>
        </p:txBody>
      </p:sp>
      <p:sp>
        <p:nvSpPr>
          <p:cNvPr id="29" name="Google Shape;29;p4"/>
          <p:cNvSpPr/>
          <p:nvPr/>
        </p:nvSpPr>
        <p:spPr>
          <a:xfrm>
            <a:off x="457200" y="868680"/>
            <a:ext cx="8229600" cy="27432"/>
          </a:xfrm>
          <a:prstGeom prst="rect">
            <a:avLst/>
          </a:prstGeom>
          <a:solidFill>
            <a:srgbClr val="E2E8F0"/>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457200" y="1051560"/>
            <a:ext cx="3840480" cy="960120"/>
          </a:xfrm>
          <a:prstGeom prst="rect">
            <a:avLst/>
          </a:prstGeom>
          <a:solidFill>
            <a:srgbClr val="FFFFFF"/>
          </a:solidFill>
          <a:ln>
            <a:noFill/>
          </a:ln>
          <a:effectLst>
            <a:outerShdw blurRad="76200" rotWithShape="0" algn="bl" dir="8100000" dist="25400">
              <a:srgbClr val="000000">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594360" y="1097280"/>
            <a:ext cx="502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173"/>
              </a:buClr>
              <a:buSzPts val="2200"/>
              <a:buFont typeface="Calibri"/>
              <a:buNone/>
            </a:pPr>
            <a:r>
              <a:rPr b="1" i="0" lang="en-US" sz="2200" u="none" cap="none" strike="noStrike">
                <a:solidFill>
                  <a:srgbClr val="0F7173"/>
                </a:solidFill>
                <a:latin typeface="Calibri"/>
                <a:ea typeface="Calibri"/>
                <a:cs typeface="Calibri"/>
                <a:sym typeface="Calibri"/>
              </a:rPr>
              <a:t>01</a:t>
            </a:r>
            <a:endParaRPr b="0" i="0" sz="2200" u="none" cap="none" strike="noStrike">
              <a:solidFill>
                <a:schemeClr val="dk1"/>
              </a:solidFill>
              <a:latin typeface="Calibri"/>
              <a:ea typeface="Calibri"/>
              <a:cs typeface="Calibri"/>
              <a:sym typeface="Calibri"/>
            </a:endParaRPr>
          </a:p>
        </p:txBody>
      </p:sp>
      <p:pic>
        <p:nvPicPr>
          <p:cNvPr descr="preencoded.png" id="32" name="Google Shape;32;p4"/>
          <p:cNvPicPr preferRelativeResize="0"/>
          <p:nvPr/>
        </p:nvPicPr>
        <p:blipFill rotWithShape="1">
          <a:blip r:embed="rId3">
            <a:alphaModFix/>
          </a:blip>
          <a:srcRect b="0" l="0" r="0" t="0"/>
          <a:stretch/>
        </p:blipFill>
        <p:spPr>
          <a:xfrm>
            <a:off x="1078992" y="1298448"/>
            <a:ext cx="365760" cy="365760"/>
          </a:xfrm>
          <a:prstGeom prst="rect">
            <a:avLst/>
          </a:prstGeom>
          <a:noFill/>
          <a:ln>
            <a:noFill/>
          </a:ln>
        </p:spPr>
      </p:pic>
      <p:sp>
        <p:nvSpPr>
          <p:cNvPr id="33" name="Google Shape;33;p4"/>
          <p:cNvSpPr/>
          <p:nvPr/>
        </p:nvSpPr>
        <p:spPr>
          <a:xfrm>
            <a:off x="1508760" y="1234440"/>
            <a:ext cx="269748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400"/>
              <a:buFont typeface="Calibri"/>
              <a:buNone/>
            </a:pPr>
            <a:r>
              <a:rPr b="0" i="0" lang="en-US" sz="1400" u="none" cap="none" strike="noStrike">
                <a:solidFill>
                  <a:srgbClr val="0D1B2A"/>
                </a:solidFill>
                <a:latin typeface="Calibri"/>
                <a:ea typeface="Calibri"/>
                <a:cs typeface="Calibri"/>
                <a:sym typeface="Calibri"/>
              </a:rPr>
              <a:t>Problem Statement &amp; Motivation</a:t>
            </a:r>
            <a:endParaRPr b="0" i="0" sz="1400" u="none" cap="none" strike="noStrike">
              <a:solidFill>
                <a:schemeClr val="dk1"/>
              </a:solidFill>
              <a:latin typeface="Calibri"/>
              <a:ea typeface="Calibri"/>
              <a:cs typeface="Calibri"/>
              <a:sym typeface="Calibri"/>
            </a:endParaRPr>
          </a:p>
        </p:txBody>
      </p:sp>
      <p:sp>
        <p:nvSpPr>
          <p:cNvPr id="34" name="Google Shape;34;p4"/>
          <p:cNvSpPr/>
          <p:nvPr/>
        </p:nvSpPr>
        <p:spPr>
          <a:xfrm>
            <a:off x="457200" y="2240280"/>
            <a:ext cx="3840480" cy="960120"/>
          </a:xfrm>
          <a:prstGeom prst="rect">
            <a:avLst/>
          </a:prstGeom>
          <a:solidFill>
            <a:srgbClr val="FFFFFF"/>
          </a:solidFill>
          <a:ln>
            <a:noFill/>
          </a:ln>
          <a:effectLst>
            <a:outerShdw blurRad="76200" rotWithShape="0" algn="bl" dir="8100000" dist="25400">
              <a:srgbClr val="000000">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594360" y="2286000"/>
            <a:ext cx="502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173"/>
              </a:buClr>
              <a:buSzPts val="2200"/>
              <a:buFont typeface="Calibri"/>
              <a:buNone/>
            </a:pPr>
            <a:r>
              <a:rPr b="1" i="0" lang="en-US" sz="2200" u="none" cap="none" strike="noStrike">
                <a:solidFill>
                  <a:srgbClr val="0F7173"/>
                </a:solidFill>
                <a:latin typeface="Calibri"/>
                <a:ea typeface="Calibri"/>
                <a:cs typeface="Calibri"/>
                <a:sym typeface="Calibri"/>
              </a:rPr>
              <a:t>02</a:t>
            </a:r>
            <a:endParaRPr b="0" i="0" sz="2200" u="none" cap="none" strike="noStrike">
              <a:solidFill>
                <a:schemeClr val="dk1"/>
              </a:solidFill>
              <a:latin typeface="Calibri"/>
              <a:ea typeface="Calibri"/>
              <a:cs typeface="Calibri"/>
              <a:sym typeface="Calibri"/>
            </a:endParaRPr>
          </a:p>
        </p:txBody>
      </p:sp>
      <p:pic>
        <p:nvPicPr>
          <p:cNvPr descr="preencoded.png" id="36" name="Google Shape;36;p4"/>
          <p:cNvPicPr preferRelativeResize="0"/>
          <p:nvPr/>
        </p:nvPicPr>
        <p:blipFill rotWithShape="1">
          <a:blip r:embed="rId4">
            <a:alphaModFix/>
          </a:blip>
          <a:srcRect b="0" l="0" r="0" t="0"/>
          <a:stretch/>
        </p:blipFill>
        <p:spPr>
          <a:xfrm>
            <a:off x="1078992" y="2487168"/>
            <a:ext cx="365760" cy="365760"/>
          </a:xfrm>
          <a:prstGeom prst="rect">
            <a:avLst/>
          </a:prstGeom>
          <a:noFill/>
          <a:ln>
            <a:noFill/>
          </a:ln>
        </p:spPr>
      </p:pic>
      <p:sp>
        <p:nvSpPr>
          <p:cNvPr id="37" name="Google Shape;37;p4"/>
          <p:cNvSpPr/>
          <p:nvPr/>
        </p:nvSpPr>
        <p:spPr>
          <a:xfrm>
            <a:off x="1508760" y="2423160"/>
            <a:ext cx="269748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400"/>
              <a:buFont typeface="Calibri"/>
              <a:buNone/>
            </a:pPr>
            <a:r>
              <a:rPr b="0" i="0" lang="en-US" sz="1400" u="none" cap="none" strike="noStrike">
                <a:solidFill>
                  <a:srgbClr val="0D1B2A"/>
                </a:solidFill>
                <a:latin typeface="Calibri"/>
                <a:ea typeface="Calibri"/>
                <a:cs typeface="Calibri"/>
                <a:sym typeface="Calibri"/>
              </a:rPr>
              <a:t>Dataset Overview</a:t>
            </a:r>
            <a:endParaRPr b="0" i="0" sz="1400" u="none" cap="none" strike="noStrike">
              <a:solidFill>
                <a:schemeClr val="dk1"/>
              </a:solidFill>
              <a:latin typeface="Calibri"/>
              <a:ea typeface="Calibri"/>
              <a:cs typeface="Calibri"/>
              <a:sym typeface="Calibri"/>
            </a:endParaRPr>
          </a:p>
        </p:txBody>
      </p:sp>
      <p:sp>
        <p:nvSpPr>
          <p:cNvPr id="38" name="Google Shape;38;p4"/>
          <p:cNvSpPr/>
          <p:nvPr/>
        </p:nvSpPr>
        <p:spPr>
          <a:xfrm>
            <a:off x="457200" y="3429000"/>
            <a:ext cx="3840480" cy="960120"/>
          </a:xfrm>
          <a:prstGeom prst="rect">
            <a:avLst/>
          </a:prstGeom>
          <a:solidFill>
            <a:srgbClr val="FFFFFF"/>
          </a:solidFill>
          <a:ln>
            <a:noFill/>
          </a:ln>
          <a:effectLst>
            <a:outerShdw blurRad="76200" rotWithShape="0" algn="bl" dir="8100000" dist="25400">
              <a:srgbClr val="000000">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4"/>
          <p:cNvSpPr/>
          <p:nvPr/>
        </p:nvSpPr>
        <p:spPr>
          <a:xfrm>
            <a:off x="594360" y="3474720"/>
            <a:ext cx="502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173"/>
              </a:buClr>
              <a:buSzPts val="2200"/>
              <a:buFont typeface="Calibri"/>
              <a:buNone/>
            </a:pPr>
            <a:r>
              <a:rPr b="1" i="0" lang="en-US" sz="2200" u="none" cap="none" strike="noStrike">
                <a:solidFill>
                  <a:srgbClr val="0F7173"/>
                </a:solidFill>
                <a:latin typeface="Calibri"/>
                <a:ea typeface="Calibri"/>
                <a:cs typeface="Calibri"/>
                <a:sym typeface="Calibri"/>
              </a:rPr>
              <a:t>03</a:t>
            </a:r>
            <a:endParaRPr b="0" i="0" sz="2200" u="none" cap="none" strike="noStrike">
              <a:solidFill>
                <a:schemeClr val="dk1"/>
              </a:solidFill>
              <a:latin typeface="Calibri"/>
              <a:ea typeface="Calibri"/>
              <a:cs typeface="Calibri"/>
              <a:sym typeface="Calibri"/>
            </a:endParaRPr>
          </a:p>
        </p:txBody>
      </p:sp>
      <p:pic>
        <p:nvPicPr>
          <p:cNvPr descr="preencoded.png" id="40" name="Google Shape;40;p4"/>
          <p:cNvPicPr preferRelativeResize="0"/>
          <p:nvPr/>
        </p:nvPicPr>
        <p:blipFill rotWithShape="1">
          <a:blip r:embed="rId5">
            <a:alphaModFix/>
          </a:blip>
          <a:srcRect b="0" l="0" r="0" t="0"/>
          <a:stretch/>
        </p:blipFill>
        <p:spPr>
          <a:xfrm>
            <a:off x="1078992" y="3675888"/>
            <a:ext cx="365760" cy="365760"/>
          </a:xfrm>
          <a:prstGeom prst="rect">
            <a:avLst/>
          </a:prstGeom>
          <a:noFill/>
          <a:ln>
            <a:noFill/>
          </a:ln>
        </p:spPr>
      </p:pic>
      <p:sp>
        <p:nvSpPr>
          <p:cNvPr id="41" name="Google Shape;41;p4"/>
          <p:cNvSpPr/>
          <p:nvPr/>
        </p:nvSpPr>
        <p:spPr>
          <a:xfrm>
            <a:off x="1508760" y="3611880"/>
            <a:ext cx="269748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400"/>
              <a:buFont typeface="Calibri"/>
              <a:buNone/>
            </a:pPr>
            <a:r>
              <a:rPr b="0" i="0" lang="en-US" sz="1400" u="none" cap="none" strike="noStrike">
                <a:solidFill>
                  <a:srgbClr val="0D1B2A"/>
                </a:solidFill>
                <a:latin typeface="Calibri"/>
                <a:ea typeface="Calibri"/>
                <a:cs typeface="Calibri"/>
                <a:sym typeface="Calibri"/>
              </a:rPr>
              <a:t>Methodology &amp; Pipeline</a:t>
            </a:r>
            <a:endParaRPr b="0" i="0" sz="1400" u="none" cap="none" strike="noStrike">
              <a:solidFill>
                <a:schemeClr val="dk1"/>
              </a:solidFill>
              <a:latin typeface="Calibri"/>
              <a:ea typeface="Calibri"/>
              <a:cs typeface="Calibri"/>
              <a:sym typeface="Calibri"/>
            </a:endParaRPr>
          </a:p>
        </p:txBody>
      </p:sp>
      <p:sp>
        <p:nvSpPr>
          <p:cNvPr id="42" name="Google Shape;42;p4"/>
          <p:cNvSpPr/>
          <p:nvPr/>
        </p:nvSpPr>
        <p:spPr>
          <a:xfrm>
            <a:off x="4800600" y="1051560"/>
            <a:ext cx="3840480" cy="960120"/>
          </a:xfrm>
          <a:prstGeom prst="rect">
            <a:avLst/>
          </a:prstGeom>
          <a:solidFill>
            <a:srgbClr val="FFFFFF"/>
          </a:solidFill>
          <a:ln>
            <a:noFill/>
          </a:ln>
          <a:effectLst>
            <a:outerShdw blurRad="76200" rotWithShape="0" algn="bl" dir="8100000" dist="25400">
              <a:srgbClr val="000000">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4937760" y="1097280"/>
            <a:ext cx="502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173"/>
              </a:buClr>
              <a:buSzPts val="2200"/>
              <a:buFont typeface="Calibri"/>
              <a:buNone/>
            </a:pPr>
            <a:r>
              <a:rPr b="1" i="0" lang="en-US" sz="2200" u="none" cap="none" strike="noStrike">
                <a:solidFill>
                  <a:srgbClr val="0F7173"/>
                </a:solidFill>
                <a:latin typeface="Calibri"/>
                <a:ea typeface="Calibri"/>
                <a:cs typeface="Calibri"/>
                <a:sym typeface="Calibri"/>
              </a:rPr>
              <a:t>04</a:t>
            </a:r>
            <a:endParaRPr b="0" i="0" sz="2200" u="none" cap="none" strike="noStrike">
              <a:solidFill>
                <a:schemeClr val="dk1"/>
              </a:solidFill>
              <a:latin typeface="Calibri"/>
              <a:ea typeface="Calibri"/>
              <a:cs typeface="Calibri"/>
              <a:sym typeface="Calibri"/>
            </a:endParaRPr>
          </a:p>
        </p:txBody>
      </p:sp>
      <p:pic>
        <p:nvPicPr>
          <p:cNvPr descr="preencoded.png" id="44" name="Google Shape;44;p4"/>
          <p:cNvPicPr preferRelativeResize="0"/>
          <p:nvPr/>
        </p:nvPicPr>
        <p:blipFill rotWithShape="1">
          <a:blip r:embed="rId6">
            <a:alphaModFix/>
          </a:blip>
          <a:srcRect b="0" l="0" r="0" t="0"/>
          <a:stretch/>
        </p:blipFill>
        <p:spPr>
          <a:xfrm>
            <a:off x="5422392" y="1298448"/>
            <a:ext cx="365760" cy="365760"/>
          </a:xfrm>
          <a:prstGeom prst="rect">
            <a:avLst/>
          </a:prstGeom>
          <a:noFill/>
          <a:ln>
            <a:noFill/>
          </a:ln>
        </p:spPr>
      </p:pic>
      <p:sp>
        <p:nvSpPr>
          <p:cNvPr id="45" name="Google Shape;45;p4"/>
          <p:cNvSpPr/>
          <p:nvPr/>
        </p:nvSpPr>
        <p:spPr>
          <a:xfrm>
            <a:off x="5852160" y="1234440"/>
            <a:ext cx="269748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400"/>
              <a:buFont typeface="Calibri"/>
              <a:buNone/>
            </a:pPr>
            <a:r>
              <a:rPr b="0" i="0" lang="en-US" sz="1400" u="none" cap="none" strike="noStrike">
                <a:solidFill>
                  <a:srgbClr val="0D1B2A"/>
                </a:solidFill>
                <a:latin typeface="Calibri"/>
                <a:ea typeface="Calibri"/>
                <a:cs typeface="Calibri"/>
                <a:sym typeface="Calibri"/>
              </a:rPr>
              <a:t>Models &amp; Key Results</a:t>
            </a:r>
            <a:endParaRPr b="0" i="0" sz="1400" u="none" cap="none" strike="noStrike">
              <a:solidFill>
                <a:schemeClr val="dk1"/>
              </a:solidFill>
              <a:latin typeface="Calibri"/>
              <a:ea typeface="Calibri"/>
              <a:cs typeface="Calibri"/>
              <a:sym typeface="Calibri"/>
            </a:endParaRPr>
          </a:p>
        </p:txBody>
      </p:sp>
      <p:sp>
        <p:nvSpPr>
          <p:cNvPr id="46" name="Google Shape;46;p4"/>
          <p:cNvSpPr/>
          <p:nvPr/>
        </p:nvSpPr>
        <p:spPr>
          <a:xfrm>
            <a:off x="4800600" y="2240280"/>
            <a:ext cx="3840480" cy="960120"/>
          </a:xfrm>
          <a:prstGeom prst="rect">
            <a:avLst/>
          </a:prstGeom>
          <a:solidFill>
            <a:srgbClr val="FFFFFF"/>
          </a:solidFill>
          <a:ln>
            <a:noFill/>
          </a:ln>
          <a:effectLst>
            <a:outerShdw blurRad="76200" rotWithShape="0" algn="bl" dir="8100000" dist="25400">
              <a:srgbClr val="000000">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937760" y="2286000"/>
            <a:ext cx="502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173"/>
              </a:buClr>
              <a:buSzPts val="2200"/>
              <a:buFont typeface="Calibri"/>
              <a:buNone/>
            </a:pPr>
            <a:r>
              <a:rPr b="1" i="0" lang="en-US" sz="2200" u="none" cap="none" strike="noStrike">
                <a:solidFill>
                  <a:srgbClr val="0F7173"/>
                </a:solidFill>
                <a:latin typeface="Calibri"/>
                <a:ea typeface="Calibri"/>
                <a:cs typeface="Calibri"/>
                <a:sym typeface="Calibri"/>
              </a:rPr>
              <a:t>05</a:t>
            </a:r>
            <a:endParaRPr b="0" i="0" sz="2200" u="none" cap="none" strike="noStrike">
              <a:solidFill>
                <a:schemeClr val="dk1"/>
              </a:solidFill>
              <a:latin typeface="Calibri"/>
              <a:ea typeface="Calibri"/>
              <a:cs typeface="Calibri"/>
              <a:sym typeface="Calibri"/>
            </a:endParaRPr>
          </a:p>
        </p:txBody>
      </p:sp>
      <p:pic>
        <p:nvPicPr>
          <p:cNvPr descr="preencoded.png" id="48" name="Google Shape;48;p4"/>
          <p:cNvPicPr preferRelativeResize="0"/>
          <p:nvPr/>
        </p:nvPicPr>
        <p:blipFill rotWithShape="1">
          <a:blip r:embed="rId7">
            <a:alphaModFix/>
          </a:blip>
          <a:srcRect b="0" l="0" r="0" t="0"/>
          <a:stretch/>
        </p:blipFill>
        <p:spPr>
          <a:xfrm>
            <a:off x="5422392" y="2487168"/>
            <a:ext cx="365760" cy="365760"/>
          </a:xfrm>
          <a:prstGeom prst="rect">
            <a:avLst/>
          </a:prstGeom>
          <a:noFill/>
          <a:ln>
            <a:noFill/>
          </a:ln>
        </p:spPr>
      </p:pic>
      <p:sp>
        <p:nvSpPr>
          <p:cNvPr id="49" name="Google Shape;49;p4"/>
          <p:cNvSpPr/>
          <p:nvPr/>
        </p:nvSpPr>
        <p:spPr>
          <a:xfrm>
            <a:off x="5852160" y="2423160"/>
            <a:ext cx="269748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400"/>
              <a:buFont typeface="Calibri"/>
              <a:buNone/>
            </a:pPr>
            <a:r>
              <a:rPr b="0" i="0" lang="en-US" sz="1400" u="none" cap="none" strike="noStrike">
                <a:solidFill>
                  <a:srgbClr val="0D1B2A"/>
                </a:solidFill>
                <a:latin typeface="Calibri"/>
                <a:ea typeface="Calibri"/>
                <a:cs typeface="Calibri"/>
                <a:sym typeface="Calibri"/>
              </a:rPr>
              <a:t>Deployment (Streamlit App)</a:t>
            </a:r>
            <a:endParaRPr b="0" i="0" sz="1400" u="none" cap="none" strike="noStrike">
              <a:solidFill>
                <a:schemeClr val="dk1"/>
              </a:solidFill>
              <a:latin typeface="Calibri"/>
              <a:ea typeface="Calibri"/>
              <a:cs typeface="Calibri"/>
              <a:sym typeface="Calibri"/>
            </a:endParaRPr>
          </a:p>
        </p:txBody>
      </p:sp>
      <p:sp>
        <p:nvSpPr>
          <p:cNvPr id="50" name="Google Shape;50;p4"/>
          <p:cNvSpPr/>
          <p:nvPr/>
        </p:nvSpPr>
        <p:spPr>
          <a:xfrm>
            <a:off x="4800600" y="3429000"/>
            <a:ext cx="3840480" cy="960120"/>
          </a:xfrm>
          <a:prstGeom prst="rect">
            <a:avLst/>
          </a:prstGeom>
          <a:solidFill>
            <a:srgbClr val="FFFFFF"/>
          </a:solidFill>
          <a:ln>
            <a:noFill/>
          </a:ln>
          <a:effectLst>
            <a:outerShdw blurRad="76200" rotWithShape="0" algn="bl" dir="8100000" dist="25400">
              <a:srgbClr val="000000">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4937760" y="3474720"/>
            <a:ext cx="502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173"/>
              </a:buClr>
              <a:buSzPts val="2200"/>
              <a:buFont typeface="Calibri"/>
              <a:buNone/>
            </a:pPr>
            <a:r>
              <a:rPr b="1" i="0" lang="en-US" sz="2200" u="none" cap="none" strike="noStrike">
                <a:solidFill>
                  <a:srgbClr val="0F7173"/>
                </a:solidFill>
                <a:latin typeface="Calibri"/>
                <a:ea typeface="Calibri"/>
                <a:cs typeface="Calibri"/>
                <a:sym typeface="Calibri"/>
              </a:rPr>
              <a:t>06</a:t>
            </a:r>
            <a:endParaRPr b="0" i="0" sz="2200" u="none" cap="none" strike="noStrike">
              <a:solidFill>
                <a:schemeClr val="dk1"/>
              </a:solidFill>
              <a:latin typeface="Calibri"/>
              <a:ea typeface="Calibri"/>
              <a:cs typeface="Calibri"/>
              <a:sym typeface="Calibri"/>
            </a:endParaRPr>
          </a:p>
        </p:txBody>
      </p:sp>
      <p:pic>
        <p:nvPicPr>
          <p:cNvPr descr="preencoded.png" id="52" name="Google Shape;52;p4"/>
          <p:cNvPicPr preferRelativeResize="0"/>
          <p:nvPr/>
        </p:nvPicPr>
        <p:blipFill rotWithShape="1">
          <a:blip r:embed="rId8">
            <a:alphaModFix/>
          </a:blip>
          <a:srcRect b="0" l="0" r="0" t="0"/>
          <a:stretch/>
        </p:blipFill>
        <p:spPr>
          <a:xfrm>
            <a:off x="5422392" y="3675888"/>
            <a:ext cx="365760" cy="365760"/>
          </a:xfrm>
          <a:prstGeom prst="rect">
            <a:avLst/>
          </a:prstGeom>
          <a:noFill/>
          <a:ln>
            <a:noFill/>
          </a:ln>
        </p:spPr>
      </p:pic>
      <p:sp>
        <p:nvSpPr>
          <p:cNvPr id="53" name="Google Shape;53;p4"/>
          <p:cNvSpPr/>
          <p:nvPr/>
        </p:nvSpPr>
        <p:spPr>
          <a:xfrm>
            <a:off x="5852160" y="3611880"/>
            <a:ext cx="269748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400"/>
              <a:buFont typeface="Calibri"/>
              <a:buNone/>
            </a:pPr>
            <a:r>
              <a:rPr b="0" i="0" lang="en-US" sz="1400" u="none" cap="none" strike="noStrike">
                <a:solidFill>
                  <a:srgbClr val="0D1B2A"/>
                </a:solidFill>
                <a:latin typeface="Calibri"/>
                <a:ea typeface="Calibri"/>
                <a:cs typeface="Calibri"/>
                <a:sym typeface="Calibri"/>
              </a:rPr>
              <a:t>Conclusions &amp; Future Work</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58" name="Shape 58"/>
        <p:cNvGrpSpPr/>
        <p:nvPr/>
      </p:nvGrpSpPr>
      <p:grpSpPr>
        <a:xfrm>
          <a:off x="0" y="0"/>
          <a:ext cx="0" cy="0"/>
          <a:chOff x="0" y="0"/>
          <a:chExt cx="0" cy="0"/>
        </a:xfrm>
      </p:grpSpPr>
      <p:sp>
        <p:nvSpPr>
          <p:cNvPr id="59" name="Google Shape;59;p5"/>
          <p:cNvSpPr/>
          <p:nvPr/>
        </p:nvSpPr>
        <p:spPr>
          <a:xfrm>
            <a:off x="0" y="0"/>
            <a:ext cx="164592" cy="51435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457200" y="274320"/>
            <a:ext cx="64008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libri"/>
              <a:buNone/>
            </a:pPr>
            <a:r>
              <a:rPr b="1" i="0" lang="en-US" sz="3400" u="none" cap="none" strike="noStrike">
                <a:solidFill>
                  <a:srgbClr val="FFFFFF"/>
                </a:solidFill>
                <a:latin typeface="Calibri"/>
                <a:ea typeface="Calibri"/>
                <a:cs typeface="Calibri"/>
                <a:sym typeface="Calibri"/>
              </a:rPr>
              <a:t>Problem Statement</a:t>
            </a:r>
            <a:endParaRPr b="0" i="0" sz="3400" u="none" cap="none" strike="noStrike">
              <a:solidFill>
                <a:schemeClr val="dk1"/>
              </a:solidFill>
              <a:latin typeface="Calibri"/>
              <a:ea typeface="Calibri"/>
              <a:cs typeface="Calibri"/>
              <a:sym typeface="Calibri"/>
            </a:endParaRPr>
          </a:p>
        </p:txBody>
      </p:sp>
      <p:sp>
        <p:nvSpPr>
          <p:cNvPr id="61" name="Google Shape;61;p5"/>
          <p:cNvSpPr/>
          <p:nvPr/>
        </p:nvSpPr>
        <p:spPr>
          <a:xfrm>
            <a:off x="457250" y="1271757"/>
            <a:ext cx="8190000" cy="2334600"/>
          </a:xfrm>
          <a:prstGeom prst="rect">
            <a:avLst/>
          </a:prstGeom>
          <a:solidFill>
            <a:srgbClr val="1B3A5C"/>
          </a:solidFill>
          <a:ln cap="flat" cmpd="sng" w="12700">
            <a:solidFill>
              <a:srgbClr val="1B3A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5"/>
          <p:cNvSpPr/>
          <p:nvPr/>
        </p:nvSpPr>
        <p:spPr>
          <a:xfrm>
            <a:off x="585169" y="1445730"/>
            <a:ext cx="7805400" cy="2004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F4F8"/>
              </a:buClr>
              <a:buSzPts val="1400"/>
              <a:buFont typeface="Calibri"/>
              <a:buNone/>
            </a:pPr>
            <a:r>
              <a:rPr i="0" lang="en-US" sz="2000" u="none" cap="none" strike="noStrike">
                <a:solidFill>
                  <a:srgbClr val="F0F4F8"/>
                </a:solidFill>
                <a:latin typeface="Times New Roman"/>
                <a:ea typeface="Times New Roman"/>
                <a:cs typeface="Times New Roman"/>
                <a:sym typeface="Times New Roman"/>
              </a:rPr>
              <a:t>Employee attrition leads to increased recruitment costs and loss of experienced talent. This project predicts whether an employee is likely to leave based on HR features like job satisfaction, overtime, salary, and tenure.</a:t>
            </a:r>
            <a:endParaRPr i="0" sz="20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67" name="Shape 67"/>
        <p:cNvGrpSpPr/>
        <p:nvPr/>
      </p:nvGrpSpPr>
      <p:grpSpPr>
        <a:xfrm>
          <a:off x="0" y="0"/>
          <a:ext cx="0" cy="0"/>
          <a:chOff x="0" y="0"/>
          <a:chExt cx="0" cy="0"/>
        </a:xfrm>
      </p:grpSpPr>
      <p:sp>
        <p:nvSpPr>
          <p:cNvPr id="68" name="Google Shape;68;p6"/>
          <p:cNvSpPr/>
          <p:nvPr/>
        </p:nvSpPr>
        <p:spPr>
          <a:xfrm>
            <a:off x="457200" y="27432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3400"/>
              <a:buFont typeface="Calibri"/>
              <a:buNone/>
            </a:pPr>
            <a:r>
              <a:rPr b="1" i="0" lang="en-US" sz="3400" u="none" cap="none" strike="noStrike">
                <a:solidFill>
                  <a:srgbClr val="0D1B2A"/>
                </a:solidFill>
                <a:latin typeface="Calibri"/>
                <a:ea typeface="Calibri"/>
                <a:cs typeface="Calibri"/>
                <a:sym typeface="Calibri"/>
              </a:rPr>
              <a:t>Dataset Overview</a:t>
            </a:r>
            <a:endParaRPr b="0" i="0" sz="3400" u="none" cap="none" strike="noStrike">
              <a:solidFill>
                <a:schemeClr val="dk1"/>
              </a:solidFill>
              <a:latin typeface="Calibri"/>
              <a:ea typeface="Calibri"/>
              <a:cs typeface="Calibri"/>
              <a:sym typeface="Calibri"/>
            </a:endParaRPr>
          </a:p>
        </p:txBody>
      </p:sp>
      <p:sp>
        <p:nvSpPr>
          <p:cNvPr id="69" name="Google Shape;69;p6"/>
          <p:cNvSpPr/>
          <p:nvPr/>
        </p:nvSpPr>
        <p:spPr>
          <a:xfrm>
            <a:off x="457200" y="850392"/>
            <a:ext cx="8229600" cy="27432"/>
          </a:xfrm>
          <a:prstGeom prst="rect">
            <a:avLst/>
          </a:prstGeom>
          <a:solidFill>
            <a:srgbClr val="E2E8F0"/>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365760" y="1005840"/>
            <a:ext cx="1828800" cy="1005840"/>
          </a:xfrm>
          <a:prstGeom prst="rect">
            <a:avLst/>
          </a:prstGeom>
          <a:solidFill>
            <a:srgbClr val="0D1B2A"/>
          </a:solidFill>
          <a:ln>
            <a:noFill/>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6"/>
          <p:cNvSpPr/>
          <p:nvPr/>
        </p:nvSpPr>
        <p:spPr>
          <a:xfrm>
            <a:off x="365760" y="1051560"/>
            <a:ext cx="18288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2600"/>
              <a:buFont typeface="Calibri"/>
              <a:buNone/>
            </a:pPr>
            <a:r>
              <a:rPr b="1" i="0" lang="en-US" sz="2600" u="none" cap="none" strike="noStrike">
                <a:solidFill>
                  <a:srgbClr val="14B8A6"/>
                </a:solidFill>
                <a:latin typeface="Calibri"/>
                <a:ea typeface="Calibri"/>
                <a:cs typeface="Calibri"/>
                <a:sym typeface="Calibri"/>
              </a:rPr>
              <a:t>1,470</a:t>
            </a:r>
            <a:endParaRPr b="0" i="0" sz="2600" u="none" cap="none" strike="noStrike">
              <a:solidFill>
                <a:schemeClr val="dk1"/>
              </a:solidFill>
              <a:latin typeface="Calibri"/>
              <a:ea typeface="Calibri"/>
              <a:cs typeface="Calibri"/>
              <a:sym typeface="Calibri"/>
            </a:endParaRPr>
          </a:p>
        </p:txBody>
      </p:sp>
      <p:sp>
        <p:nvSpPr>
          <p:cNvPr id="72" name="Google Shape;72;p6"/>
          <p:cNvSpPr/>
          <p:nvPr/>
        </p:nvSpPr>
        <p:spPr>
          <a:xfrm>
            <a:off x="365760" y="1572768"/>
            <a:ext cx="18288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Records</a:t>
            </a:r>
            <a:endParaRPr b="0" i="0" sz="1200" u="none" cap="none" strike="noStrike">
              <a:solidFill>
                <a:schemeClr val="dk1"/>
              </a:solidFill>
              <a:latin typeface="Calibri"/>
              <a:ea typeface="Calibri"/>
              <a:cs typeface="Calibri"/>
              <a:sym typeface="Calibri"/>
            </a:endParaRPr>
          </a:p>
        </p:txBody>
      </p:sp>
      <p:sp>
        <p:nvSpPr>
          <p:cNvPr id="73" name="Google Shape;73;p6"/>
          <p:cNvSpPr/>
          <p:nvPr/>
        </p:nvSpPr>
        <p:spPr>
          <a:xfrm>
            <a:off x="2468880" y="1005840"/>
            <a:ext cx="1828800" cy="1005840"/>
          </a:xfrm>
          <a:prstGeom prst="rect">
            <a:avLst/>
          </a:prstGeom>
          <a:solidFill>
            <a:srgbClr val="0D1B2A"/>
          </a:solidFill>
          <a:ln>
            <a:noFill/>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6"/>
          <p:cNvSpPr/>
          <p:nvPr/>
        </p:nvSpPr>
        <p:spPr>
          <a:xfrm>
            <a:off x="2468880" y="1051560"/>
            <a:ext cx="18288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2600"/>
              <a:buFont typeface="Calibri"/>
              <a:buNone/>
            </a:pPr>
            <a:r>
              <a:rPr b="1" i="0" lang="en-US" sz="2600" u="none" cap="none" strike="noStrike">
                <a:solidFill>
                  <a:srgbClr val="14B8A6"/>
                </a:solidFill>
                <a:latin typeface="Calibri"/>
                <a:ea typeface="Calibri"/>
                <a:cs typeface="Calibri"/>
                <a:sym typeface="Calibri"/>
              </a:rPr>
              <a:t>3</a:t>
            </a:r>
            <a:r>
              <a:rPr b="1" lang="en-US" sz="2600">
                <a:solidFill>
                  <a:srgbClr val="14B8A6"/>
                </a:solidFill>
                <a:latin typeface="Calibri"/>
                <a:ea typeface="Calibri"/>
                <a:cs typeface="Calibri"/>
                <a:sym typeface="Calibri"/>
              </a:rPr>
              <a:t>0</a:t>
            </a:r>
            <a:endParaRPr b="0" i="0" sz="2600" u="none" cap="none" strike="noStrike">
              <a:solidFill>
                <a:schemeClr val="dk1"/>
              </a:solidFill>
              <a:latin typeface="Calibri"/>
              <a:ea typeface="Calibri"/>
              <a:cs typeface="Calibri"/>
              <a:sym typeface="Calibri"/>
            </a:endParaRPr>
          </a:p>
        </p:txBody>
      </p:sp>
      <p:sp>
        <p:nvSpPr>
          <p:cNvPr id="75" name="Google Shape;75;p6"/>
          <p:cNvSpPr/>
          <p:nvPr/>
        </p:nvSpPr>
        <p:spPr>
          <a:xfrm>
            <a:off x="2468880" y="1572768"/>
            <a:ext cx="18288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Features</a:t>
            </a:r>
            <a:endParaRPr b="0" i="0" sz="1200" u="none" cap="none" strike="noStrike">
              <a:solidFill>
                <a:schemeClr val="dk1"/>
              </a:solidFill>
              <a:latin typeface="Calibri"/>
              <a:ea typeface="Calibri"/>
              <a:cs typeface="Calibri"/>
              <a:sym typeface="Calibri"/>
            </a:endParaRPr>
          </a:p>
        </p:txBody>
      </p:sp>
      <p:sp>
        <p:nvSpPr>
          <p:cNvPr id="76" name="Google Shape;76;p6"/>
          <p:cNvSpPr/>
          <p:nvPr/>
        </p:nvSpPr>
        <p:spPr>
          <a:xfrm>
            <a:off x="4572000" y="1005840"/>
            <a:ext cx="1828800" cy="1005840"/>
          </a:xfrm>
          <a:prstGeom prst="rect">
            <a:avLst/>
          </a:prstGeom>
          <a:solidFill>
            <a:srgbClr val="0D1B2A"/>
          </a:solidFill>
          <a:ln>
            <a:noFill/>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6"/>
          <p:cNvSpPr/>
          <p:nvPr/>
        </p:nvSpPr>
        <p:spPr>
          <a:xfrm>
            <a:off x="4572000" y="1051560"/>
            <a:ext cx="18288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2600"/>
              <a:buFont typeface="Calibri"/>
              <a:buNone/>
            </a:pPr>
            <a:r>
              <a:rPr b="1" i="0" lang="en-US" sz="2600" u="none" cap="none" strike="noStrike">
                <a:solidFill>
                  <a:srgbClr val="14B8A6"/>
                </a:solidFill>
                <a:latin typeface="Calibri"/>
                <a:ea typeface="Calibri"/>
                <a:cs typeface="Calibri"/>
                <a:sym typeface="Calibri"/>
              </a:rPr>
              <a:t>2</a:t>
            </a:r>
            <a:endParaRPr b="0" i="0" sz="2600" u="none" cap="none" strike="noStrike">
              <a:solidFill>
                <a:schemeClr val="dk1"/>
              </a:solidFill>
              <a:latin typeface="Calibri"/>
              <a:ea typeface="Calibri"/>
              <a:cs typeface="Calibri"/>
              <a:sym typeface="Calibri"/>
            </a:endParaRPr>
          </a:p>
        </p:txBody>
      </p:sp>
      <p:sp>
        <p:nvSpPr>
          <p:cNvPr id="78" name="Google Shape;78;p6"/>
          <p:cNvSpPr/>
          <p:nvPr/>
        </p:nvSpPr>
        <p:spPr>
          <a:xfrm>
            <a:off x="4572000" y="1572768"/>
            <a:ext cx="18288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Classes</a:t>
            </a:r>
            <a:endParaRPr b="0" i="0" sz="1200" u="none" cap="none" strike="noStrike">
              <a:solidFill>
                <a:schemeClr val="dk1"/>
              </a:solidFill>
              <a:latin typeface="Calibri"/>
              <a:ea typeface="Calibri"/>
              <a:cs typeface="Calibri"/>
              <a:sym typeface="Calibri"/>
            </a:endParaRPr>
          </a:p>
        </p:txBody>
      </p:sp>
      <p:sp>
        <p:nvSpPr>
          <p:cNvPr id="79" name="Google Shape;79;p6"/>
          <p:cNvSpPr/>
          <p:nvPr/>
        </p:nvSpPr>
        <p:spPr>
          <a:xfrm>
            <a:off x="6675120" y="1005840"/>
            <a:ext cx="1828800" cy="1005840"/>
          </a:xfrm>
          <a:prstGeom prst="rect">
            <a:avLst/>
          </a:prstGeom>
          <a:solidFill>
            <a:srgbClr val="0D1B2A"/>
          </a:solidFill>
          <a:ln>
            <a:noFill/>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6"/>
          <p:cNvSpPr/>
          <p:nvPr/>
        </p:nvSpPr>
        <p:spPr>
          <a:xfrm>
            <a:off x="6675120" y="1051560"/>
            <a:ext cx="18288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2600"/>
              <a:buFont typeface="Calibri"/>
              <a:buNone/>
            </a:pPr>
            <a:r>
              <a:rPr b="1" i="0" lang="en-US" sz="2600" u="none" cap="none" strike="noStrike">
                <a:solidFill>
                  <a:srgbClr val="14B8A6"/>
                </a:solidFill>
                <a:latin typeface="Calibri"/>
                <a:ea typeface="Calibri"/>
                <a:cs typeface="Calibri"/>
                <a:sym typeface="Calibri"/>
              </a:rPr>
              <a:t>IBM</a:t>
            </a:r>
            <a:endParaRPr b="0" i="0" sz="2600" u="none" cap="none" strike="noStrike">
              <a:solidFill>
                <a:schemeClr val="dk1"/>
              </a:solidFill>
              <a:latin typeface="Calibri"/>
              <a:ea typeface="Calibri"/>
              <a:cs typeface="Calibri"/>
              <a:sym typeface="Calibri"/>
            </a:endParaRPr>
          </a:p>
        </p:txBody>
      </p:sp>
      <p:sp>
        <p:nvSpPr>
          <p:cNvPr id="81" name="Google Shape;81;p6"/>
          <p:cNvSpPr/>
          <p:nvPr/>
        </p:nvSpPr>
        <p:spPr>
          <a:xfrm>
            <a:off x="6675120" y="1572768"/>
            <a:ext cx="18288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Source</a:t>
            </a:r>
            <a:endParaRPr b="0" i="0" sz="1200" u="none" cap="none" strike="noStrike">
              <a:solidFill>
                <a:schemeClr val="dk1"/>
              </a:solidFill>
              <a:latin typeface="Calibri"/>
              <a:ea typeface="Calibri"/>
              <a:cs typeface="Calibri"/>
              <a:sym typeface="Calibri"/>
            </a:endParaRPr>
          </a:p>
        </p:txBody>
      </p:sp>
      <p:sp>
        <p:nvSpPr>
          <p:cNvPr id="82" name="Google Shape;82;p6"/>
          <p:cNvSpPr/>
          <p:nvPr/>
        </p:nvSpPr>
        <p:spPr>
          <a:xfrm>
            <a:off x="457200" y="2240280"/>
            <a:ext cx="4114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600"/>
              <a:buFont typeface="Calibri"/>
              <a:buNone/>
            </a:pPr>
            <a:r>
              <a:rPr b="1" i="0" lang="en-US" sz="1600" u="none" cap="none" strike="noStrike">
                <a:solidFill>
                  <a:srgbClr val="0D1B2A"/>
                </a:solidFill>
                <a:latin typeface="Calibri"/>
                <a:ea typeface="Calibri"/>
                <a:cs typeface="Calibri"/>
                <a:sym typeface="Calibri"/>
              </a:rPr>
              <a:t>Key Features</a:t>
            </a:r>
            <a:endParaRPr b="0" i="0" sz="1600" u="none" cap="none" strike="noStrike">
              <a:solidFill>
                <a:schemeClr val="dk1"/>
              </a:solidFill>
              <a:latin typeface="Calibri"/>
              <a:ea typeface="Calibri"/>
              <a:cs typeface="Calibri"/>
              <a:sym typeface="Calibri"/>
            </a:endParaRPr>
          </a:p>
        </p:txBody>
      </p:sp>
      <p:pic>
        <p:nvPicPr>
          <p:cNvPr descr="preencoded.png" id="83" name="Google Shape;83;p6"/>
          <p:cNvPicPr preferRelativeResize="0"/>
          <p:nvPr/>
        </p:nvPicPr>
        <p:blipFill rotWithShape="1">
          <a:blip r:embed="rId3">
            <a:alphaModFix/>
          </a:blip>
          <a:srcRect b="0" l="0" r="0" t="0"/>
          <a:stretch/>
        </p:blipFill>
        <p:spPr>
          <a:xfrm>
            <a:off x="457200" y="2724912"/>
            <a:ext cx="301752" cy="301752"/>
          </a:xfrm>
          <a:prstGeom prst="rect">
            <a:avLst/>
          </a:prstGeom>
          <a:noFill/>
          <a:ln>
            <a:noFill/>
          </a:ln>
        </p:spPr>
      </p:pic>
      <p:sp>
        <p:nvSpPr>
          <p:cNvPr id="84" name="Google Shape;84;p6"/>
          <p:cNvSpPr/>
          <p:nvPr/>
        </p:nvSpPr>
        <p:spPr>
          <a:xfrm>
            <a:off x="868680" y="2697480"/>
            <a:ext cx="16459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1" i="0" lang="en-US" sz="1300" u="none" cap="none" strike="noStrike">
                <a:solidFill>
                  <a:srgbClr val="0D1B2A"/>
                </a:solidFill>
                <a:latin typeface="Calibri"/>
                <a:ea typeface="Calibri"/>
                <a:cs typeface="Calibri"/>
                <a:sym typeface="Calibri"/>
              </a:rPr>
              <a:t>JobSatisfaction</a:t>
            </a:r>
            <a:endParaRPr b="0" i="0" sz="1300" u="none" cap="none" strike="noStrike">
              <a:solidFill>
                <a:schemeClr val="dk1"/>
              </a:solidFill>
              <a:latin typeface="Calibri"/>
              <a:ea typeface="Calibri"/>
              <a:cs typeface="Calibri"/>
              <a:sym typeface="Calibri"/>
            </a:endParaRPr>
          </a:p>
        </p:txBody>
      </p:sp>
      <p:sp>
        <p:nvSpPr>
          <p:cNvPr id="85" name="Google Shape;85;p6"/>
          <p:cNvSpPr/>
          <p:nvPr/>
        </p:nvSpPr>
        <p:spPr>
          <a:xfrm>
            <a:off x="2514600" y="2697480"/>
            <a:ext cx="20116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Employee satisfaction score (1–4)</a:t>
            </a:r>
            <a:endParaRPr b="0" i="0" sz="1200" u="none" cap="none" strike="noStrike">
              <a:solidFill>
                <a:schemeClr val="dk1"/>
              </a:solidFill>
              <a:latin typeface="Calibri"/>
              <a:ea typeface="Calibri"/>
              <a:cs typeface="Calibri"/>
              <a:sym typeface="Calibri"/>
            </a:endParaRPr>
          </a:p>
        </p:txBody>
      </p:sp>
      <p:pic>
        <p:nvPicPr>
          <p:cNvPr descr="preencoded.png" id="86" name="Google Shape;86;p6"/>
          <p:cNvPicPr preferRelativeResize="0"/>
          <p:nvPr/>
        </p:nvPicPr>
        <p:blipFill rotWithShape="1">
          <a:blip r:embed="rId4">
            <a:alphaModFix/>
          </a:blip>
          <a:srcRect b="0" l="0" r="0" t="0"/>
          <a:stretch/>
        </p:blipFill>
        <p:spPr>
          <a:xfrm>
            <a:off x="457200" y="3154680"/>
            <a:ext cx="301752" cy="301752"/>
          </a:xfrm>
          <a:prstGeom prst="rect">
            <a:avLst/>
          </a:prstGeom>
          <a:noFill/>
          <a:ln>
            <a:noFill/>
          </a:ln>
        </p:spPr>
      </p:pic>
      <p:sp>
        <p:nvSpPr>
          <p:cNvPr id="87" name="Google Shape;87;p6"/>
          <p:cNvSpPr/>
          <p:nvPr/>
        </p:nvSpPr>
        <p:spPr>
          <a:xfrm>
            <a:off x="868680" y="3127248"/>
            <a:ext cx="16459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1" i="0" lang="en-US" sz="1300" u="none" cap="none" strike="noStrike">
                <a:solidFill>
                  <a:srgbClr val="0D1B2A"/>
                </a:solidFill>
                <a:latin typeface="Calibri"/>
                <a:ea typeface="Calibri"/>
                <a:cs typeface="Calibri"/>
                <a:sym typeface="Calibri"/>
              </a:rPr>
              <a:t>OverTime</a:t>
            </a:r>
            <a:endParaRPr b="0" i="0" sz="1300" u="none" cap="none" strike="noStrike">
              <a:solidFill>
                <a:schemeClr val="dk1"/>
              </a:solidFill>
              <a:latin typeface="Calibri"/>
              <a:ea typeface="Calibri"/>
              <a:cs typeface="Calibri"/>
              <a:sym typeface="Calibri"/>
            </a:endParaRPr>
          </a:p>
        </p:txBody>
      </p:sp>
      <p:sp>
        <p:nvSpPr>
          <p:cNvPr id="88" name="Google Shape;88;p6"/>
          <p:cNvSpPr/>
          <p:nvPr/>
        </p:nvSpPr>
        <p:spPr>
          <a:xfrm>
            <a:off x="2514600" y="3127248"/>
            <a:ext cx="20116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Whether employee works overtime</a:t>
            </a:r>
            <a:endParaRPr b="0" i="0" sz="1200" u="none" cap="none" strike="noStrike">
              <a:solidFill>
                <a:schemeClr val="dk1"/>
              </a:solidFill>
              <a:latin typeface="Calibri"/>
              <a:ea typeface="Calibri"/>
              <a:cs typeface="Calibri"/>
              <a:sym typeface="Calibri"/>
            </a:endParaRPr>
          </a:p>
        </p:txBody>
      </p:sp>
      <p:pic>
        <p:nvPicPr>
          <p:cNvPr descr="preencoded.png" id="89" name="Google Shape;89;p6"/>
          <p:cNvPicPr preferRelativeResize="0"/>
          <p:nvPr/>
        </p:nvPicPr>
        <p:blipFill rotWithShape="1">
          <a:blip r:embed="rId5">
            <a:alphaModFix/>
          </a:blip>
          <a:srcRect b="0" l="0" r="0" t="0"/>
          <a:stretch/>
        </p:blipFill>
        <p:spPr>
          <a:xfrm>
            <a:off x="457200" y="3584448"/>
            <a:ext cx="301752" cy="301752"/>
          </a:xfrm>
          <a:prstGeom prst="rect">
            <a:avLst/>
          </a:prstGeom>
          <a:noFill/>
          <a:ln>
            <a:noFill/>
          </a:ln>
        </p:spPr>
      </p:pic>
      <p:sp>
        <p:nvSpPr>
          <p:cNvPr id="90" name="Google Shape;90;p6"/>
          <p:cNvSpPr/>
          <p:nvPr/>
        </p:nvSpPr>
        <p:spPr>
          <a:xfrm>
            <a:off x="868680" y="3557016"/>
            <a:ext cx="16459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1" i="0" lang="en-US" sz="1300" u="none" cap="none" strike="noStrike">
                <a:solidFill>
                  <a:srgbClr val="0D1B2A"/>
                </a:solidFill>
                <a:latin typeface="Calibri"/>
                <a:ea typeface="Calibri"/>
                <a:cs typeface="Calibri"/>
                <a:sym typeface="Calibri"/>
              </a:rPr>
              <a:t>MonthlyIncome</a:t>
            </a:r>
            <a:endParaRPr b="0" i="0" sz="1300" u="none" cap="none" strike="noStrike">
              <a:solidFill>
                <a:schemeClr val="dk1"/>
              </a:solidFill>
              <a:latin typeface="Calibri"/>
              <a:ea typeface="Calibri"/>
              <a:cs typeface="Calibri"/>
              <a:sym typeface="Calibri"/>
            </a:endParaRPr>
          </a:p>
        </p:txBody>
      </p:sp>
      <p:sp>
        <p:nvSpPr>
          <p:cNvPr id="91" name="Google Shape;91;p6"/>
          <p:cNvSpPr/>
          <p:nvPr/>
        </p:nvSpPr>
        <p:spPr>
          <a:xfrm>
            <a:off x="2514600" y="3557016"/>
            <a:ext cx="20116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Monthly salary in USD</a:t>
            </a:r>
            <a:endParaRPr b="0" i="0" sz="1200" u="none" cap="none" strike="noStrike">
              <a:solidFill>
                <a:schemeClr val="dk1"/>
              </a:solidFill>
              <a:latin typeface="Calibri"/>
              <a:ea typeface="Calibri"/>
              <a:cs typeface="Calibri"/>
              <a:sym typeface="Calibri"/>
            </a:endParaRPr>
          </a:p>
        </p:txBody>
      </p:sp>
      <p:pic>
        <p:nvPicPr>
          <p:cNvPr descr="preencoded.png" id="92" name="Google Shape;92;p6"/>
          <p:cNvPicPr preferRelativeResize="0"/>
          <p:nvPr/>
        </p:nvPicPr>
        <p:blipFill rotWithShape="1">
          <a:blip r:embed="rId6">
            <a:alphaModFix/>
          </a:blip>
          <a:srcRect b="0" l="0" r="0" t="0"/>
          <a:stretch/>
        </p:blipFill>
        <p:spPr>
          <a:xfrm>
            <a:off x="457200" y="4014216"/>
            <a:ext cx="301752" cy="301752"/>
          </a:xfrm>
          <a:prstGeom prst="rect">
            <a:avLst/>
          </a:prstGeom>
          <a:noFill/>
          <a:ln>
            <a:noFill/>
          </a:ln>
        </p:spPr>
      </p:pic>
      <p:sp>
        <p:nvSpPr>
          <p:cNvPr id="93" name="Google Shape;93;p6"/>
          <p:cNvSpPr/>
          <p:nvPr/>
        </p:nvSpPr>
        <p:spPr>
          <a:xfrm>
            <a:off x="868680" y="3986784"/>
            <a:ext cx="16459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1" i="0" lang="en-US" sz="1300" u="none" cap="none" strike="noStrike">
                <a:solidFill>
                  <a:srgbClr val="0D1B2A"/>
                </a:solidFill>
                <a:latin typeface="Calibri"/>
                <a:ea typeface="Calibri"/>
                <a:cs typeface="Calibri"/>
                <a:sym typeface="Calibri"/>
              </a:rPr>
              <a:t>YearsAtCompany</a:t>
            </a:r>
            <a:endParaRPr b="0" i="0" sz="1300" u="none" cap="none" strike="noStrike">
              <a:solidFill>
                <a:schemeClr val="dk1"/>
              </a:solidFill>
              <a:latin typeface="Calibri"/>
              <a:ea typeface="Calibri"/>
              <a:cs typeface="Calibri"/>
              <a:sym typeface="Calibri"/>
            </a:endParaRPr>
          </a:p>
        </p:txBody>
      </p:sp>
      <p:sp>
        <p:nvSpPr>
          <p:cNvPr id="94" name="Google Shape;94;p6"/>
          <p:cNvSpPr/>
          <p:nvPr/>
        </p:nvSpPr>
        <p:spPr>
          <a:xfrm>
            <a:off x="2514600" y="3986784"/>
            <a:ext cx="20116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Tenure at the organization</a:t>
            </a:r>
            <a:endParaRPr b="0" i="0" sz="1200" u="none" cap="none" strike="noStrike">
              <a:solidFill>
                <a:schemeClr val="dk1"/>
              </a:solidFill>
              <a:latin typeface="Calibri"/>
              <a:ea typeface="Calibri"/>
              <a:cs typeface="Calibri"/>
              <a:sym typeface="Calibri"/>
            </a:endParaRPr>
          </a:p>
        </p:txBody>
      </p:sp>
      <p:pic>
        <p:nvPicPr>
          <p:cNvPr descr="preencoded.png" id="95" name="Google Shape;95;p6"/>
          <p:cNvPicPr preferRelativeResize="0"/>
          <p:nvPr/>
        </p:nvPicPr>
        <p:blipFill rotWithShape="1">
          <a:blip r:embed="rId7">
            <a:alphaModFix/>
          </a:blip>
          <a:srcRect b="0" l="0" r="0" t="0"/>
          <a:stretch/>
        </p:blipFill>
        <p:spPr>
          <a:xfrm>
            <a:off x="457200" y="4443984"/>
            <a:ext cx="301752" cy="301752"/>
          </a:xfrm>
          <a:prstGeom prst="rect">
            <a:avLst/>
          </a:prstGeom>
          <a:noFill/>
          <a:ln>
            <a:noFill/>
          </a:ln>
        </p:spPr>
      </p:pic>
      <p:sp>
        <p:nvSpPr>
          <p:cNvPr id="96" name="Google Shape;96;p6"/>
          <p:cNvSpPr/>
          <p:nvPr/>
        </p:nvSpPr>
        <p:spPr>
          <a:xfrm>
            <a:off x="868680" y="4416552"/>
            <a:ext cx="164592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1" i="0" lang="en-US" sz="1300" u="none" cap="none" strike="noStrike">
                <a:solidFill>
                  <a:srgbClr val="0D1B2A"/>
                </a:solidFill>
                <a:latin typeface="Calibri"/>
                <a:ea typeface="Calibri"/>
                <a:cs typeface="Calibri"/>
                <a:sym typeface="Calibri"/>
              </a:rPr>
              <a:t>Department</a:t>
            </a:r>
            <a:endParaRPr b="0" i="0" sz="1300" u="none" cap="none" strike="noStrike">
              <a:solidFill>
                <a:schemeClr val="dk1"/>
              </a:solidFill>
              <a:latin typeface="Calibri"/>
              <a:ea typeface="Calibri"/>
              <a:cs typeface="Calibri"/>
              <a:sym typeface="Calibri"/>
            </a:endParaRPr>
          </a:p>
        </p:txBody>
      </p:sp>
      <p:sp>
        <p:nvSpPr>
          <p:cNvPr id="97" name="Google Shape;97;p6"/>
          <p:cNvSpPr/>
          <p:nvPr/>
        </p:nvSpPr>
        <p:spPr>
          <a:xfrm>
            <a:off x="2514600" y="4416552"/>
            <a:ext cx="20116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HR, Sales, R&amp;D divisions</a:t>
            </a:r>
            <a:endParaRPr b="0" i="0" sz="1200" u="none" cap="none" strike="noStrike">
              <a:solidFill>
                <a:schemeClr val="dk1"/>
              </a:solidFill>
              <a:latin typeface="Calibri"/>
              <a:ea typeface="Calibri"/>
              <a:cs typeface="Calibri"/>
              <a:sym typeface="Calibri"/>
            </a:endParaRPr>
          </a:p>
        </p:txBody>
      </p:sp>
      <p:sp>
        <p:nvSpPr>
          <p:cNvPr id="98" name="Google Shape;98;p6"/>
          <p:cNvSpPr/>
          <p:nvPr/>
        </p:nvSpPr>
        <p:spPr>
          <a:xfrm>
            <a:off x="5029200" y="2240280"/>
            <a:ext cx="3657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600"/>
              <a:buFont typeface="Calibri"/>
              <a:buNone/>
            </a:pPr>
            <a:r>
              <a:rPr b="1" i="0" lang="en-US" sz="1600" u="none" cap="none" strike="noStrike">
                <a:solidFill>
                  <a:srgbClr val="0D1B2A"/>
                </a:solidFill>
                <a:latin typeface="Calibri"/>
                <a:ea typeface="Calibri"/>
                <a:cs typeface="Calibri"/>
                <a:sym typeface="Calibri"/>
              </a:rPr>
              <a:t>Target: Attrition</a:t>
            </a:r>
            <a:endParaRPr b="0" i="0" sz="1600" u="none" cap="none" strike="noStrike">
              <a:solidFill>
                <a:schemeClr val="dk1"/>
              </a:solidFill>
              <a:latin typeface="Calibri"/>
              <a:ea typeface="Calibri"/>
              <a:cs typeface="Calibri"/>
              <a:sym typeface="Calibri"/>
            </a:endParaRPr>
          </a:p>
        </p:txBody>
      </p:sp>
      <p:pic>
        <p:nvPicPr>
          <p:cNvPr id="99" name="Google Shape;99;p6"/>
          <p:cNvPicPr preferRelativeResize="0"/>
          <p:nvPr/>
        </p:nvPicPr>
        <p:blipFill rotWithShape="1">
          <a:blip r:embed="rId8">
            <a:alphaModFix/>
          </a:blip>
          <a:srcRect b="0" l="0" r="0" t="0"/>
          <a:stretch/>
        </p:blipFill>
        <p:spPr>
          <a:xfrm>
            <a:off x="5029200" y="2651760"/>
            <a:ext cx="3657600" cy="2286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104" name="Shape 104"/>
        <p:cNvGrpSpPr/>
        <p:nvPr/>
      </p:nvGrpSpPr>
      <p:grpSpPr>
        <a:xfrm>
          <a:off x="0" y="0"/>
          <a:ext cx="0" cy="0"/>
          <a:chOff x="0" y="0"/>
          <a:chExt cx="0" cy="0"/>
        </a:xfrm>
      </p:grpSpPr>
      <p:sp>
        <p:nvSpPr>
          <p:cNvPr id="105" name="Google Shape;105;p7"/>
          <p:cNvSpPr/>
          <p:nvPr/>
        </p:nvSpPr>
        <p:spPr>
          <a:xfrm>
            <a:off x="0" y="0"/>
            <a:ext cx="164592" cy="51435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7"/>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libri"/>
              <a:buNone/>
            </a:pPr>
            <a:r>
              <a:rPr b="1" i="0" lang="en-US" sz="3400" u="none" cap="none" strike="noStrike">
                <a:solidFill>
                  <a:srgbClr val="FFFFFF"/>
                </a:solidFill>
                <a:latin typeface="Calibri"/>
                <a:ea typeface="Calibri"/>
                <a:cs typeface="Calibri"/>
                <a:sym typeface="Calibri"/>
              </a:rPr>
              <a:t>Methodology &amp; Pipeline</a:t>
            </a:r>
            <a:endParaRPr b="0" i="0" sz="3400" u="none" cap="none" strike="noStrike">
              <a:solidFill>
                <a:schemeClr val="dk1"/>
              </a:solidFill>
              <a:latin typeface="Calibri"/>
              <a:ea typeface="Calibri"/>
              <a:cs typeface="Calibri"/>
              <a:sym typeface="Calibri"/>
            </a:endParaRPr>
          </a:p>
        </p:txBody>
      </p:sp>
      <p:cxnSp>
        <p:nvCxnSpPr>
          <p:cNvPr id="107" name="Google Shape;107;p7"/>
          <p:cNvCxnSpPr/>
          <p:nvPr/>
        </p:nvCxnSpPr>
        <p:spPr>
          <a:xfrm>
            <a:off x="2240280" y="1673352"/>
            <a:ext cx="0" cy="292608"/>
          </a:xfrm>
          <a:prstGeom prst="straightConnector1">
            <a:avLst/>
          </a:prstGeom>
          <a:noFill/>
          <a:ln cap="flat" cmpd="sng" w="25400">
            <a:solidFill>
              <a:srgbClr val="0F7173"/>
            </a:solidFill>
            <a:prstDash val="solid"/>
            <a:round/>
            <a:headEnd len="sm" w="sm" type="none"/>
            <a:tailEnd len="sm" w="sm" type="none"/>
          </a:ln>
        </p:spPr>
      </p:cxnSp>
      <p:sp>
        <p:nvSpPr>
          <p:cNvPr id="108" name="Google Shape;108;p7"/>
          <p:cNvSpPr/>
          <p:nvPr/>
        </p:nvSpPr>
        <p:spPr>
          <a:xfrm>
            <a:off x="365760" y="96012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7"/>
          <p:cNvSpPr/>
          <p:nvPr/>
        </p:nvSpPr>
        <p:spPr>
          <a:xfrm>
            <a:off x="438912" y="108813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7"/>
          <p:cNvSpPr/>
          <p:nvPr/>
        </p:nvSpPr>
        <p:spPr>
          <a:xfrm>
            <a:off x="438912" y="108813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sp>
        <p:nvSpPr>
          <p:cNvPr id="111" name="Google Shape;111;p7"/>
          <p:cNvSpPr/>
          <p:nvPr/>
        </p:nvSpPr>
        <p:spPr>
          <a:xfrm>
            <a:off x="932688" y="100584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Data Collection</a:t>
            </a:r>
            <a:endParaRPr b="0" i="0" sz="1400" u="none" cap="none" strike="noStrike">
              <a:solidFill>
                <a:schemeClr val="dk1"/>
              </a:solidFill>
              <a:latin typeface="Calibri"/>
              <a:ea typeface="Calibri"/>
              <a:cs typeface="Calibri"/>
              <a:sym typeface="Calibri"/>
            </a:endParaRPr>
          </a:p>
        </p:txBody>
      </p:sp>
      <p:sp>
        <p:nvSpPr>
          <p:cNvPr id="112" name="Google Shape;112;p7"/>
          <p:cNvSpPr/>
          <p:nvPr/>
        </p:nvSpPr>
        <p:spPr>
          <a:xfrm>
            <a:off x="932688" y="130759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IBM HR Dataset (1,470 records, 35+ features)</a:t>
            </a:r>
            <a:endParaRPr b="0" i="0" sz="1100" u="none" cap="none" strike="noStrike">
              <a:solidFill>
                <a:schemeClr val="dk1"/>
              </a:solidFill>
              <a:latin typeface="Calibri"/>
              <a:ea typeface="Calibri"/>
              <a:cs typeface="Calibri"/>
              <a:sym typeface="Calibri"/>
            </a:endParaRPr>
          </a:p>
        </p:txBody>
      </p:sp>
      <p:cxnSp>
        <p:nvCxnSpPr>
          <p:cNvPr id="113" name="Google Shape;113;p7"/>
          <p:cNvCxnSpPr/>
          <p:nvPr/>
        </p:nvCxnSpPr>
        <p:spPr>
          <a:xfrm>
            <a:off x="2240280" y="2679192"/>
            <a:ext cx="0" cy="292608"/>
          </a:xfrm>
          <a:prstGeom prst="straightConnector1">
            <a:avLst/>
          </a:prstGeom>
          <a:noFill/>
          <a:ln cap="flat" cmpd="sng" w="25400">
            <a:solidFill>
              <a:srgbClr val="0F7173"/>
            </a:solidFill>
            <a:prstDash val="solid"/>
            <a:round/>
            <a:headEnd len="sm" w="sm" type="none"/>
            <a:tailEnd len="sm" w="sm" type="none"/>
          </a:ln>
        </p:spPr>
      </p:cxnSp>
      <p:sp>
        <p:nvSpPr>
          <p:cNvPr id="114" name="Google Shape;114;p7"/>
          <p:cNvSpPr/>
          <p:nvPr/>
        </p:nvSpPr>
        <p:spPr>
          <a:xfrm>
            <a:off x="365760" y="196596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7"/>
          <p:cNvSpPr/>
          <p:nvPr/>
        </p:nvSpPr>
        <p:spPr>
          <a:xfrm>
            <a:off x="438912" y="209397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7"/>
          <p:cNvSpPr/>
          <p:nvPr/>
        </p:nvSpPr>
        <p:spPr>
          <a:xfrm>
            <a:off x="438912" y="209397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sp>
        <p:nvSpPr>
          <p:cNvPr id="117" name="Google Shape;117;p7"/>
          <p:cNvSpPr/>
          <p:nvPr/>
        </p:nvSpPr>
        <p:spPr>
          <a:xfrm>
            <a:off x="932688" y="201168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Preprocessing</a:t>
            </a:r>
            <a:endParaRPr b="0" i="0" sz="1400" u="none" cap="none" strike="noStrike">
              <a:solidFill>
                <a:schemeClr val="dk1"/>
              </a:solidFill>
              <a:latin typeface="Calibri"/>
              <a:ea typeface="Calibri"/>
              <a:cs typeface="Calibri"/>
              <a:sym typeface="Calibri"/>
            </a:endParaRPr>
          </a:p>
        </p:txBody>
      </p:sp>
      <p:sp>
        <p:nvSpPr>
          <p:cNvPr id="118" name="Google Shape;118;p7"/>
          <p:cNvSpPr/>
          <p:nvPr/>
        </p:nvSpPr>
        <p:spPr>
          <a:xfrm>
            <a:off x="932688" y="231343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Missing values • Label encoding • Feature scaling</a:t>
            </a:r>
            <a:endParaRPr b="0" i="0" sz="1100" u="none" cap="none" strike="noStrike">
              <a:solidFill>
                <a:schemeClr val="dk1"/>
              </a:solidFill>
              <a:latin typeface="Calibri"/>
              <a:ea typeface="Calibri"/>
              <a:cs typeface="Calibri"/>
              <a:sym typeface="Calibri"/>
            </a:endParaRPr>
          </a:p>
        </p:txBody>
      </p:sp>
      <p:cxnSp>
        <p:nvCxnSpPr>
          <p:cNvPr id="119" name="Google Shape;119;p7"/>
          <p:cNvCxnSpPr/>
          <p:nvPr/>
        </p:nvCxnSpPr>
        <p:spPr>
          <a:xfrm>
            <a:off x="2240280" y="3685032"/>
            <a:ext cx="0" cy="292608"/>
          </a:xfrm>
          <a:prstGeom prst="straightConnector1">
            <a:avLst/>
          </a:prstGeom>
          <a:noFill/>
          <a:ln cap="flat" cmpd="sng" w="25400">
            <a:solidFill>
              <a:srgbClr val="0F7173"/>
            </a:solidFill>
            <a:prstDash val="solid"/>
            <a:round/>
            <a:headEnd len="sm" w="sm" type="none"/>
            <a:tailEnd len="sm" w="sm" type="none"/>
          </a:ln>
        </p:spPr>
      </p:cxnSp>
      <p:sp>
        <p:nvSpPr>
          <p:cNvPr id="120" name="Google Shape;120;p7"/>
          <p:cNvSpPr/>
          <p:nvPr/>
        </p:nvSpPr>
        <p:spPr>
          <a:xfrm>
            <a:off x="365760" y="297180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7"/>
          <p:cNvSpPr/>
          <p:nvPr/>
        </p:nvSpPr>
        <p:spPr>
          <a:xfrm>
            <a:off x="438912" y="309981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7"/>
          <p:cNvSpPr/>
          <p:nvPr/>
        </p:nvSpPr>
        <p:spPr>
          <a:xfrm>
            <a:off x="438912" y="309981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sp>
        <p:nvSpPr>
          <p:cNvPr id="123" name="Google Shape;123;p7"/>
          <p:cNvSpPr/>
          <p:nvPr/>
        </p:nvSpPr>
        <p:spPr>
          <a:xfrm>
            <a:off x="932688" y="301752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EDA</a:t>
            </a:r>
            <a:endParaRPr b="0" i="0" sz="1400" u="none" cap="none" strike="noStrike">
              <a:solidFill>
                <a:schemeClr val="dk1"/>
              </a:solidFill>
              <a:latin typeface="Calibri"/>
              <a:ea typeface="Calibri"/>
              <a:cs typeface="Calibri"/>
              <a:sym typeface="Calibri"/>
            </a:endParaRPr>
          </a:p>
        </p:txBody>
      </p:sp>
      <p:sp>
        <p:nvSpPr>
          <p:cNvPr id="124" name="Google Shape;124;p7"/>
          <p:cNvSpPr/>
          <p:nvPr/>
        </p:nvSpPr>
        <p:spPr>
          <a:xfrm>
            <a:off x="932688" y="331927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Count plots • Salary vs Attrition • Correlations</a:t>
            </a:r>
            <a:endParaRPr b="0" i="0" sz="1100" u="none" cap="none" strike="noStrike">
              <a:solidFill>
                <a:schemeClr val="dk1"/>
              </a:solidFill>
              <a:latin typeface="Calibri"/>
              <a:ea typeface="Calibri"/>
              <a:cs typeface="Calibri"/>
              <a:sym typeface="Calibri"/>
            </a:endParaRPr>
          </a:p>
        </p:txBody>
      </p:sp>
      <p:sp>
        <p:nvSpPr>
          <p:cNvPr id="125" name="Google Shape;125;p7"/>
          <p:cNvSpPr/>
          <p:nvPr/>
        </p:nvSpPr>
        <p:spPr>
          <a:xfrm>
            <a:off x="365760" y="397764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7"/>
          <p:cNvSpPr/>
          <p:nvPr/>
        </p:nvSpPr>
        <p:spPr>
          <a:xfrm>
            <a:off x="438912" y="410565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
          <p:cNvSpPr/>
          <p:nvPr/>
        </p:nvSpPr>
        <p:spPr>
          <a:xfrm>
            <a:off x="438912" y="410565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4</a:t>
            </a:r>
            <a:endParaRPr b="0" i="0" sz="1400" u="none" cap="none" strike="noStrike">
              <a:solidFill>
                <a:schemeClr val="dk1"/>
              </a:solidFill>
              <a:latin typeface="Calibri"/>
              <a:ea typeface="Calibri"/>
              <a:cs typeface="Calibri"/>
              <a:sym typeface="Calibri"/>
            </a:endParaRPr>
          </a:p>
        </p:txBody>
      </p:sp>
      <p:sp>
        <p:nvSpPr>
          <p:cNvPr id="128" name="Google Shape;128;p7"/>
          <p:cNvSpPr/>
          <p:nvPr/>
        </p:nvSpPr>
        <p:spPr>
          <a:xfrm>
            <a:off x="932688" y="402336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Feature Selection</a:t>
            </a:r>
            <a:endParaRPr b="0" i="0" sz="1400" u="none" cap="none" strike="noStrike">
              <a:solidFill>
                <a:schemeClr val="dk1"/>
              </a:solidFill>
              <a:latin typeface="Calibri"/>
              <a:ea typeface="Calibri"/>
              <a:cs typeface="Calibri"/>
              <a:sym typeface="Calibri"/>
            </a:endParaRPr>
          </a:p>
        </p:txBody>
      </p:sp>
      <p:sp>
        <p:nvSpPr>
          <p:cNvPr id="129" name="Google Shape;129;p7"/>
          <p:cNvSpPr/>
          <p:nvPr/>
        </p:nvSpPr>
        <p:spPr>
          <a:xfrm>
            <a:off x="932688" y="432511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Chi-Square Test + ANOVA (F-test)</a:t>
            </a:r>
            <a:endParaRPr b="0" i="0" sz="1100" u="none" cap="none" strike="noStrike">
              <a:solidFill>
                <a:schemeClr val="dk1"/>
              </a:solidFill>
              <a:latin typeface="Calibri"/>
              <a:ea typeface="Calibri"/>
              <a:cs typeface="Calibri"/>
              <a:sym typeface="Calibri"/>
            </a:endParaRPr>
          </a:p>
        </p:txBody>
      </p:sp>
      <p:cxnSp>
        <p:nvCxnSpPr>
          <p:cNvPr id="130" name="Google Shape;130;p7"/>
          <p:cNvCxnSpPr/>
          <p:nvPr/>
        </p:nvCxnSpPr>
        <p:spPr>
          <a:xfrm>
            <a:off x="6675120" y="1673352"/>
            <a:ext cx="0" cy="292608"/>
          </a:xfrm>
          <a:prstGeom prst="straightConnector1">
            <a:avLst/>
          </a:prstGeom>
          <a:noFill/>
          <a:ln cap="flat" cmpd="sng" w="25400">
            <a:solidFill>
              <a:srgbClr val="0F7173"/>
            </a:solidFill>
            <a:prstDash val="solid"/>
            <a:round/>
            <a:headEnd len="sm" w="sm" type="none"/>
            <a:tailEnd len="sm" w="sm" type="none"/>
          </a:ln>
        </p:spPr>
      </p:cxnSp>
      <p:sp>
        <p:nvSpPr>
          <p:cNvPr id="131" name="Google Shape;131;p7"/>
          <p:cNvSpPr/>
          <p:nvPr/>
        </p:nvSpPr>
        <p:spPr>
          <a:xfrm>
            <a:off x="4800600" y="96012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7"/>
          <p:cNvSpPr/>
          <p:nvPr/>
        </p:nvSpPr>
        <p:spPr>
          <a:xfrm>
            <a:off x="4873752" y="108813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
          <p:cNvSpPr/>
          <p:nvPr/>
        </p:nvSpPr>
        <p:spPr>
          <a:xfrm>
            <a:off x="4873752" y="108813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5</a:t>
            </a:r>
            <a:endParaRPr b="0" i="0" sz="1400" u="none" cap="none" strike="noStrike">
              <a:solidFill>
                <a:schemeClr val="dk1"/>
              </a:solidFill>
              <a:latin typeface="Calibri"/>
              <a:ea typeface="Calibri"/>
              <a:cs typeface="Calibri"/>
              <a:sym typeface="Calibri"/>
            </a:endParaRPr>
          </a:p>
        </p:txBody>
      </p:sp>
      <p:sp>
        <p:nvSpPr>
          <p:cNvPr id="134" name="Google Shape;134;p7"/>
          <p:cNvSpPr/>
          <p:nvPr/>
        </p:nvSpPr>
        <p:spPr>
          <a:xfrm>
            <a:off x="5367528" y="100584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Model Building</a:t>
            </a:r>
            <a:endParaRPr b="0" i="0" sz="1400" u="none" cap="none" strike="noStrike">
              <a:solidFill>
                <a:schemeClr val="dk1"/>
              </a:solidFill>
              <a:latin typeface="Calibri"/>
              <a:ea typeface="Calibri"/>
              <a:cs typeface="Calibri"/>
              <a:sym typeface="Calibri"/>
            </a:endParaRPr>
          </a:p>
        </p:txBody>
      </p:sp>
      <p:sp>
        <p:nvSpPr>
          <p:cNvPr id="135" name="Google Shape;135;p7"/>
          <p:cNvSpPr/>
          <p:nvPr/>
        </p:nvSpPr>
        <p:spPr>
          <a:xfrm>
            <a:off x="5367528" y="130759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Logistic Regression • Decision Tree • XGBoost</a:t>
            </a:r>
            <a:endParaRPr b="0" i="0" sz="1100" u="none" cap="none" strike="noStrike">
              <a:solidFill>
                <a:schemeClr val="dk1"/>
              </a:solidFill>
              <a:latin typeface="Calibri"/>
              <a:ea typeface="Calibri"/>
              <a:cs typeface="Calibri"/>
              <a:sym typeface="Calibri"/>
            </a:endParaRPr>
          </a:p>
        </p:txBody>
      </p:sp>
      <p:cxnSp>
        <p:nvCxnSpPr>
          <p:cNvPr id="136" name="Google Shape;136;p7"/>
          <p:cNvCxnSpPr/>
          <p:nvPr/>
        </p:nvCxnSpPr>
        <p:spPr>
          <a:xfrm>
            <a:off x="6675120" y="2679192"/>
            <a:ext cx="0" cy="292608"/>
          </a:xfrm>
          <a:prstGeom prst="straightConnector1">
            <a:avLst/>
          </a:prstGeom>
          <a:noFill/>
          <a:ln cap="flat" cmpd="sng" w="25400">
            <a:solidFill>
              <a:srgbClr val="0F7173"/>
            </a:solidFill>
            <a:prstDash val="solid"/>
            <a:round/>
            <a:headEnd len="sm" w="sm" type="none"/>
            <a:tailEnd len="sm" w="sm" type="none"/>
          </a:ln>
        </p:spPr>
      </p:cxnSp>
      <p:sp>
        <p:nvSpPr>
          <p:cNvPr id="137" name="Google Shape;137;p7"/>
          <p:cNvSpPr/>
          <p:nvPr/>
        </p:nvSpPr>
        <p:spPr>
          <a:xfrm>
            <a:off x="4800600" y="196596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7"/>
          <p:cNvSpPr/>
          <p:nvPr/>
        </p:nvSpPr>
        <p:spPr>
          <a:xfrm>
            <a:off x="4873752" y="209397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7"/>
          <p:cNvSpPr/>
          <p:nvPr/>
        </p:nvSpPr>
        <p:spPr>
          <a:xfrm>
            <a:off x="4873752" y="209397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6</a:t>
            </a:r>
            <a:endParaRPr b="0" i="0" sz="1400" u="none" cap="none" strike="noStrike">
              <a:solidFill>
                <a:schemeClr val="dk1"/>
              </a:solidFill>
              <a:latin typeface="Calibri"/>
              <a:ea typeface="Calibri"/>
              <a:cs typeface="Calibri"/>
              <a:sym typeface="Calibri"/>
            </a:endParaRPr>
          </a:p>
        </p:txBody>
      </p:sp>
      <p:sp>
        <p:nvSpPr>
          <p:cNvPr id="140" name="Google Shape;140;p7"/>
          <p:cNvSpPr/>
          <p:nvPr/>
        </p:nvSpPr>
        <p:spPr>
          <a:xfrm>
            <a:off x="5367528" y="201168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Evaluation</a:t>
            </a:r>
            <a:endParaRPr b="0" i="0" sz="1400" u="none" cap="none" strike="noStrike">
              <a:solidFill>
                <a:schemeClr val="dk1"/>
              </a:solidFill>
              <a:latin typeface="Calibri"/>
              <a:ea typeface="Calibri"/>
              <a:cs typeface="Calibri"/>
              <a:sym typeface="Calibri"/>
            </a:endParaRPr>
          </a:p>
        </p:txBody>
      </p:sp>
      <p:sp>
        <p:nvSpPr>
          <p:cNvPr id="141" name="Google Shape;141;p7"/>
          <p:cNvSpPr/>
          <p:nvPr/>
        </p:nvSpPr>
        <p:spPr>
          <a:xfrm>
            <a:off x="5367528" y="231343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Accuracy • Confusion Matrix • Classification Report</a:t>
            </a:r>
            <a:endParaRPr b="0" i="0" sz="1100" u="none" cap="none" strike="noStrike">
              <a:solidFill>
                <a:schemeClr val="dk1"/>
              </a:solidFill>
              <a:latin typeface="Calibri"/>
              <a:ea typeface="Calibri"/>
              <a:cs typeface="Calibri"/>
              <a:sym typeface="Calibri"/>
            </a:endParaRPr>
          </a:p>
        </p:txBody>
      </p:sp>
      <p:cxnSp>
        <p:nvCxnSpPr>
          <p:cNvPr id="142" name="Google Shape;142;p7"/>
          <p:cNvCxnSpPr/>
          <p:nvPr/>
        </p:nvCxnSpPr>
        <p:spPr>
          <a:xfrm>
            <a:off x="6675120" y="3685032"/>
            <a:ext cx="0" cy="292608"/>
          </a:xfrm>
          <a:prstGeom prst="straightConnector1">
            <a:avLst/>
          </a:prstGeom>
          <a:noFill/>
          <a:ln cap="flat" cmpd="sng" w="25400">
            <a:solidFill>
              <a:srgbClr val="0F7173"/>
            </a:solidFill>
            <a:prstDash val="solid"/>
            <a:round/>
            <a:headEnd len="sm" w="sm" type="none"/>
            <a:tailEnd len="sm" w="sm" type="none"/>
          </a:ln>
        </p:spPr>
      </p:cxnSp>
      <p:sp>
        <p:nvSpPr>
          <p:cNvPr id="143" name="Google Shape;143;p7"/>
          <p:cNvSpPr/>
          <p:nvPr/>
        </p:nvSpPr>
        <p:spPr>
          <a:xfrm>
            <a:off x="4800600" y="297180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7"/>
          <p:cNvSpPr/>
          <p:nvPr/>
        </p:nvSpPr>
        <p:spPr>
          <a:xfrm>
            <a:off x="4873752" y="309981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4873752" y="309981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7</a:t>
            </a:r>
            <a:endParaRPr b="0" i="0" sz="1400" u="none" cap="none" strike="noStrike">
              <a:solidFill>
                <a:schemeClr val="dk1"/>
              </a:solidFill>
              <a:latin typeface="Calibri"/>
              <a:ea typeface="Calibri"/>
              <a:cs typeface="Calibri"/>
              <a:sym typeface="Calibri"/>
            </a:endParaRPr>
          </a:p>
        </p:txBody>
      </p:sp>
      <p:sp>
        <p:nvSpPr>
          <p:cNvPr id="146" name="Google Shape;146;p7"/>
          <p:cNvSpPr/>
          <p:nvPr/>
        </p:nvSpPr>
        <p:spPr>
          <a:xfrm>
            <a:off x="5367528" y="301752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Explainability</a:t>
            </a:r>
            <a:endParaRPr b="0" i="0" sz="1400" u="none" cap="none" strike="noStrike">
              <a:solidFill>
                <a:schemeClr val="dk1"/>
              </a:solidFill>
              <a:latin typeface="Calibri"/>
              <a:ea typeface="Calibri"/>
              <a:cs typeface="Calibri"/>
              <a:sym typeface="Calibri"/>
            </a:endParaRPr>
          </a:p>
        </p:txBody>
      </p:sp>
      <p:sp>
        <p:nvSpPr>
          <p:cNvPr id="147" name="Google Shape;147;p7"/>
          <p:cNvSpPr/>
          <p:nvPr/>
        </p:nvSpPr>
        <p:spPr>
          <a:xfrm>
            <a:off x="5367528" y="331927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SHAP values for feature importance</a:t>
            </a:r>
            <a:endParaRPr b="0" i="0" sz="1100" u="none" cap="none" strike="noStrike">
              <a:solidFill>
                <a:schemeClr val="dk1"/>
              </a:solidFill>
              <a:latin typeface="Calibri"/>
              <a:ea typeface="Calibri"/>
              <a:cs typeface="Calibri"/>
              <a:sym typeface="Calibri"/>
            </a:endParaRPr>
          </a:p>
        </p:txBody>
      </p:sp>
      <p:sp>
        <p:nvSpPr>
          <p:cNvPr id="148" name="Google Shape;148;p7"/>
          <p:cNvSpPr/>
          <p:nvPr/>
        </p:nvSpPr>
        <p:spPr>
          <a:xfrm>
            <a:off x="4800600" y="3977640"/>
            <a:ext cx="3931920" cy="713232"/>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7"/>
          <p:cNvSpPr/>
          <p:nvPr/>
        </p:nvSpPr>
        <p:spPr>
          <a:xfrm>
            <a:off x="4873752" y="4105656"/>
            <a:ext cx="411480" cy="411480"/>
          </a:xfrm>
          <a:prstGeom prst="ellipse">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7"/>
          <p:cNvSpPr/>
          <p:nvPr/>
        </p:nvSpPr>
        <p:spPr>
          <a:xfrm>
            <a:off x="4873752" y="4105656"/>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8</a:t>
            </a:r>
            <a:endParaRPr b="0" i="0" sz="1400" u="none" cap="none" strike="noStrike">
              <a:solidFill>
                <a:schemeClr val="dk1"/>
              </a:solidFill>
              <a:latin typeface="Calibri"/>
              <a:ea typeface="Calibri"/>
              <a:cs typeface="Calibri"/>
              <a:sym typeface="Calibri"/>
            </a:endParaRPr>
          </a:p>
        </p:txBody>
      </p:sp>
      <p:sp>
        <p:nvSpPr>
          <p:cNvPr id="151" name="Google Shape;151;p7"/>
          <p:cNvSpPr/>
          <p:nvPr/>
        </p:nvSpPr>
        <p:spPr>
          <a:xfrm>
            <a:off x="5367528" y="4023360"/>
            <a:ext cx="3200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Deployment</a:t>
            </a:r>
            <a:endParaRPr b="0" i="0" sz="1400" u="none" cap="none" strike="noStrike">
              <a:solidFill>
                <a:schemeClr val="dk1"/>
              </a:solidFill>
              <a:latin typeface="Calibri"/>
              <a:ea typeface="Calibri"/>
              <a:cs typeface="Calibri"/>
              <a:sym typeface="Calibri"/>
            </a:endParaRPr>
          </a:p>
        </p:txBody>
      </p:sp>
      <p:sp>
        <p:nvSpPr>
          <p:cNvPr id="152" name="Google Shape;152;p7"/>
          <p:cNvSpPr/>
          <p:nvPr/>
        </p:nvSpPr>
        <p:spPr>
          <a:xfrm>
            <a:off x="5367528" y="4325112"/>
            <a:ext cx="32004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Streamlit app with prediction + probability</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157" name="Shape 157"/>
        <p:cNvGrpSpPr/>
        <p:nvPr/>
      </p:nvGrpSpPr>
      <p:grpSpPr>
        <a:xfrm>
          <a:off x="0" y="0"/>
          <a:ext cx="0" cy="0"/>
          <a:chOff x="0" y="0"/>
          <a:chExt cx="0" cy="0"/>
        </a:xfrm>
      </p:grpSpPr>
      <p:sp>
        <p:nvSpPr>
          <p:cNvPr id="158" name="Google Shape;158;p8"/>
          <p:cNvSpPr/>
          <p:nvPr/>
        </p:nvSpPr>
        <p:spPr>
          <a:xfrm>
            <a:off x="457200" y="27432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3400"/>
              <a:buFont typeface="Calibri"/>
              <a:buNone/>
            </a:pPr>
            <a:r>
              <a:rPr b="1" i="0" lang="en-US" sz="3400" u="none" cap="none" strike="noStrike">
                <a:solidFill>
                  <a:srgbClr val="0D1B2A"/>
                </a:solidFill>
                <a:latin typeface="Calibri"/>
                <a:ea typeface="Calibri"/>
                <a:cs typeface="Calibri"/>
                <a:sym typeface="Calibri"/>
              </a:rPr>
              <a:t>Exploratory Data Analysis</a:t>
            </a:r>
            <a:endParaRPr b="0" i="0" sz="3400" u="none" cap="none" strike="noStrike">
              <a:solidFill>
                <a:schemeClr val="dk1"/>
              </a:solidFill>
              <a:latin typeface="Calibri"/>
              <a:ea typeface="Calibri"/>
              <a:cs typeface="Calibri"/>
              <a:sym typeface="Calibri"/>
            </a:endParaRPr>
          </a:p>
        </p:txBody>
      </p:sp>
      <p:sp>
        <p:nvSpPr>
          <p:cNvPr id="159" name="Google Shape;159;p8"/>
          <p:cNvSpPr/>
          <p:nvPr/>
        </p:nvSpPr>
        <p:spPr>
          <a:xfrm>
            <a:off x="457200" y="850392"/>
            <a:ext cx="8229600" cy="27432"/>
          </a:xfrm>
          <a:prstGeom prst="rect">
            <a:avLst/>
          </a:prstGeom>
          <a:solidFill>
            <a:srgbClr val="E2E8F0"/>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65760" y="3703320"/>
            <a:ext cx="4114800" cy="822960"/>
          </a:xfrm>
          <a:prstGeom prst="rect">
            <a:avLst/>
          </a:prstGeom>
          <a:solidFill>
            <a:srgbClr val="0D1B2A"/>
          </a:solidFill>
          <a:ln>
            <a:noFill/>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1" name="Google Shape;161;p8"/>
          <p:cNvPicPr preferRelativeResize="0"/>
          <p:nvPr/>
        </p:nvPicPr>
        <p:blipFill rotWithShape="1">
          <a:blip r:embed="rId3">
            <a:alphaModFix/>
          </a:blip>
          <a:srcRect b="0" l="0" r="0" t="0"/>
          <a:stretch/>
        </p:blipFill>
        <p:spPr>
          <a:xfrm>
            <a:off x="475488" y="3904488"/>
            <a:ext cx="347472" cy="347472"/>
          </a:xfrm>
          <a:prstGeom prst="rect">
            <a:avLst/>
          </a:prstGeom>
          <a:noFill/>
          <a:ln>
            <a:noFill/>
          </a:ln>
        </p:spPr>
      </p:pic>
      <p:sp>
        <p:nvSpPr>
          <p:cNvPr id="162" name="Google Shape;162;p8"/>
          <p:cNvSpPr/>
          <p:nvPr/>
        </p:nvSpPr>
        <p:spPr>
          <a:xfrm>
            <a:off x="914400" y="3749040"/>
            <a:ext cx="3383280" cy="749808"/>
          </a:xfrm>
          <a:prstGeom prst="rect">
            <a:avLst/>
          </a:prstGeom>
          <a:noFill/>
          <a:ln>
            <a:noFill/>
          </a:ln>
        </p:spPr>
        <p:txBody>
          <a:bodyPr anchorCtr="0" anchor="ctr" bIns="0" lIns="0" spcFirstLastPara="1" rIns="0" wrap="square" tIns="0">
            <a:noAutofit/>
          </a:bodyPr>
          <a:lstStyle/>
          <a:p>
            <a:pPr indent="0" lvl="0" marL="0" rtl="0" algn="l">
              <a:lnSpc>
                <a:spcPct val="135714"/>
              </a:lnSpc>
              <a:spcBef>
                <a:spcPts val="0"/>
              </a:spcBef>
              <a:spcAft>
                <a:spcPts val="0"/>
              </a:spcAft>
              <a:buClr>
                <a:schemeClr val="dk1"/>
              </a:buClr>
              <a:buSzPts val="1100"/>
              <a:buFont typeface="Arial"/>
              <a:buNone/>
            </a:pPr>
            <a:r>
              <a:rPr lang="en-US" sz="1200">
                <a:solidFill>
                  <a:srgbClr val="F0F4F8"/>
                </a:solidFill>
                <a:latin typeface="Calibri"/>
                <a:ea typeface="Calibri"/>
                <a:cs typeface="Calibri"/>
                <a:sym typeface="Calibri"/>
              </a:rPr>
              <a:t>Highest Attrition is in the Sales Department</a:t>
            </a:r>
            <a:endParaRPr sz="1050">
              <a:solidFill>
                <a:srgbClr val="CCCCCC"/>
              </a:solidFill>
              <a:highlight>
                <a:srgbClr val="1F1F1F"/>
              </a:highlight>
              <a:latin typeface="Roboto Mono"/>
              <a:ea typeface="Roboto Mono"/>
              <a:cs typeface="Roboto Mono"/>
              <a:sym typeface="Roboto Mono"/>
            </a:endParaRPr>
          </a:p>
          <a:p>
            <a:pPr indent="0" lvl="0" marL="0" marR="0" rtl="0" algn="l">
              <a:spcBef>
                <a:spcPts val="0"/>
              </a:spcBef>
              <a:spcAft>
                <a:spcPts val="0"/>
              </a:spcAft>
              <a:buClr>
                <a:srgbClr val="F0F4F8"/>
              </a:buClr>
              <a:buSzPts val="1200"/>
              <a:buFont typeface="Calibri"/>
              <a:buNone/>
            </a:pPr>
            <a:r>
              <a:t/>
            </a:r>
            <a:endParaRPr sz="1200">
              <a:solidFill>
                <a:srgbClr val="F0F4F8"/>
              </a:solidFill>
              <a:latin typeface="Roboto Mono"/>
              <a:ea typeface="Roboto Mono"/>
              <a:cs typeface="Roboto Mono"/>
              <a:sym typeface="Roboto Mono"/>
            </a:endParaRPr>
          </a:p>
        </p:txBody>
      </p:sp>
      <p:sp>
        <p:nvSpPr>
          <p:cNvPr id="163" name="Google Shape;163;p8"/>
          <p:cNvSpPr/>
          <p:nvPr/>
        </p:nvSpPr>
        <p:spPr>
          <a:xfrm>
            <a:off x="4754880" y="3703320"/>
            <a:ext cx="4114800" cy="822960"/>
          </a:xfrm>
          <a:prstGeom prst="rect">
            <a:avLst/>
          </a:prstGeom>
          <a:solidFill>
            <a:srgbClr val="0D1B2A"/>
          </a:solidFill>
          <a:ln>
            <a:noFill/>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4" name="Google Shape;164;p8"/>
          <p:cNvPicPr preferRelativeResize="0"/>
          <p:nvPr/>
        </p:nvPicPr>
        <p:blipFill rotWithShape="1">
          <a:blip r:embed="rId4">
            <a:alphaModFix/>
          </a:blip>
          <a:srcRect b="0" l="0" r="0" t="0"/>
          <a:stretch/>
        </p:blipFill>
        <p:spPr>
          <a:xfrm>
            <a:off x="4864608" y="3904488"/>
            <a:ext cx="347472" cy="347472"/>
          </a:xfrm>
          <a:prstGeom prst="rect">
            <a:avLst/>
          </a:prstGeom>
          <a:noFill/>
          <a:ln>
            <a:noFill/>
          </a:ln>
        </p:spPr>
      </p:pic>
      <p:sp>
        <p:nvSpPr>
          <p:cNvPr id="165" name="Google Shape;165;p8"/>
          <p:cNvSpPr/>
          <p:nvPr/>
        </p:nvSpPr>
        <p:spPr>
          <a:xfrm>
            <a:off x="5303520" y="3749040"/>
            <a:ext cx="3383280" cy="749808"/>
          </a:xfrm>
          <a:prstGeom prst="rect">
            <a:avLst/>
          </a:prstGeom>
          <a:noFill/>
          <a:ln>
            <a:noFill/>
          </a:ln>
        </p:spPr>
        <p:txBody>
          <a:bodyPr anchorCtr="0" anchor="ctr" bIns="0" lIns="0" spcFirstLastPara="1" rIns="0" wrap="square" tIns="0">
            <a:noAutofit/>
          </a:bodyPr>
          <a:lstStyle/>
          <a:p>
            <a:pPr indent="0" lvl="0" marL="0" rtl="0" algn="l">
              <a:lnSpc>
                <a:spcPct val="135714"/>
              </a:lnSpc>
              <a:spcBef>
                <a:spcPts val="0"/>
              </a:spcBef>
              <a:spcAft>
                <a:spcPts val="0"/>
              </a:spcAft>
              <a:buClr>
                <a:schemeClr val="dk1"/>
              </a:buClr>
              <a:buSzPts val="1100"/>
              <a:buFont typeface="Arial"/>
              <a:buNone/>
            </a:pPr>
            <a:r>
              <a:rPr lang="en-US" sz="1200">
                <a:solidFill>
                  <a:srgbClr val="F0F4F8"/>
                </a:solidFill>
                <a:latin typeface="Calibri"/>
                <a:ea typeface="Calibri"/>
                <a:cs typeface="Calibri"/>
                <a:sym typeface="Calibri"/>
              </a:rPr>
              <a:t>Employees who rated their job satisfaction low are mostly leaving the organization</a:t>
            </a:r>
            <a:r>
              <a:rPr lang="en-US" sz="1050">
                <a:solidFill>
                  <a:srgbClr val="CCCCCC"/>
                </a:solidFill>
                <a:highlight>
                  <a:srgbClr val="1F1F1F"/>
                </a:highlight>
                <a:latin typeface="Courier New"/>
                <a:ea typeface="Courier New"/>
                <a:cs typeface="Courier New"/>
                <a:sym typeface="Courier New"/>
              </a:rPr>
              <a:t>.</a:t>
            </a:r>
            <a:endParaRPr sz="1050">
              <a:solidFill>
                <a:srgbClr val="CCCCCC"/>
              </a:solidFill>
              <a:highlight>
                <a:srgbClr val="1F1F1F"/>
              </a:highlight>
              <a:latin typeface="Courier New"/>
              <a:ea typeface="Courier New"/>
              <a:cs typeface="Courier New"/>
              <a:sym typeface="Courier New"/>
            </a:endParaRPr>
          </a:p>
          <a:p>
            <a:pPr indent="0" lvl="0" marL="0" marR="0" rtl="0" algn="l">
              <a:spcBef>
                <a:spcPts val="0"/>
              </a:spcBef>
              <a:spcAft>
                <a:spcPts val="0"/>
              </a:spcAft>
              <a:buClr>
                <a:srgbClr val="F0F4F8"/>
              </a:buClr>
              <a:buSzPts val="1200"/>
              <a:buFont typeface="Calibri"/>
              <a:buNone/>
            </a:pPr>
            <a:r>
              <a:t/>
            </a:r>
            <a:endParaRPr sz="1200">
              <a:solidFill>
                <a:srgbClr val="F0F4F8"/>
              </a:solidFill>
              <a:latin typeface="Calibri"/>
              <a:ea typeface="Calibri"/>
              <a:cs typeface="Calibri"/>
              <a:sym typeface="Calibri"/>
            </a:endParaRPr>
          </a:p>
        </p:txBody>
      </p:sp>
      <p:pic>
        <p:nvPicPr>
          <p:cNvPr id="166" name="Google Shape;166;p8"/>
          <p:cNvPicPr preferRelativeResize="0"/>
          <p:nvPr/>
        </p:nvPicPr>
        <p:blipFill>
          <a:blip r:embed="rId5">
            <a:alphaModFix/>
          </a:blip>
          <a:stretch>
            <a:fillRect/>
          </a:stretch>
        </p:blipFill>
        <p:spPr>
          <a:xfrm>
            <a:off x="512175" y="1025650"/>
            <a:ext cx="3596825" cy="2520700"/>
          </a:xfrm>
          <a:prstGeom prst="rect">
            <a:avLst/>
          </a:prstGeom>
          <a:noFill/>
          <a:ln>
            <a:noFill/>
          </a:ln>
        </p:spPr>
      </p:pic>
      <p:pic>
        <p:nvPicPr>
          <p:cNvPr id="167" name="Google Shape;167;p8"/>
          <p:cNvPicPr preferRelativeResize="0"/>
          <p:nvPr/>
        </p:nvPicPr>
        <p:blipFill>
          <a:blip r:embed="rId6">
            <a:alphaModFix/>
          </a:blip>
          <a:stretch>
            <a:fillRect/>
          </a:stretch>
        </p:blipFill>
        <p:spPr>
          <a:xfrm>
            <a:off x="4754875" y="952225"/>
            <a:ext cx="4114799" cy="2520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172" name="Shape 172"/>
        <p:cNvGrpSpPr/>
        <p:nvPr/>
      </p:nvGrpSpPr>
      <p:grpSpPr>
        <a:xfrm>
          <a:off x="0" y="0"/>
          <a:ext cx="0" cy="0"/>
          <a:chOff x="0" y="0"/>
          <a:chExt cx="0" cy="0"/>
        </a:xfrm>
      </p:grpSpPr>
      <p:sp>
        <p:nvSpPr>
          <p:cNvPr id="173" name="Google Shape;173;p9"/>
          <p:cNvSpPr/>
          <p:nvPr/>
        </p:nvSpPr>
        <p:spPr>
          <a:xfrm>
            <a:off x="0" y="0"/>
            <a:ext cx="164592" cy="51435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9"/>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libri"/>
              <a:buNone/>
            </a:pPr>
            <a:r>
              <a:rPr b="1" i="0" lang="en-US" sz="3400" u="none" cap="none" strike="noStrike">
                <a:solidFill>
                  <a:srgbClr val="FFFFFF"/>
                </a:solidFill>
                <a:latin typeface="Calibri"/>
                <a:ea typeface="Calibri"/>
                <a:cs typeface="Calibri"/>
                <a:sym typeface="Calibri"/>
              </a:rPr>
              <a:t>Model Comparison &amp; Results</a:t>
            </a:r>
            <a:endParaRPr b="0" i="0" sz="3400" u="none" cap="none" strike="noStrike">
              <a:solidFill>
                <a:schemeClr val="dk1"/>
              </a:solidFill>
              <a:latin typeface="Calibri"/>
              <a:ea typeface="Calibri"/>
              <a:cs typeface="Calibri"/>
              <a:sym typeface="Calibri"/>
            </a:endParaRPr>
          </a:p>
        </p:txBody>
      </p:sp>
      <p:sp>
        <p:nvSpPr>
          <p:cNvPr id="175" name="Google Shape;175;p9"/>
          <p:cNvSpPr/>
          <p:nvPr/>
        </p:nvSpPr>
        <p:spPr>
          <a:xfrm>
            <a:off x="5522345" y="1108638"/>
            <a:ext cx="2926200" cy="29262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6" name="Google Shape;176;p9"/>
          <p:cNvPicPr preferRelativeResize="0"/>
          <p:nvPr/>
        </p:nvPicPr>
        <p:blipFill rotWithShape="1">
          <a:blip r:embed="rId3">
            <a:alphaModFix/>
          </a:blip>
          <a:srcRect b="0" l="0" r="0" t="0"/>
          <a:stretch/>
        </p:blipFill>
        <p:spPr>
          <a:xfrm>
            <a:off x="6528185" y="1200078"/>
            <a:ext cx="914400" cy="914400"/>
          </a:xfrm>
          <a:prstGeom prst="rect">
            <a:avLst/>
          </a:prstGeom>
          <a:noFill/>
          <a:ln>
            <a:noFill/>
          </a:ln>
        </p:spPr>
      </p:pic>
      <p:sp>
        <p:nvSpPr>
          <p:cNvPr id="177" name="Google Shape;177;p9"/>
          <p:cNvSpPr/>
          <p:nvPr/>
        </p:nvSpPr>
        <p:spPr>
          <a:xfrm>
            <a:off x="5522345" y="2205918"/>
            <a:ext cx="2926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Best Model</a:t>
            </a:r>
            <a:endParaRPr b="0" i="0" sz="1600" u="none" cap="none" strike="noStrike">
              <a:solidFill>
                <a:schemeClr val="dk1"/>
              </a:solidFill>
              <a:latin typeface="Calibri"/>
              <a:ea typeface="Calibri"/>
              <a:cs typeface="Calibri"/>
              <a:sym typeface="Calibri"/>
            </a:endParaRPr>
          </a:p>
        </p:txBody>
      </p:sp>
      <p:sp>
        <p:nvSpPr>
          <p:cNvPr id="178" name="Google Shape;178;p9"/>
          <p:cNvSpPr/>
          <p:nvPr/>
        </p:nvSpPr>
        <p:spPr>
          <a:xfrm>
            <a:off x="5522345" y="2617398"/>
            <a:ext cx="2926200" cy="594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D1B2A"/>
              </a:buClr>
              <a:buSzPts val="2600"/>
              <a:buFont typeface="Calibri"/>
              <a:buNone/>
            </a:pPr>
            <a:r>
              <a:rPr b="1" i="0" lang="en-US" sz="2600" u="none" cap="none" strike="noStrike">
                <a:solidFill>
                  <a:srgbClr val="0D1B2A"/>
                </a:solidFill>
                <a:latin typeface="Calibri"/>
                <a:ea typeface="Calibri"/>
                <a:cs typeface="Calibri"/>
                <a:sym typeface="Calibri"/>
              </a:rPr>
              <a:t>XGBoost</a:t>
            </a:r>
            <a:endParaRPr b="0" i="0" sz="2600" u="none" cap="none" strike="noStrike">
              <a:solidFill>
                <a:schemeClr val="dk1"/>
              </a:solidFill>
              <a:latin typeface="Calibri"/>
              <a:ea typeface="Calibri"/>
              <a:cs typeface="Calibri"/>
              <a:sym typeface="Calibri"/>
            </a:endParaRPr>
          </a:p>
        </p:txBody>
      </p:sp>
      <p:sp>
        <p:nvSpPr>
          <p:cNvPr id="179" name="Google Shape;179;p9"/>
          <p:cNvSpPr/>
          <p:nvPr/>
        </p:nvSpPr>
        <p:spPr>
          <a:xfrm>
            <a:off x="5522345" y="3211757"/>
            <a:ext cx="2926200" cy="384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4F8"/>
              </a:buClr>
              <a:buSzPts val="1600"/>
              <a:buFont typeface="Calibri"/>
              <a:buNone/>
            </a:pPr>
            <a:r>
              <a:rPr b="0" i="0" lang="en-US" sz="1600" u="none" cap="none" strike="noStrike">
                <a:solidFill>
                  <a:srgbClr val="F0F4F8"/>
                </a:solidFill>
                <a:latin typeface="Calibri"/>
                <a:ea typeface="Calibri"/>
                <a:cs typeface="Calibri"/>
                <a:sym typeface="Calibri"/>
              </a:rPr>
              <a:t>8</a:t>
            </a:r>
            <a:r>
              <a:rPr lang="en-US" sz="1600">
                <a:solidFill>
                  <a:srgbClr val="F0F4F8"/>
                </a:solidFill>
                <a:latin typeface="Calibri"/>
                <a:ea typeface="Calibri"/>
                <a:cs typeface="Calibri"/>
                <a:sym typeface="Calibri"/>
              </a:rPr>
              <a:t>4</a:t>
            </a:r>
            <a:r>
              <a:rPr b="0" i="0" lang="en-US" sz="1600" u="none" cap="none" strike="noStrike">
                <a:solidFill>
                  <a:srgbClr val="F0F4F8"/>
                </a:solidFill>
                <a:latin typeface="Calibri"/>
                <a:ea typeface="Calibri"/>
                <a:cs typeface="Calibri"/>
                <a:sym typeface="Calibri"/>
              </a:rPr>
              <a:t>.</a:t>
            </a:r>
            <a:r>
              <a:rPr lang="en-US" sz="1600">
                <a:solidFill>
                  <a:srgbClr val="F0F4F8"/>
                </a:solidFill>
                <a:latin typeface="Calibri"/>
                <a:ea typeface="Calibri"/>
                <a:cs typeface="Calibri"/>
                <a:sym typeface="Calibri"/>
              </a:rPr>
              <a:t>7</a:t>
            </a:r>
            <a:r>
              <a:rPr b="0" i="0" lang="en-US" sz="1600" u="none" cap="none" strike="noStrike">
                <a:solidFill>
                  <a:srgbClr val="F0F4F8"/>
                </a:solidFill>
                <a:latin typeface="Calibri"/>
                <a:ea typeface="Calibri"/>
                <a:cs typeface="Calibri"/>
                <a:sym typeface="Calibri"/>
              </a:rPr>
              <a:t>% Accuracy</a:t>
            </a:r>
            <a:endParaRPr b="0" i="0" sz="1600" u="none" cap="none" strike="noStrike">
              <a:solidFill>
                <a:schemeClr val="dk1"/>
              </a:solidFill>
              <a:latin typeface="Calibri"/>
              <a:ea typeface="Calibri"/>
              <a:cs typeface="Calibri"/>
              <a:sym typeface="Calibri"/>
            </a:endParaRPr>
          </a:p>
        </p:txBody>
      </p:sp>
      <p:pic>
        <p:nvPicPr>
          <p:cNvPr id="180" name="Google Shape;180;p9"/>
          <p:cNvPicPr preferRelativeResize="0"/>
          <p:nvPr/>
        </p:nvPicPr>
        <p:blipFill>
          <a:blip r:embed="rId4">
            <a:alphaModFix/>
          </a:blip>
          <a:stretch>
            <a:fillRect/>
          </a:stretch>
        </p:blipFill>
        <p:spPr>
          <a:xfrm>
            <a:off x="637892" y="847115"/>
            <a:ext cx="4242144" cy="406146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185" name="Shape 185"/>
        <p:cNvGrpSpPr/>
        <p:nvPr/>
      </p:nvGrpSpPr>
      <p:grpSpPr>
        <a:xfrm>
          <a:off x="0" y="0"/>
          <a:ext cx="0" cy="0"/>
          <a:chOff x="0" y="0"/>
          <a:chExt cx="0" cy="0"/>
        </a:xfrm>
      </p:grpSpPr>
      <p:sp>
        <p:nvSpPr>
          <p:cNvPr id="186" name="Google Shape;186;p10"/>
          <p:cNvSpPr/>
          <p:nvPr/>
        </p:nvSpPr>
        <p:spPr>
          <a:xfrm>
            <a:off x="457200" y="27432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3400"/>
              <a:buFont typeface="Calibri"/>
              <a:buNone/>
            </a:pPr>
            <a:r>
              <a:rPr b="1" i="0" lang="en-US" sz="3400" u="none" cap="none" strike="noStrike">
                <a:solidFill>
                  <a:srgbClr val="0D1B2A"/>
                </a:solidFill>
                <a:latin typeface="Calibri"/>
                <a:ea typeface="Calibri"/>
                <a:cs typeface="Calibri"/>
                <a:sym typeface="Calibri"/>
              </a:rPr>
              <a:t>SHAP – Model Explainability</a:t>
            </a:r>
            <a:endParaRPr b="0" i="0" sz="3400" u="none" cap="none" strike="noStrike">
              <a:solidFill>
                <a:schemeClr val="dk1"/>
              </a:solidFill>
              <a:latin typeface="Calibri"/>
              <a:ea typeface="Calibri"/>
              <a:cs typeface="Calibri"/>
              <a:sym typeface="Calibri"/>
            </a:endParaRPr>
          </a:p>
        </p:txBody>
      </p:sp>
      <p:sp>
        <p:nvSpPr>
          <p:cNvPr id="187" name="Google Shape;187;p10"/>
          <p:cNvSpPr/>
          <p:nvPr/>
        </p:nvSpPr>
        <p:spPr>
          <a:xfrm>
            <a:off x="457200" y="850392"/>
            <a:ext cx="8229600" cy="27432"/>
          </a:xfrm>
          <a:prstGeom prst="rect">
            <a:avLst/>
          </a:prstGeom>
          <a:solidFill>
            <a:srgbClr val="E2E8F0"/>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0"/>
          <p:cNvSpPr/>
          <p:nvPr/>
        </p:nvSpPr>
        <p:spPr>
          <a:xfrm>
            <a:off x="5943600" y="960120"/>
            <a:ext cx="28346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600"/>
              <a:buFont typeface="Calibri"/>
              <a:buNone/>
            </a:pPr>
            <a:r>
              <a:rPr b="1" i="0" lang="en-US" sz="1600" u="none" cap="none" strike="noStrike">
                <a:solidFill>
                  <a:srgbClr val="0D1B2A"/>
                </a:solidFill>
                <a:latin typeface="Calibri"/>
                <a:ea typeface="Calibri"/>
                <a:cs typeface="Calibri"/>
                <a:sym typeface="Calibri"/>
              </a:rPr>
              <a:t>Key Findings</a:t>
            </a:r>
            <a:endParaRPr b="0" i="0" sz="1600" u="none" cap="none" strike="noStrike">
              <a:solidFill>
                <a:schemeClr val="dk1"/>
              </a:solidFill>
              <a:latin typeface="Calibri"/>
              <a:ea typeface="Calibri"/>
              <a:cs typeface="Calibri"/>
              <a:sym typeface="Calibri"/>
            </a:endParaRPr>
          </a:p>
        </p:txBody>
      </p:sp>
      <p:sp>
        <p:nvSpPr>
          <p:cNvPr id="189" name="Google Shape;189;p10"/>
          <p:cNvSpPr/>
          <p:nvPr/>
        </p:nvSpPr>
        <p:spPr>
          <a:xfrm>
            <a:off x="5943600" y="1417320"/>
            <a:ext cx="2834640" cy="749808"/>
          </a:xfrm>
          <a:prstGeom prst="rect">
            <a:avLst/>
          </a:prstGeom>
          <a:solidFill>
            <a:srgbClr val="0D1B2A"/>
          </a:solidFill>
          <a:ln>
            <a:noFill/>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0" name="Google Shape;190;p10"/>
          <p:cNvPicPr preferRelativeResize="0"/>
          <p:nvPr/>
        </p:nvPicPr>
        <p:blipFill rotWithShape="1">
          <a:blip r:embed="rId3">
            <a:alphaModFix/>
          </a:blip>
          <a:srcRect b="0" l="0" r="0" t="0"/>
          <a:stretch/>
        </p:blipFill>
        <p:spPr>
          <a:xfrm>
            <a:off x="6053328" y="1600200"/>
            <a:ext cx="320040" cy="320040"/>
          </a:xfrm>
          <a:prstGeom prst="rect">
            <a:avLst/>
          </a:prstGeom>
          <a:noFill/>
          <a:ln>
            <a:noFill/>
          </a:ln>
        </p:spPr>
      </p:pic>
      <p:sp>
        <p:nvSpPr>
          <p:cNvPr id="191" name="Google Shape;191;p10"/>
          <p:cNvSpPr/>
          <p:nvPr/>
        </p:nvSpPr>
        <p:spPr>
          <a:xfrm>
            <a:off x="6446520" y="1481328"/>
            <a:ext cx="2286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Overtime is the strongest predictor of attrition</a:t>
            </a:r>
            <a:endParaRPr b="0" i="0" sz="1200" u="none" cap="none" strike="noStrike">
              <a:solidFill>
                <a:schemeClr val="dk1"/>
              </a:solidFill>
              <a:latin typeface="Calibri"/>
              <a:ea typeface="Calibri"/>
              <a:cs typeface="Calibri"/>
              <a:sym typeface="Calibri"/>
            </a:endParaRPr>
          </a:p>
        </p:txBody>
      </p:sp>
      <p:sp>
        <p:nvSpPr>
          <p:cNvPr id="192" name="Google Shape;192;p10"/>
          <p:cNvSpPr/>
          <p:nvPr/>
        </p:nvSpPr>
        <p:spPr>
          <a:xfrm>
            <a:off x="5943600" y="2286000"/>
            <a:ext cx="2834640" cy="749808"/>
          </a:xfrm>
          <a:prstGeom prst="rect">
            <a:avLst/>
          </a:prstGeom>
          <a:solidFill>
            <a:srgbClr val="0D1B2A"/>
          </a:solidFill>
          <a:ln>
            <a:noFill/>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3" name="Google Shape;193;p10"/>
          <p:cNvPicPr preferRelativeResize="0"/>
          <p:nvPr/>
        </p:nvPicPr>
        <p:blipFill rotWithShape="1">
          <a:blip r:embed="rId4">
            <a:alphaModFix/>
          </a:blip>
          <a:srcRect b="0" l="0" r="0" t="0"/>
          <a:stretch/>
        </p:blipFill>
        <p:spPr>
          <a:xfrm>
            <a:off x="6053328" y="2468880"/>
            <a:ext cx="320040" cy="320040"/>
          </a:xfrm>
          <a:prstGeom prst="rect">
            <a:avLst/>
          </a:prstGeom>
          <a:noFill/>
          <a:ln>
            <a:noFill/>
          </a:ln>
        </p:spPr>
      </p:pic>
      <p:sp>
        <p:nvSpPr>
          <p:cNvPr id="194" name="Google Shape;194;p10"/>
          <p:cNvSpPr/>
          <p:nvPr/>
        </p:nvSpPr>
        <p:spPr>
          <a:xfrm>
            <a:off x="6446520" y="2350008"/>
            <a:ext cx="2286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Lower income employees are significantly more likely to leave</a:t>
            </a:r>
            <a:endParaRPr b="0" i="0" sz="1200" u="none" cap="none" strike="noStrike">
              <a:solidFill>
                <a:schemeClr val="dk1"/>
              </a:solidFill>
              <a:latin typeface="Calibri"/>
              <a:ea typeface="Calibri"/>
              <a:cs typeface="Calibri"/>
              <a:sym typeface="Calibri"/>
            </a:endParaRPr>
          </a:p>
        </p:txBody>
      </p:sp>
      <p:sp>
        <p:nvSpPr>
          <p:cNvPr id="195" name="Google Shape;195;p10"/>
          <p:cNvSpPr/>
          <p:nvPr/>
        </p:nvSpPr>
        <p:spPr>
          <a:xfrm>
            <a:off x="5943600" y="3154680"/>
            <a:ext cx="2834640" cy="749808"/>
          </a:xfrm>
          <a:prstGeom prst="rect">
            <a:avLst/>
          </a:prstGeom>
          <a:solidFill>
            <a:srgbClr val="0D1B2A"/>
          </a:solidFill>
          <a:ln>
            <a:noFill/>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6" name="Google Shape;196;p10"/>
          <p:cNvPicPr preferRelativeResize="0"/>
          <p:nvPr/>
        </p:nvPicPr>
        <p:blipFill rotWithShape="1">
          <a:blip r:embed="rId5">
            <a:alphaModFix/>
          </a:blip>
          <a:srcRect b="0" l="0" r="0" t="0"/>
          <a:stretch/>
        </p:blipFill>
        <p:spPr>
          <a:xfrm>
            <a:off x="6053328" y="3337560"/>
            <a:ext cx="320040" cy="320040"/>
          </a:xfrm>
          <a:prstGeom prst="rect">
            <a:avLst/>
          </a:prstGeom>
          <a:noFill/>
          <a:ln>
            <a:noFill/>
          </a:ln>
        </p:spPr>
      </p:pic>
      <p:sp>
        <p:nvSpPr>
          <p:cNvPr id="197" name="Google Shape;197;p10"/>
          <p:cNvSpPr/>
          <p:nvPr/>
        </p:nvSpPr>
        <p:spPr>
          <a:xfrm>
            <a:off x="6446520" y="3218688"/>
            <a:ext cx="2286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Low job satisfaction doubles the attrition risk</a:t>
            </a:r>
            <a:endParaRPr b="0" i="0" sz="1200" u="none" cap="none" strike="noStrike">
              <a:solidFill>
                <a:schemeClr val="dk1"/>
              </a:solidFill>
              <a:latin typeface="Calibri"/>
              <a:ea typeface="Calibri"/>
              <a:cs typeface="Calibri"/>
              <a:sym typeface="Calibri"/>
            </a:endParaRPr>
          </a:p>
        </p:txBody>
      </p:sp>
      <p:sp>
        <p:nvSpPr>
          <p:cNvPr id="198" name="Google Shape;198;p10"/>
          <p:cNvSpPr/>
          <p:nvPr/>
        </p:nvSpPr>
        <p:spPr>
          <a:xfrm>
            <a:off x="5943600" y="4023360"/>
            <a:ext cx="2834640" cy="749808"/>
          </a:xfrm>
          <a:prstGeom prst="rect">
            <a:avLst/>
          </a:prstGeom>
          <a:solidFill>
            <a:srgbClr val="0D1B2A"/>
          </a:solidFill>
          <a:ln>
            <a:noFill/>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9" name="Google Shape;199;p10"/>
          <p:cNvPicPr preferRelativeResize="0"/>
          <p:nvPr/>
        </p:nvPicPr>
        <p:blipFill rotWithShape="1">
          <a:blip r:embed="rId6">
            <a:alphaModFix/>
          </a:blip>
          <a:srcRect b="0" l="0" r="0" t="0"/>
          <a:stretch/>
        </p:blipFill>
        <p:spPr>
          <a:xfrm>
            <a:off x="6053328" y="4206240"/>
            <a:ext cx="320040" cy="320040"/>
          </a:xfrm>
          <a:prstGeom prst="rect">
            <a:avLst/>
          </a:prstGeom>
          <a:noFill/>
          <a:ln>
            <a:noFill/>
          </a:ln>
        </p:spPr>
      </p:pic>
      <p:sp>
        <p:nvSpPr>
          <p:cNvPr id="200" name="Google Shape;200;p10"/>
          <p:cNvSpPr/>
          <p:nvPr/>
        </p:nvSpPr>
        <p:spPr>
          <a:xfrm>
            <a:off x="6446520" y="4087368"/>
            <a:ext cx="2286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0F4F8"/>
              </a:buClr>
              <a:buSzPts val="1200"/>
              <a:buFont typeface="Calibri"/>
              <a:buNone/>
            </a:pPr>
            <a:r>
              <a:rPr b="0" i="0" lang="en-US" sz="1200" u="none" cap="none" strike="noStrike">
                <a:solidFill>
                  <a:srgbClr val="F0F4F8"/>
                </a:solidFill>
                <a:latin typeface="Calibri"/>
                <a:ea typeface="Calibri"/>
                <a:cs typeface="Calibri"/>
                <a:sym typeface="Calibri"/>
              </a:rPr>
              <a:t>Newer employees (&lt;2 years) show higher turnover</a:t>
            </a:r>
            <a:endParaRPr b="0" i="0" sz="1200" u="none" cap="none" strike="noStrike">
              <a:solidFill>
                <a:schemeClr val="dk1"/>
              </a:solidFill>
              <a:latin typeface="Calibri"/>
              <a:ea typeface="Calibri"/>
              <a:cs typeface="Calibri"/>
              <a:sym typeface="Calibri"/>
            </a:endParaRPr>
          </a:p>
        </p:txBody>
      </p:sp>
      <p:pic>
        <p:nvPicPr>
          <p:cNvPr id="201" name="Google Shape;201;p10" title="SHAP.png"/>
          <p:cNvPicPr preferRelativeResize="0"/>
          <p:nvPr/>
        </p:nvPicPr>
        <p:blipFill>
          <a:blip r:embed="rId7">
            <a:alphaModFix/>
          </a:blip>
          <a:stretch>
            <a:fillRect/>
          </a:stretch>
        </p:blipFill>
        <p:spPr>
          <a:xfrm>
            <a:off x="457200" y="1030224"/>
            <a:ext cx="4944588" cy="396087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206" name="Shape 206"/>
        <p:cNvGrpSpPr/>
        <p:nvPr/>
      </p:nvGrpSpPr>
      <p:grpSpPr>
        <a:xfrm>
          <a:off x="0" y="0"/>
          <a:ext cx="0" cy="0"/>
          <a:chOff x="0" y="0"/>
          <a:chExt cx="0" cy="0"/>
        </a:xfrm>
      </p:grpSpPr>
      <p:sp>
        <p:nvSpPr>
          <p:cNvPr id="207" name="Google Shape;207;p11"/>
          <p:cNvSpPr/>
          <p:nvPr/>
        </p:nvSpPr>
        <p:spPr>
          <a:xfrm>
            <a:off x="0" y="0"/>
            <a:ext cx="164592" cy="51435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1"/>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libri"/>
              <a:buNone/>
            </a:pPr>
            <a:r>
              <a:rPr b="1" i="0" lang="en-US" sz="3400" u="none" cap="none" strike="noStrike">
                <a:solidFill>
                  <a:srgbClr val="FFFFFF"/>
                </a:solidFill>
                <a:latin typeface="Calibri"/>
                <a:ea typeface="Calibri"/>
                <a:cs typeface="Calibri"/>
                <a:sym typeface="Calibri"/>
              </a:rPr>
              <a:t>Streamlit Deployment</a:t>
            </a:r>
            <a:endParaRPr b="0" i="0" sz="3400" u="none" cap="none" strike="noStrike">
              <a:solidFill>
                <a:schemeClr val="dk1"/>
              </a:solidFill>
              <a:latin typeface="Calibri"/>
              <a:ea typeface="Calibri"/>
              <a:cs typeface="Calibri"/>
              <a:sym typeface="Calibri"/>
            </a:endParaRPr>
          </a:p>
        </p:txBody>
      </p:sp>
      <p:pic>
        <p:nvPicPr>
          <p:cNvPr descr="preencoded.png" id="209" name="Google Shape;209;p11"/>
          <p:cNvPicPr preferRelativeResize="0"/>
          <p:nvPr/>
        </p:nvPicPr>
        <p:blipFill rotWithShape="1">
          <a:blip r:embed="rId3">
            <a:alphaModFix/>
          </a:blip>
          <a:srcRect b="0" l="0" r="0" t="0"/>
          <a:stretch/>
        </p:blipFill>
        <p:spPr>
          <a:xfrm>
            <a:off x="8046720" y="182880"/>
            <a:ext cx="731520" cy="731520"/>
          </a:xfrm>
          <a:prstGeom prst="rect">
            <a:avLst/>
          </a:prstGeom>
          <a:noFill/>
          <a:ln>
            <a:noFill/>
          </a:ln>
        </p:spPr>
      </p:pic>
      <p:sp>
        <p:nvSpPr>
          <p:cNvPr id="210" name="Google Shape;210;p11"/>
          <p:cNvSpPr/>
          <p:nvPr/>
        </p:nvSpPr>
        <p:spPr>
          <a:xfrm>
            <a:off x="411475" y="1005850"/>
            <a:ext cx="1742700" cy="1115100"/>
          </a:xfrm>
          <a:prstGeom prst="rect">
            <a:avLst/>
          </a:prstGeom>
          <a:solidFill>
            <a:srgbClr val="1B3A5C"/>
          </a:solidFill>
          <a:ln cap="flat" cmpd="sng" w="16225">
            <a:solidFill>
              <a:srgbClr val="0F7173"/>
            </a:solidFill>
            <a:prstDash val="solid"/>
            <a:round/>
            <a:headEnd len="sm" w="sm" type="none"/>
            <a:tailEnd len="sm" w="sm" type="none"/>
          </a:ln>
        </p:spPr>
        <p:txBody>
          <a:bodyPr anchorCtr="0" anchor="ctr" bIns="77850" lIns="77850" spcFirstLastPara="1" rIns="77850" wrap="square" tIns="77850">
            <a:noAutofit/>
          </a:bodyPr>
          <a:lstStyle/>
          <a:p>
            <a:pPr indent="0" lvl="0" marL="0" rtl="0" algn="l">
              <a:spcBef>
                <a:spcPts val="0"/>
              </a:spcBef>
              <a:spcAft>
                <a:spcPts val="0"/>
              </a:spcAft>
              <a:buNone/>
            </a:pPr>
            <a:r>
              <a:t/>
            </a:r>
            <a:endParaRPr/>
          </a:p>
        </p:txBody>
      </p:sp>
      <p:sp>
        <p:nvSpPr>
          <p:cNvPr id="211" name="Google Shape;211;p11"/>
          <p:cNvSpPr/>
          <p:nvPr/>
        </p:nvSpPr>
        <p:spPr>
          <a:xfrm>
            <a:off x="411475" y="1067796"/>
            <a:ext cx="1742700" cy="402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User Input</a:t>
            </a:r>
            <a:endParaRPr b="0" i="0" sz="1192"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Form</a:t>
            </a:r>
            <a:endParaRPr b="0" i="0" sz="1192" u="none" cap="none" strike="noStrike">
              <a:solidFill>
                <a:schemeClr val="dk1"/>
              </a:solidFill>
              <a:latin typeface="Calibri"/>
              <a:ea typeface="Calibri"/>
              <a:cs typeface="Calibri"/>
              <a:sym typeface="Calibri"/>
            </a:endParaRPr>
          </a:p>
        </p:txBody>
      </p:sp>
      <p:sp>
        <p:nvSpPr>
          <p:cNvPr id="212" name="Google Shape;212;p11"/>
          <p:cNvSpPr/>
          <p:nvPr/>
        </p:nvSpPr>
        <p:spPr>
          <a:xfrm>
            <a:off x="411475" y="1470444"/>
            <a:ext cx="1742700" cy="52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Department, Salary</a:t>
            </a:r>
            <a:endParaRPr b="0" i="0" sz="1237"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Satisfaction, Overtime…</a:t>
            </a:r>
            <a:endParaRPr b="0" i="0" sz="1237" u="none" cap="none" strike="noStrike">
              <a:solidFill>
                <a:schemeClr val="dk1"/>
              </a:solidFill>
              <a:latin typeface="Calibri"/>
              <a:ea typeface="Calibri"/>
              <a:cs typeface="Calibri"/>
              <a:sym typeface="Calibri"/>
            </a:endParaRPr>
          </a:p>
        </p:txBody>
      </p:sp>
      <p:cxnSp>
        <p:nvCxnSpPr>
          <p:cNvPr id="213" name="Google Shape;213;p11"/>
          <p:cNvCxnSpPr/>
          <p:nvPr/>
        </p:nvCxnSpPr>
        <p:spPr>
          <a:xfrm>
            <a:off x="2154008" y="1550974"/>
            <a:ext cx="348300" cy="0"/>
          </a:xfrm>
          <a:prstGeom prst="straightConnector1">
            <a:avLst/>
          </a:prstGeom>
          <a:noFill/>
          <a:ln cap="flat" cmpd="sng" w="21625">
            <a:solidFill>
              <a:srgbClr val="0F7173"/>
            </a:solidFill>
            <a:prstDash val="solid"/>
            <a:round/>
            <a:headEnd len="sm" w="sm" type="none"/>
            <a:tailEnd len="sm" w="sm" type="none"/>
          </a:ln>
        </p:spPr>
      </p:cxnSp>
      <p:sp>
        <p:nvSpPr>
          <p:cNvPr id="214" name="Google Shape;214;p11"/>
          <p:cNvSpPr/>
          <p:nvPr/>
        </p:nvSpPr>
        <p:spPr>
          <a:xfrm>
            <a:off x="2258560" y="1489028"/>
            <a:ext cx="174300" cy="15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173"/>
              </a:buClr>
              <a:buSzPts val="851"/>
              <a:buFont typeface="Calibri"/>
              <a:buNone/>
            </a:pPr>
            <a:r>
              <a:rPr b="0" i="0" lang="en-US" sz="851" u="none" cap="none" strike="noStrike">
                <a:solidFill>
                  <a:srgbClr val="0F7173"/>
                </a:solidFill>
                <a:latin typeface="Calibri"/>
                <a:ea typeface="Calibri"/>
                <a:cs typeface="Calibri"/>
                <a:sym typeface="Calibri"/>
              </a:rPr>
              <a:t>▶</a:t>
            </a:r>
            <a:endParaRPr b="0" i="0" sz="851" u="none" cap="none" strike="noStrike">
              <a:solidFill>
                <a:schemeClr val="dk1"/>
              </a:solidFill>
              <a:latin typeface="Calibri"/>
              <a:ea typeface="Calibri"/>
              <a:cs typeface="Calibri"/>
              <a:sym typeface="Calibri"/>
            </a:endParaRPr>
          </a:p>
        </p:txBody>
      </p:sp>
      <p:sp>
        <p:nvSpPr>
          <p:cNvPr id="215" name="Google Shape;215;p11"/>
          <p:cNvSpPr/>
          <p:nvPr/>
        </p:nvSpPr>
        <p:spPr>
          <a:xfrm>
            <a:off x="2502515" y="1005850"/>
            <a:ext cx="1742700" cy="1115100"/>
          </a:xfrm>
          <a:prstGeom prst="rect">
            <a:avLst/>
          </a:prstGeom>
          <a:solidFill>
            <a:srgbClr val="1B3A5C"/>
          </a:solidFill>
          <a:ln cap="flat" cmpd="sng" w="16225">
            <a:solidFill>
              <a:srgbClr val="0F7173"/>
            </a:solidFill>
            <a:prstDash val="solid"/>
            <a:round/>
            <a:headEnd len="sm" w="sm" type="none"/>
            <a:tailEnd len="sm" w="sm" type="none"/>
          </a:ln>
        </p:spPr>
        <p:txBody>
          <a:bodyPr anchorCtr="0" anchor="ctr" bIns="77850" lIns="77850" spcFirstLastPara="1" rIns="77850" wrap="square" tIns="77850">
            <a:noAutofit/>
          </a:bodyPr>
          <a:lstStyle/>
          <a:p>
            <a:pPr indent="0" lvl="0" marL="0" rtl="0" algn="l">
              <a:spcBef>
                <a:spcPts val="0"/>
              </a:spcBef>
              <a:spcAft>
                <a:spcPts val="0"/>
              </a:spcAft>
              <a:buNone/>
            </a:pPr>
            <a:r>
              <a:t/>
            </a:r>
            <a:endParaRPr/>
          </a:p>
        </p:txBody>
      </p:sp>
      <p:sp>
        <p:nvSpPr>
          <p:cNvPr id="216" name="Google Shape;216;p11"/>
          <p:cNvSpPr/>
          <p:nvPr/>
        </p:nvSpPr>
        <p:spPr>
          <a:xfrm>
            <a:off x="2502515" y="1067796"/>
            <a:ext cx="1742700" cy="402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XGBoost</a:t>
            </a:r>
            <a:endParaRPr b="0" i="0" sz="1192"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Model</a:t>
            </a:r>
            <a:endParaRPr b="0" i="0" sz="1192" u="none" cap="none" strike="noStrike">
              <a:solidFill>
                <a:schemeClr val="dk1"/>
              </a:solidFill>
              <a:latin typeface="Calibri"/>
              <a:ea typeface="Calibri"/>
              <a:cs typeface="Calibri"/>
              <a:sym typeface="Calibri"/>
            </a:endParaRPr>
          </a:p>
        </p:txBody>
      </p:sp>
      <p:sp>
        <p:nvSpPr>
          <p:cNvPr id="217" name="Google Shape;217;p11"/>
          <p:cNvSpPr/>
          <p:nvPr/>
        </p:nvSpPr>
        <p:spPr>
          <a:xfrm>
            <a:off x="2502515" y="1470444"/>
            <a:ext cx="1742700" cy="52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Pre-trained model</a:t>
            </a:r>
            <a:endParaRPr b="0" i="0" sz="1237"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loaded via pickle</a:t>
            </a:r>
            <a:endParaRPr b="0" i="0" sz="1237" u="none" cap="none" strike="noStrike">
              <a:solidFill>
                <a:schemeClr val="dk1"/>
              </a:solidFill>
              <a:latin typeface="Calibri"/>
              <a:ea typeface="Calibri"/>
              <a:cs typeface="Calibri"/>
              <a:sym typeface="Calibri"/>
            </a:endParaRPr>
          </a:p>
        </p:txBody>
      </p:sp>
      <p:cxnSp>
        <p:nvCxnSpPr>
          <p:cNvPr id="218" name="Google Shape;218;p11"/>
          <p:cNvCxnSpPr/>
          <p:nvPr/>
        </p:nvCxnSpPr>
        <p:spPr>
          <a:xfrm>
            <a:off x="4245048" y="1550974"/>
            <a:ext cx="348300" cy="0"/>
          </a:xfrm>
          <a:prstGeom prst="straightConnector1">
            <a:avLst/>
          </a:prstGeom>
          <a:noFill/>
          <a:ln cap="flat" cmpd="sng" w="21625">
            <a:solidFill>
              <a:srgbClr val="0F7173"/>
            </a:solidFill>
            <a:prstDash val="solid"/>
            <a:round/>
            <a:headEnd len="sm" w="sm" type="none"/>
            <a:tailEnd len="sm" w="sm" type="none"/>
          </a:ln>
        </p:spPr>
      </p:cxnSp>
      <p:sp>
        <p:nvSpPr>
          <p:cNvPr id="219" name="Google Shape;219;p11"/>
          <p:cNvSpPr/>
          <p:nvPr/>
        </p:nvSpPr>
        <p:spPr>
          <a:xfrm>
            <a:off x="4349600" y="1489028"/>
            <a:ext cx="174300" cy="15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173"/>
              </a:buClr>
              <a:buSzPts val="851"/>
              <a:buFont typeface="Calibri"/>
              <a:buNone/>
            </a:pPr>
            <a:r>
              <a:rPr b="0" i="0" lang="en-US" sz="851" u="none" cap="none" strike="noStrike">
                <a:solidFill>
                  <a:srgbClr val="0F7173"/>
                </a:solidFill>
                <a:latin typeface="Calibri"/>
                <a:ea typeface="Calibri"/>
                <a:cs typeface="Calibri"/>
                <a:sym typeface="Calibri"/>
              </a:rPr>
              <a:t>▶</a:t>
            </a:r>
            <a:endParaRPr b="0" i="0" sz="851" u="none" cap="none" strike="noStrike">
              <a:solidFill>
                <a:schemeClr val="dk1"/>
              </a:solidFill>
              <a:latin typeface="Calibri"/>
              <a:ea typeface="Calibri"/>
              <a:cs typeface="Calibri"/>
              <a:sym typeface="Calibri"/>
            </a:endParaRPr>
          </a:p>
        </p:txBody>
      </p:sp>
      <p:sp>
        <p:nvSpPr>
          <p:cNvPr id="220" name="Google Shape;220;p11"/>
          <p:cNvSpPr/>
          <p:nvPr/>
        </p:nvSpPr>
        <p:spPr>
          <a:xfrm>
            <a:off x="4593555" y="1005850"/>
            <a:ext cx="1742700" cy="1115100"/>
          </a:xfrm>
          <a:prstGeom prst="rect">
            <a:avLst/>
          </a:prstGeom>
          <a:solidFill>
            <a:srgbClr val="1B3A5C"/>
          </a:solidFill>
          <a:ln cap="flat" cmpd="sng" w="16225">
            <a:solidFill>
              <a:srgbClr val="0F7173"/>
            </a:solidFill>
            <a:prstDash val="solid"/>
            <a:round/>
            <a:headEnd len="sm" w="sm" type="none"/>
            <a:tailEnd len="sm" w="sm" type="none"/>
          </a:ln>
        </p:spPr>
        <p:txBody>
          <a:bodyPr anchorCtr="0" anchor="ctr" bIns="77850" lIns="77850" spcFirstLastPara="1" rIns="77850" wrap="square" tIns="77850">
            <a:noAutofit/>
          </a:bodyPr>
          <a:lstStyle/>
          <a:p>
            <a:pPr indent="0" lvl="0" marL="0" rtl="0" algn="l">
              <a:spcBef>
                <a:spcPts val="0"/>
              </a:spcBef>
              <a:spcAft>
                <a:spcPts val="0"/>
              </a:spcAft>
              <a:buNone/>
            </a:pPr>
            <a:r>
              <a:t/>
            </a:r>
            <a:endParaRPr/>
          </a:p>
        </p:txBody>
      </p:sp>
      <p:sp>
        <p:nvSpPr>
          <p:cNvPr id="221" name="Google Shape;221;p11"/>
          <p:cNvSpPr/>
          <p:nvPr/>
        </p:nvSpPr>
        <p:spPr>
          <a:xfrm>
            <a:off x="4593555" y="1067796"/>
            <a:ext cx="1742700" cy="402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Prediction</a:t>
            </a:r>
            <a:endParaRPr b="0" i="0" sz="1192"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 Probability</a:t>
            </a:r>
            <a:endParaRPr b="0" i="0" sz="1192" u="none" cap="none" strike="noStrike">
              <a:solidFill>
                <a:schemeClr val="dk1"/>
              </a:solidFill>
              <a:latin typeface="Calibri"/>
              <a:ea typeface="Calibri"/>
              <a:cs typeface="Calibri"/>
              <a:sym typeface="Calibri"/>
            </a:endParaRPr>
          </a:p>
        </p:txBody>
      </p:sp>
      <p:sp>
        <p:nvSpPr>
          <p:cNvPr id="222" name="Google Shape;222;p11"/>
          <p:cNvSpPr/>
          <p:nvPr/>
        </p:nvSpPr>
        <p:spPr>
          <a:xfrm>
            <a:off x="4593555" y="1470444"/>
            <a:ext cx="1742700" cy="52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Stay / Leave +</a:t>
            </a:r>
            <a:endParaRPr b="0" i="0" sz="1237"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confidence score</a:t>
            </a:r>
            <a:endParaRPr b="0" i="0" sz="1237" u="none" cap="none" strike="noStrike">
              <a:solidFill>
                <a:schemeClr val="dk1"/>
              </a:solidFill>
              <a:latin typeface="Calibri"/>
              <a:ea typeface="Calibri"/>
              <a:cs typeface="Calibri"/>
              <a:sym typeface="Calibri"/>
            </a:endParaRPr>
          </a:p>
        </p:txBody>
      </p:sp>
      <p:cxnSp>
        <p:nvCxnSpPr>
          <p:cNvPr id="223" name="Google Shape;223;p11"/>
          <p:cNvCxnSpPr/>
          <p:nvPr/>
        </p:nvCxnSpPr>
        <p:spPr>
          <a:xfrm>
            <a:off x="6336088" y="1550974"/>
            <a:ext cx="348300" cy="0"/>
          </a:xfrm>
          <a:prstGeom prst="straightConnector1">
            <a:avLst/>
          </a:prstGeom>
          <a:noFill/>
          <a:ln cap="flat" cmpd="sng" w="21625">
            <a:solidFill>
              <a:srgbClr val="0F7173"/>
            </a:solidFill>
            <a:prstDash val="solid"/>
            <a:round/>
            <a:headEnd len="sm" w="sm" type="none"/>
            <a:tailEnd len="sm" w="sm" type="none"/>
          </a:ln>
        </p:spPr>
      </p:cxnSp>
      <p:sp>
        <p:nvSpPr>
          <p:cNvPr id="224" name="Google Shape;224;p11"/>
          <p:cNvSpPr/>
          <p:nvPr/>
        </p:nvSpPr>
        <p:spPr>
          <a:xfrm>
            <a:off x="6440640" y="1489028"/>
            <a:ext cx="174300" cy="15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7173"/>
              </a:buClr>
              <a:buSzPts val="851"/>
              <a:buFont typeface="Calibri"/>
              <a:buNone/>
            </a:pPr>
            <a:r>
              <a:rPr b="0" i="0" lang="en-US" sz="851" u="none" cap="none" strike="noStrike">
                <a:solidFill>
                  <a:srgbClr val="0F7173"/>
                </a:solidFill>
                <a:latin typeface="Calibri"/>
                <a:ea typeface="Calibri"/>
                <a:cs typeface="Calibri"/>
                <a:sym typeface="Calibri"/>
              </a:rPr>
              <a:t>▶</a:t>
            </a:r>
            <a:endParaRPr b="0" i="0" sz="851" u="none" cap="none" strike="noStrike">
              <a:solidFill>
                <a:schemeClr val="dk1"/>
              </a:solidFill>
              <a:latin typeface="Calibri"/>
              <a:ea typeface="Calibri"/>
              <a:cs typeface="Calibri"/>
              <a:sym typeface="Calibri"/>
            </a:endParaRPr>
          </a:p>
        </p:txBody>
      </p:sp>
      <p:sp>
        <p:nvSpPr>
          <p:cNvPr id="225" name="Google Shape;225;p11"/>
          <p:cNvSpPr/>
          <p:nvPr/>
        </p:nvSpPr>
        <p:spPr>
          <a:xfrm>
            <a:off x="6684595" y="1005850"/>
            <a:ext cx="1742700" cy="1115100"/>
          </a:xfrm>
          <a:prstGeom prst="rect">
            <a:avLst/>
          </a:prstGeom>
          <a:solidFill>
            <a:srgbClr val="1B3A5C"/>
          </a:solidFill>
          <a:ln cap="flat" cmpd="sng" w="16225">
            <a:solidFill>
              <a:srgbClr val="0F7173"/>
            </a:solidFill>
            <a:prstDash val="solid"/>
            <a:round/>
            <a:headEnd len="sm" w="sm" type="none"/>
            <a:tailEnd len="sm" w="sm" type="none"/>
          </a:ln>
        </p:spPr>
        <p:txBody>
          <a:bodyPr anchorCtr="0" anchor="ctr" bIns="77850" lIns="77850" spcFirstLastPara="1" rIns="77850" wrap="square" tIns="77850">
            <a:noAutofit/>
          </a:bodyPr>
          <a:lstStyle/>
          <a:p>
            <a:pPr indent="0" lvl="0" marL="0" rtl="0" algn="l">
              <a:spcBef>
                <a:spcPts val="0"/>
              </a:spcBef>
              <a:spcAft>
                <a:spcPts val="0"/>
              </a:spcAft>
              <a:buNone/>
            </a:pPr>
            <a:r>
              <a:t/>
            </a:r>
            <a:endParaRPr/>
          </a:p>
        </p:txBody>
      </p:sp>
      <p:sp>
        <p:nvSpPr>
          <p:cNvPr id="226" name="Google Shape;226;p11"/>
          <p:cNvSpPr/>
          <p:nvPr/>
        </p:nvSpPr>
        <p:spPr>
          <a:xfrm>
            <a:off x="6684595" y="1067796"/>
            <a:ext cx="1742700" cy="402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Visual</a:t>
            </a:r>
            <a:endParaRPr b="0" i="0" sz="1192"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14B8A6"/>
              </a:buClr>
              <a:buSzPts val="1192"/>
              <a:buFont typeface="Calibri"/>
              <a:buNone/>
            </a:pPr>
            <a:r>
              <a:rPr b="1" i="0" lang="en-US" sz="1192" u="none" cap="none" strike="noStrike">
                <a:solidFill>
                  <a:srgbClr val="14B8A6"/>
                </a:solidFill>
                <a:latin typeface="Calibri"/>
                <a:ea typeface="Calibri"/>
                <a:cs typeface="Calibri"/>
                <a:sym typeface="Calibri"/>
              </a:rPr>
              <a:t>Output</a:t>
            </a:r>
            <a:endParaRPr b="0" i="0" sz="1192" u="none" cap="none" strike="noStrike">
              <a:solidFill>
                <a:schemeClr val="dk1"/>
              </a:solidFill>
              <a:latin typeface="Calibri"/>
              <a:ea typeface="Calibri"/>
              <a:cs typeface="Calibri"/>
              <a:sym typeface="Calibri"/>
            </a:endParaRPr>
          </a:p>
        </p:txBody>
      </p:sp>
      <p:sp>
        <p:nvSpPr>
          <p:cNvPr id="227" name="Google Shape;227;p11"/>
          <p:cNvSpPr/>
          <p:nvPr/>
        </p:nvSpPr>
        <p:spPr>
          <a:xfrm>
            <a:off x="6684595" y="1470444"/>
            <a:ext cx="1742700" cy="52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Probability bar</a:t>
            </a:r>
            <a:endParaRPr b="0" i="0" sz="1237"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2E8F0"/>
              </a:buClr>
              <a:buSzPts val="937"/>
              <a:buFont typeface="Calibri"/>
              <a:buNone/>
            </a:pPr>
            <a:r>
              <a:rPr b="0" i="0" lang="en-US" sz="1237" u="none" cap="none" strike="noStrike">
                <a:solidFill>
                  <a:srgbClr val="E2E8F0"/>
                </a:solidFill>
                <a:latin typeface="Calibri"/>
                <a:ea typeface="Calibri"/>
                <a:cs typeface="Calibri"/>
                <a:sym typeface="Calibri"/>
              </a:rPr>
              <a:t>&amp; risk level</a:t>
            </a:r>
            <a:endParaRPr b="0" i="0" sz="1237" u="none" cap="none" strike="noStrike">
              <a:solidFill>
                <a:schemeClr val="dk1"/>
              </a:solidFill>
              <a:latin typeface="Calibri"/>
              <a:ea typeface="Calibri"/>
              <a:cs typeface="Calibri"/>
              <a:sym typeface="Calibri"/>
            </a:endParaRPr>
          </a:p>
        </p:txBody>
      </p:sp>
      <p:pic>
        <p:nvPicPr>
          <p:cNvPr id="228" name="Google Shape;228;p11" title="intro.png"/>
          <p:cNvPicPr preferRelativeResize="0"/>
          <p:nvPr/>
        </p:nvPicPr>
        <p:blipFill>
          <a:blip r:embed="rId4">
            <a:alphaModFix/>
          </a:blip>
          <a:stretch>
            <a:fillRect/>
          </a:stretch>
        </p:blipFill>
        <p:spPr>
          <a:xfrm>
            <a:off x="745242" y="2227525"/>
            <a:ext cx="3659616" cy="2717750"/>
          </a:xfrm>
          <a:prstGeom prst="rect">
            <a:avLst/>
          </a:prstGeom>
          <a:noFill/>
          <a:ln>
            <a:noFill/>
          </a:ln>
        </p:spPr>
      </p:pic>
      <p:pic>
        <p:nvPicPr>
          <p:cNvPr id="229" name="Google Shape;229;p11" title="prediction1.png"/>
          <p:cNvPicPr preferRelativeResize="0"/>
          <p:nvPr/>
        </p:nvPicPr>
        <p:blipFill>
          <a:blip r:embed="rId5">
            <a:alphaModFix/>
          </a:blip>
          <a:stretch>
            <a:fillRect/>
          </a:stretch>
        </p:blipFill>
        <p:spPr>
          <a:xfrm>
            <a:off x="4557258" y="2227525"/>
            <a:ext cx="3570997" cy="2717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4F8"/>
        </a:solidFill>
      </p:bgPr>
    </p:bg>
    <p:spTree>
      <p:nvGrpSpPr>
        <p:cNvPr id="234" name="Shape 234"/>
        <p:cNvGrpSpPr/>
        <p:nvPr/>
      </p:nvGrpSpPr>
      <p:grpSpPr>
        <a:xfrm>
          <a:off x="0" y="0"/>
          <a:ext cx="0" cy="0"/>
          <a:chOff x="0" y="0"/>
          <a:chExt cx="0" cy="0"/>
        </a:xfrm>
      </p:grpSpPr>
      <p:sp>
        <p:nvSpPr>
          <p:cNvPr id="235" name="Google Shape;235;p12"/>
          <p:cNvSpPr/>
          <p:nvPr/>
        </p:nvSpPr>
        <p:spPr>
          <a:xfrm>
            <a:off x="457200" y="27432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3400"/>
              <a:buFont typeface="Calibri"/>
              <a:buNone/>
            </a:pPr>
            <a:r>
              <a:rPr b="1" i="0" lang="en-US" sz="3400" u="none" cap="none" strike="noStrike">
                <a:solidFill>
                  <a:srgbClr val="0D1B2A"/>
                </a:solidFill>
                <a:latin typeface="Calibri"/>
                <a:ea typeface="Calibri"/>
                <a:cs typeface="Calibri"/>
                <a:sym typeface="Calibri"/>
              </a:rPr>
              <a:t>Conclusions &amp; Limitations</a:t>
            </a:r>
            <a:endParaRPr b="0" i="0" sz="3400" u="none" cap="none" strike="noStrike">
              <a:solidFill>
                <a:schemeClr val="dk1"/>
              </a:solidFill>
              <a:latin typeface="Calibri"/>
              <a:ea typeface="Calibri"/>
              <a:cs typeface="Calibri"/>
              <a:sym typeface="Calibri"/>
            </a:endParaRPr>
          </a:p>
        </p:txBody>
      </p:sp>
      <p:sp>
        <p:nvSpPr>
          <p:cNvPr id="236" name="Google Shape;236;p12"/>
          <p:cNvSpPr/>
          <p:nvPr/>
        </p:nvSpPr>
        <p:spPr>
          <a:xfrm>
            <a:off x="457200" y="850392"/>
            <a:ext cx="8229600" cy="27432"/>
          </a:xfrm>
          <a:prstGeom prst="rect">
            <a:avLst/>
          </a:prstGeom>
          <a:solidFill>
            <a:srgbClr val="E2E8F0"/>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2"/>
          <p:cNvSpPr/>
          <p:nvPr/>
        </p:nvSpPr>
        <p:spPr>
          <a:xfrm>
            <a:off x="457200" y="960120"/>
            <a:ext cx="41148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700"/>
              <a:buFont typeface="Calibri"/>
              <a:buNone/>
            </a:pPr>
            <a:r>
              <a:rPr b="1" i="0" lang="en-US" sz="1700" u="none" cap="none" strike="noStrike">
                <a:solidFill>
                  <a:srgbClr val="0D1B2A"/>
                </a:solidFill>
                <a:latin typeface="Calibri"/>
                <a:ea typeface="Calibri"/>
                <a:cs typeface="Calibri"/>
                <a:sym typeface="Calibri"/>
              </a:rPr>
              <a:t>Conclusions</a:t>
            </a:r>
            <a:endParaRPr b="0" i="0" sz="1700" u="none" cap="none" strike="noStrike">
              <a:solidFill>
                <a:schemeClr val="dk1"/>
              </a:solidFill>
              <a:latin typeface="Calibri"/>
              <a:ea typeface="Calibri"/>
              <a:cs typeface="Calibri"/>
              <a:sym typeface="Calibri"/>
            </a:endParaRPr>
          </a:p>
        </p:txBody>
      </p:sp>
      <p:pic>
        <p:nvPicPr>
          <p:cNvPr descr="preencoded.png" id="238" name="Google Shape;238;p12"/>
          <p:cNvPicPr preferRelativeResize="0"/>
          <p:nvPr/>
        </p:nvPicPr>
        <p:blipFill rotWithShape="1">
          <a:blip r:embed="rId3">
            <a:alphaModFix/>
          </a:blip>
          <a:srcRect b="0" l="0" r="0" t="0"/>
          <a:stretch/>
        </p:blipFill>
        <p:spPr>
          <a:xfrm>
            <a:off x="457200" y="1490472"/>
            <a:ext cx="320040" cy="320040"/>
          </a:xfrm>
          <a:prstGeom prst="rect">
            <a:avLst/>
          </a:prstGeom>
          <a:noFill/>
          <a:ln>
            <a:noFill/>
          </a:ln>
        </p:spPr>
      </p:pic>
      <p:sp>
        <p:nvSpPr>
          <p:cNvPr id="239" name="Google Shape;239;p12"/>
          <p:cNvSpPr/>
          <p:nvPr/>
        </p:nvSpPr>
        <p:spPr>
          <a:xfrm>
            <a:off x="868680" y="1417320"/>
            <a:ext cx="3657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XGBoost achieved the best accuracy (8</a:t>
            </a:r>
            <a:r>
              <a:rPr lang="en-US" sz="1300">
                <a:solidFill>
                  <a:srgbClr val="0D1B2A"/>
                </a:solidFill>
                <a:latin typeface="Calibri"/>
                <a:ea typeface="Calibri"/>
                <a:cs typeface="Calibri"/>
                <a:sym typeface="Calibri"/>
              </a:rPr>
              <a:t>4.7</a:t>
            </a:r>
            <a:r>
              <a:rPr b="0" i="0" lang="en-US" sz="1300" u="none" cap="none" strike="noStrike">
                <a:solidFill>
                  <a:srgbClr val="0D1B2A"/>
                </a:solidFill>
                <a:latin typeface="Calibri"/>
                <a:ea typeface="Calibri"/>
                <a:cs typeface="Calibri"/>
                <a:sym typeface="Calibri"/>
              </a:rPr>
              <a:t>%) </a:t>
            </a:r>
            <a:endParaRPr b="0" i="0" sz="1300" u="none" cap="none" strike="noStrike">
              <a:solidFill>
                <a:schemeClr val="dk1"/>
              </a:solidFill>
              <a:latin typeface="Calibri"/>
              <a:ea typeface="Calibri"/>
              <a:cs typeface="Calibri"/>
              <a:sym typeface="Calibri"/>
            </a:endParaRPr>
          </a:p>
        </p:txBody>
      </p:sp>
      <p:pic>
        <p:nvPicPr>
          <p:cNvPr descr="preencoded.png" id="240" name="Google Shape;240;p12"/>
          <p:cNvPicPr preferRelativeResize="0"/>
          <p:nvPr/>
        </p:nvPicPr>
        <p:blipFill rotWithShape="1">
          <a:blip r:embed="rId3">
            <a:alphaModFix/>
          </a:blip>
          <a:srcRect b="0" l="0" r="0" t="0"/>
          <a:stretch/>
        </p:blipFill>
        <p:spPr>
          <a:xfrm>
            <a:off x="457200" y="2176272"/>
            <a:ext cx="320040" cy="320040"/>
          </a:xfrm>
          <a:prstGeom prst="rect">
            <a:avLst/>
          </a:prstGeom>
          <a:noFill/>
          <a:ln>
            <a:noFill/>
          </a:ln>
        </p:spPr>
      </p:pic>
      <p:sp>
        <p:nvSpPr>
          <p:cNvPr id="241" name="Google Shape;241;p12"/>
          <p:cNvSpPr/>
          <p:nvPr/>
        </p:nvSpPr>
        <p:spPr>
          <a:xfrm>
            <a:off x="868680" y="2103120"/>
            <a:ext cx="3657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Overtime and low salary are the top drivers of attrition</a:t>
            </a:r>
            <a:endParaRPr b="0" i="0" sz="1300" u="none" cap="none" strike="noStrike">
              <a:solidFill>
                <a:schemeClr val="dk1"/>
              </a:solidFill>
              <a:latin typeface="Calibri"/>
              <a:ea typeface="Calibri"/>
              <a:cs typeface="Calibri"/>
              <a:sym typeface="Calibri"/>
            </a:endParaRPr>
          </a:p>
        </p:txBody>
      </p:sp>
      <p:pic>
        <p:nvPicPr>
          <p:cNvPr descr="preencoded.png" id="242" name="Google Shape;242;p12"/>
          <p:cNvPicPr preferRelativeResize="0"/>
          <p:nvPr/>
        </p:nvPicPr>
        <p:blipFill rotWithShape="1">
          <a:blip r:embed="rId3">
            <a:alphaModFix/>
          </a:blip>
          <a:srcRect b="0" l="0" r="0" t="0"/>
          <a:stretch/>
        </p:blipFill>
        <p:spPr>
          <a:xfrm>
            <a:off x="457200" y="2862072"/>
            <a:ext cx="320040" cy="320040"/>
          </a:xfrm>
          <a:prstGeom prst="rect">
            <a:avLst/>
          </a:prstGeom>
          <a:noFill/>
          <a:ln>
            <a:noFill/>
          </a:ln>
        </p:spPr>
      </p:pic>
      <p:sp>
        <p:nvSpPr>
          <p:cNvPr id="243" name="Google Shape;243;p12"/>
          <p:cNvSpPr/>
          <p:nvPr/>
        </p:nvSpPr>
        <p:spPr>
          <a:xfrm>
            <a:off x="845830" y="2642220"/>
            <a:ext cx="3657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SHAP provides actionable, interpretable insights for HR teams</a:t>
            </a:r>
            <a:endParaRPr b="0" i="0" sz="1300" u="none" cap="none" strike="noStrike">
              <a:solidFill>
                <a:schemeClr val="dk1"/>
              </a:solidFill>
              <a:latin typeface="Calibri"/>
              <a:ea typeface="Calibri"/>
              <a:cs typeface="Calibri"/>
              <a:sym typeface="Calibri"/>
            </a:endParaRPr>
          </a:p>
        </p:txBody>
      </p:sp>
      <p:pic>
        <p:nvPicPr>
          <p:cNvPr descr="preencoded.png" id="244" name="Google Shape;244;p12"/>
          <p:cNvPicPr preferRelativeResize="0"/>
          <p:nvPr/>
        </p:nvPicPr>
        <p:blipFill rotWithShape="1">
          <a:blip r:embed="rId3">
            <a:alphaModFix/>
          </a:blip>
          <a:srcRect b="0" l="0" r="0" t="0"/>
          <a:stretch/>
        </p:blipFill>
        <p:spPr>
          <a:xfrm>
            <a:off x="457200" y="3547872"/>
            <a:ext cx="320040" cy="320040"/>
          </a:xfrm>
          <a:prstGeom prst="rect">
            <a:avLst/>
          </a:prstGeom>
          <a:noFill/>
          <a:ln>
            <a:noFill/>
          </a:ln>
        </p:spPr>
      </p:pic>
      <p:sp>
        <p:nvSpPr>
          <p:cNvPr id="245" name="Google Shape;245;p12"/>
          <p:cNvSpPr/>
          <p:nvPr/>
        </p:nvSpPr>
        <p:spPr>
          <a:xfrm>
            <a:off x="868680" y="3474720"/>
            <a:ext cx="3657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Streamlit app enables real-time, user-friendly predictions</a:t>
            </a:r>
            <a:endParaRPr b="0" i="0" sz="1300" u="none" cap="none" strike="noStrike">
              <a:solidFill>
                <a:schemeClr val="dk1"/>
              </a:solidFill>
              <a:latin typeface="Calibri"/>
              <a:ea typeface="Calibri"/>
              <a:cs typeface="Calibri"/>
              <a:sym typeface="Calibri"/>
            </a:endParaRPr>
          </a:p>
        </p:txBody>
      </p:sp>
      <p:sp>
        <p:nvSpPr>
          <p:cNvPr id="246" name="Google Shape;246;p12"/>
          <p:cNvSpPr/>
          <p:nvPr/>
        </p:nvSpPr>
        <p:spPr>
          <a:xfrm>
            <a:off x="4846320" y="960120"/>
            <a:ext cx="39319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700"/>
              <a:buFont typeface="Calibri"/>
              <a:buNone/>
            </a:pPr>
            <a:r>
              <a:rPr b="1" i="0" lang="en-US" sz="1700" u="none" cap="none" strike="noStrike">
                <a:solidFill>
                  <a:srgbClr val="0D1B2A"/>
                </a:solidFill>
                <a:latin typeface="Calibri"/>
                <a:ea typeface="Calibri"/>
                <a:cs typeface="Calibri"/>
                <a:sym typeface="Calibri"/>
              </a:rPr>
              <a:t>Limitations</a:t>
            </a:r>
            <a:endParaRPr b="0" i="0" sz="1700" u="none" cap="none" strike="noStrike">
              <a:solidFill>
                <a:schemeClr val="dk1"/>
              </a:solidFill>
              <a:latin typeface="Calibri"/>
              <a:ea typeface="Calibri"/>
              <a:cs typeface="Calibri"/>
              <a:sym typeface="Calibri"/>
            </a:endParaRPr>
          </a:p>
        </p:txBody>
      </p:sp>
      <p:pic>
        <p:nvPicPr>
          <p:cNvPr descr="preencoded.png" id="247" name="Google Shape;247;p12"/>
          <p:cNvPicPr preferRelativeResize="0"/>
          <p:nvPr/>
        </p:nvPicPr>
        <p:blipFill rotWithShape="1">
          <a:blip r:embed="rId4">
            <a:alphaModFix/>
          </a:blip>
          <a:srcRect b="0" l="0" r="0" t="0"/>
          <a:stretch/>
        </p:blipFill>
        <p:spPr>
          <a:xfrm>
            <a:off x="4846320" y="1490472"/>
            <a:ext cx="320040" cy="320040"/>
          </a:xfrm>
          <a:prstGeom prst="rect">
            <a:avLst/>
          </a:prstGeom>
          <a:noFill/>
          <a:ln>
            <a:noFill/>
          </a:ln>
        </p:spPr>
      </p:pic>
      <p:sp>
        <p:nvSpPr>
          <p:cNvPr id="248" name="Google Shape;248;p12"/>
          <p:cNvSpPr/>
          <p:nvPr/>
        </p:nvSpPr>
        <p:spPr>
          <a:xfrm>
            <a:off x="5257800" y="1417320"/>
            <a:ext cx="3474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Class imbalance — minority class underrepresented</a:t>
            </a:r>
            <a:endParaRPr b="0" i="0" sz="1300" u="none" cap="none" strike="noStrike">
              <a:solidFill>
                <a:schemeClr val="dk1"/>
              </a:solidFill>
              <a:latin typeface="Calibri"/>
              <a:ea typeface="Calibri"/>
              <a:cs typeface="Calibri"/>
              <a:sym typeface="Calibri"/>
            </a:endParaRPr>
          </a:p>
        </p:txBody>
      </p:sp>
      <p:pic>
        <p:nvPicPr>
          <p:cNvPr descr="preencoded.png" id="249" name="Google Shape;249;p12"/>
          <p:cNvPicPr preferRelativeResize="0"/>
          <p:nvPr/>
        </p:nvPicPr>
        <p:blipFill rotWithShape="1">
          <a:blip r:embed="rId4">
            <a:alphaModFix/>
          </a:blip>
          <a:srcRect b="0" l="0" r="0" t="0"/>
          <a:stretch/>
        </p:blipFill>
        <p:spPr>
          <a:xfrm>
            <a:off x="4846320" y="2176272"/>
            <a:ext cx="320040" cy="320040"/>
          </a:xfrm>
          <a:prstGeom prst="rect">
            <a:avLst/>
          </a:prstGeom>
          <a:noFill/>
          <a:ln>
            <a:noFill/>
          </a:ln>
        </p:spPr>
      </p:pic>
      <p:sp>
        <p:nvSpPr>
          <p:cNvPr id="250" name="Google Shape;250;p12"/>
          <p:cNvSpPr/>
          <p:nvPr/>
        </p:nvSpPr>
        <p:spPr>
          <a:xfrm>
            <a:off x="5257800" y="2103120"/>
            <a:ext cx="3474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Dataset limited to IBM; may not generalize universally</a:t>
            </a:r>
            <a:endParaRPr b="0" i="0" sz="1300" u="none" cap="none" strike="noStrike">
              <a:solidFill>
                <a:schemeClr val="dk1"/>
              </a:solidFill>
              <a:latin typeface="Calibri"/>
              <a:ea typeface="Calibri"/>
              <a:cs typeface="Calibri"/>
              <a:sym typeface="Calibri"/>
            </a:endParaRPr>
          </a:p>
        </p:txBody>
      </p:sp>
      <p:pic>
        <p:nvPicPr>
          <p:cNvPr descr="preencoded.png" id="251" name="Google Shape;251;p12"/>
          <p:cNvPicPr preferRelativeResize="0"/>
          <p:nvPr/>
        </p:nvPicPr>
        <p:blipFill rotWithShape="1">
          <a:blip r:embed="rId4">
            <a:alphaModFix/>
          </a:blip>
          <a:srcRect b="0" l="0" r="0" t="0"/>
          <a:stretch/>
        </p:blipFill>
        <p:spPr>
          <a:xfrm>
            <a:off x="4846320" y="2862072"/>
            <a:ext cx="320040" cy="320040"/>
          </a:xfrm>
          <a:prstGeom prst="rect">
            <a:avLst/>
          </a:prstGeom>
          <a:noFill/>
          <a:ln>
            <a:noFill/>
          </a:ln>
        </p:spPr>
      </p:pic>
      <p:sp>
        <p:nvSpPr>
          <p:cNvPr id="252" name="Google Shape;252;p12"/>
          <p:cNvSpPr/>
          <p:nvPr/>
        </p:nvSpPr>
        <p:spPr>
          <a:xfrm>
            <a:off x="5257800" y="2788920"/>
            <a:ext cx="3474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Static model</a:t>
            </a:r>
            <a:r>
              <a:rPr lang="en-US" sz="1300">
                <a:solidFill>
                  <a:srgbClr val="0D1B2A"/>
                </a:solidFill>
                <a:latin typeface="Calibri"/>
                <a:ea typeface="Calibri"/>
                <a:cs typeface="Calibri"/>
                <a:sym typeface="Calibri"/>
              </a:rPr>
              <a:t>,</a:t>
            </a:r>
            <a:r>
              <a:rPr b="0" i="0" lang="en-US" sz="1300" u="none" cap="none" strike="noStrike">
                <a:solidFill>
                  <a:srgbClr val="0D1B2A"/>
                </a:solidFill>
                <a:latin typeface="Calibri"/>
                <a:ea typeface="Calibri"/>
                <a:cs typeface="Calibri"/>
                <a:sym typeface="Calibri"/>
              </a:rPr>
              <a:t> does not adapt to real-time changes</a:t>
            </a:r>
            <a:endParaRPr b="0" i="0" sz="1300" u="none" cap="none" strike="noStrike">
              <a:solidFill>
                <a:schemeClr val="dk1"/>
              </a:solidFill>
              <a:latin typeface="Calibri"/>
              <a:ea typeface="Calibri"/>
              <a:cs typeface="Calibri"/>
              <a:sym typeface="Calibri"/>
            </a:endParaRPr>
          </a:p>
        </p:txBody>
      </p:sp>
      <p:pic>
        <p:nvPicPr>
          <p:cNvPr descr="preencoded.png" id="253" name="Google Shape;253;p12"/>
          <p:cNvPicPr preferRelativeResize="0"/>
          <p:nvPr/>
        </p:nvPicPr>
        <p:blipFill rotWithShape="1">
          <a:blip r:embed="rId4">
            <a:alphaModFix/>
          </a:blip>
          <a:srcRect b="0" l="0" r="0" t="0"/>
          <a:stretch/>
        </p:blipFill>
        <p:spPr>
          <a:xfrm>
            <a:off x="4846320" y="3547872"/>
            <a:ext cx="320040" cy="320040"/>
          </a:xfrm>
          <a:prstGeom prst="rect">
            <a:avLst/>
          </a:prstGeom>
          <a:noFill/>
          <a:ln>
            <a:noFill/>
          </a:ln>
        </p:spPr>
      </p:pic>
      <p:sp>
        <p:nvSpPr>
          <p:cNvPr id="254" name="Google Shape;254;p12"/>
          <p:cNvSpPr/>
          <p:nvPr/>
        </p:nvSpPr>
        <p:spPr>
          <a:xfrm>
            <a:off x="5257800" y="3474720"/>
            <a:ext cx="3474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1B2A"/>
              </a:buClr>
              <a:buSzPts val="1300"/>
              <a:buFont typeface="Calibri"/>
              <a:buNone/>
            </a:pPr>
            <a:r>
              <a:rPr b="0" i="0" lang="en-US" sz="1300" u="none" cap="none" strike="noStrike">
                <a:solidFill>
                  <a:srgbClr val="0D1B2A"/>
                </a:solidFill>
                <a:latin typeface="Calibri"/>
                <a:ea typeface="Calibri"/>
                <a:cs typeface="Calibri"/>
                <a:sym typeface="Calibri"/>
              </a:rPr>
              <a:t>No temporal features (e.g., performance trends)</a:t>
            </a:r>
            <a:endParaRPr b="0" i="0" sz="1300" u="none" cap="none" strike="noStrike">
              <a:solidFill>
                <a:schemeClr val="dk1"/>
              </a:solidFill>
              <a:latin typeface="Calibri"/>
              <a:ea typeface="Calibri"/>
              <a:cs typeface="Calibri"/>
              <a:sym typeface="Calibri"/>
            </a:endParaRPr>
          </a:p>
        </p:txBody>
      </p:sp>
      <p:cxnSp>
        <p:nvCxnSpPr>
          <p:cNvPr id="255" name="Google Shape;255;p12"/>
          <p:cNvCxnSpPr/>
          <p:nvPr/>
        </p:nvCxnSpPr>
        <p:spPr>
          <a:xfrm>
            <a:off x="4572000" y="960120"/>
            <a:ext cx="0" cy="3200400"/>
          </a:xfrm>
          <a:prstGeom prst="straightConnector1">
            <a:avLst/>
          </a:prstGeom>
          <a:noFill/>
          <a:ln cap="flat" cmpd="sng" w="19050">
            <a:solidFill>
              <a:srgbClr val="E2E8F0"/>
            </a:solidFill>
            <a:prstDash val="solid"/>
            <a:round/>
            <a:headEnd len="sm" w="sm" type="none"/>
            <a:tailEnd len="sm" w="sm"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260" name="Shape 260"/>
        <p:cNvGrpSpPr/>
        <p:nvPr/>
      </p:nvGrpSpPr>
      <p:grpSpPr>
        <a:xfrm>
          <a:off x="0" y="0"/>
          <a:ext cx="0" cy="0"/>
          <a:chOff x="0" y="0"/>
          <a:chExt cx="0" cy="0"/>
        </a:xfrm>
      </p:grpSpPr>
      <p:sp>
        <p:nvSpPr>
          <p:cNvPr id="261" name="Google Shape;261;p13"/>
          <p:cNvSpPr/>
          <p:nvPr/>
        </p:nvSpPr>
        <p:spPr>
          <a:xfrm>
            <a:off x="0" y="0"/>
            <a:ext cx="164592" cy="51435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3"/>
          <p:cNvSpPr/>
          <p:nvPr/>
        </p:nvSpPr>
        <p:spPr>
          <a:xfrm>
            <a:off x="457200" y="228600"/>
            <a:ext cx="64008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400"/>
              <a:buFont typeface="Calibri"/>
              <a:buNone/>
            </a:pPr>
            <a:r>
              <a:rPr b="1" i="0" lang="en-US" sz="3400" u="none" cap="none" strike="noStrike">
                <a:solidFill>
                  <a:srgbClr val="FFFFFF"/>
                </a:solidFill>
                <a:latin typeface="Calibri"/>
                <a:ea typeface="Calibri"/>
                <a:cs typeface="Calibri"/>
                <a:sym typeface="Calibri"/>
              </a:rPr>
              <a:t>Future Work</a:t>
            </a:r>
            <a:endParaRPr b="0" i="0" sz="3400" u="none" cap="none" strike="noStrike">
              <a:solidFill>
                <a:schemeClr val="dk1"/>
              </a:solidFill>
              <a:latin typeface="Calibri"/>
              <a:ea typeface="Calibri"/>
              <a:cs typeface="Calibri"/>
              <a:sym typeface="Calibri"/>
            </a:endParaRPr>
          </a:p>
        </p:txBody>
      </p:sp>
      <p:pic>
        <p:nvPicPr>
          <p:cNvPr descr="preencoded.png" id="263" name="Google Shape;263;p13"/>
          <p:cNvPicPr preferRelativeResize="0"/>
          <p:nvPr/>
        </p:nvPicPr>
        <p:blipFill rotWithShape="1">
          <a:blip r:embed="rId3">
            <a:alphaModFix/>
          </a:blip>
          <a:srcRect b="0" l="0" r="0" t="0"/>
          <a:stretch/>
        </p:blipFill>
        <p:spPr>
          <a:xfrm>
            <a:off x="8046720" y="182880"/>
            <a:ext cx="731520" cy="731520"/>
          </a:xfrm>
          <a:prstGeom prst="rect">
            <a:avLst/>
          </a:prstGeom>
          <a:noFill/>
          <a:ln>
            <a:noFill/>
          </a:ln>
        </p:spPr>
      </p:pic>
      <p:sp>
        <p:nvSpPr>
          <p:cNvPr id="264" name="Google Shape;264;p13"/>
          <p:cNvSpPr/>
          <p:nvPr/>
        </p:nvSpPr>
        <p:spPr>
          <a:xfrm>
            <a:off x="365760" y="960120"/>
            <a:ext cx="3931920" cy="1188720"/>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5" name="Google Shape;265;p13"/>
          <p:cNvPicPr preferRelativeResize="0"/>
          <p:nvPr/>
        </p:nvPicPr>
        <p:blipFill rotWithShape="1">
          <a:blip r:embed="rId4">
            <a:alphaModFix/>
          </a:blip>
          <a:srcRect b="0" l="0" r="0" t="0"/>
          <a:stretch/>
        </p:blipFill>
        <p:spPr>
          <a:xfrm>
            <a:off x="475488" y="1353312"/>
            <a:ext cx="384048" cy="384048"/>
          </a:xfrm>
          <a:prstGeom prst="rect">
            <a:avLst/>
          </a:prstGeom>
          <a:noFill/>
          <a:ln>
            <a:noFill/>
          </a:ln>
        </p:spPr>
      </p:pic>
      <p:sp>
        <p:nvSpPr>
          <p:cNvPr id="266" name="Google Shape;266;p13"/>
          <p:cNvSpPr/>
          <p:nvPr/>
        </p:nvSpPr>
        <p:spPr>
          <a:xfrm>
            <a:off x="960120" y="1051560"/>
            <a:ext cx="3218688"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SMOTE / Class Balancing</a:t>
            </a:r>
            <a:endParaRPr b="0" i="0" sz="1400" u="none" cap="none" strike="noStrike">
              <a:solidFill>
                <a:schemeClr val="dk1"/>
              </a:solidFill>
              <a:latin typeface="Calibri"/>
              <a:ea typeface="Calibri"/>
              <a:cs typeface="Calibri"/>
              <a:sym typeface="Calibri"/>
            </a:endParaRPr>
          </a:p>
        </p:txBody>
      </p:sp>
      <p:sp>
        <p:nvSpPr>
          <p:cNvPr id="267" name="Google Shape;267;p13"/>
          <p:cNvSpPr/>
          <p:nvPr/>
        </p:nvSpPr>
        <p:spPr>
          <a:xfrm>
            <a:off x="960120" y="1435608"/>
            <a:ext cx="3218688"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Apply oversampling to handle class imbalance and improve recall on the minority class.</a:t>
            </a:r>
            <a:endParaRPr b="0" i="0" sz="1100" u="none" cap="none" strike="noStrike">
              <a:solidFill>
                <a:schemeClr val="dk1"/>
              </a:solidFill>
              <a:latin typeface="Calibri"/>
              <a:ea typeface="Calibri"/>
              <a:cs typeface="Calibri"/>
              <a:sym typeface="Calibri"/>
            </a:endParaRPr>
          </a:p>
        </p:txBody>
      </p:sp>
      <p:sp>
        <p:nvSpPr>
          <p:cNvPr id="268" name="Google Shape;268;p13"/>
          <p:cNvSpPr/>
          <p:nvPr/>
        </p:nvSpPr>
        <p:spPr>
          <a:xfrm>
            <a:off x="365760" y="2286000"/>
            <a:ext cx="3931920" cy="1188720"/>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69" name="Google Shape;269;p13"/>
          <p:cNvPicPr preferRelativeResize="0"/>
          <p:nvPr/>
        </p:nvPicPr>
        <p:blipFill rotWithShape="1">
          <a:blip r:embed="rId5">
            <a:alphaModFix/>
          </a:blip>
          <a:srcRect b="0" l="0" r="0" t="0"/>
          <a:stretch/>
        </p:blipFill>
        <p:spPr>
          <a:xfrm>
            <a:off x="475488" y="2679192"/>
            <a:ext cx="384048" cy="384048"/>
          </a:xfrm>
          <a:prstGeom prst="rect">
            <a:avLst/>
          </a:prstGeom>
          <a:noFill/>
          <a:ln>
            <a:noFill/>
          </a:ln>
        </p:spPr>
      </p:pic>
      <p:sp>
        <p:nvSpPr>
          <p:cNvPr id="270" name="Google Shape;270;p13"/>
          <p:cNvSpPr/>
          <p:nvPr/>
        </p:nvSpPr>
        <p:spPr>
          <a:xfrm>
            <a:off x="960120" y="2377440"/>
            <a:ext cx="3218688"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Deep Learning Models</a:t>
            </a:r>
            <a:endParaRPr b="0" i="0" sz="1400" u="none" cap="none" strike="noStrike">
              <a:solidFill>
                <a:schemeClr val="dk1"/>
              </a:solidFill>
              <a:latin typeface="Calibri"/>
              <a:ea typeface="Calibri"/>
              <a:cs typeface="Calibri"/>
              <a:sym typeface="Calibri"/>
            </a:endParaRPr>
          </a:p>
        </p:txBody>
      </p:sp>
      <p:sp>
        <p:nvSpPr>
          <p:cNvPr id="271" name="Google Shape;271;p13"/>
          <p:cNvSpPr/>
          <p:nvPr/>
        </p:nvSpPr>
        <p:spPr>
          <a:xfrm>
            <a:off x="960120" y="2761488"/>
            <a:ext cx="3218688"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Explore LSTM / Transformer-based models for time-series attrition prediction.</a:t>
            </a:r>
            <a:endParaRPr b="0" i="0" sz="1100" u="none" cap="none" strike="noStrike">
              <a:solidFill>
                <a:schemeClr val="dk1"/>
              </a:solidFill>
              <a:latin typeface="Calibri"/>
              <a:ea typeface="Calibri"/>
              <a:cs typeface="Calibri"/>
              <a:sym typeface="Calibri"/>
            </a:endParaRPr>
          </a:p>
        </p:txBody>
      </p:sp>
      <p:sp>
        <p:nvSpPr>
          <p:cNvPr id="272" name="Google Shape;272;p13"/>
          <p:cNvSpPr/>
          <p:nvPr/>
        </p:nvSpPr>
        <p:spPr>
          <a:xfrm>
            <a:off x="365760" y="3611880"/>
            <a:ext cx="3931920" cy="1188720"/>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3" name="Google Shape;273;p13"/>
          <p:cNvPicPr preferRelativeResize="0"/>
          <p:nvPr/>
        </p:nvPicPr>
        <p:blipFill rotWithShape="1">
          <a:blip r:embed="rId6">
            <a:alphaModFix/>
          </a:blip>
          <a:srcRect b="0" l="0" r="0" t="0"/>
          <a:stretch/>
        </p:blipFill>
        <p:spPr>
          <a:xfrm>
            <a:off x="475488" y="4005072"/>
            <a:ext cx="384048" cy="384048"/>
          </a:xfrm>
          <a:prstGeom prst="rect">
            <a:avLst/>
          </a:prstGeom>
          <a:noFill/>
          <a:ln>
            <a:noFill/>
          </a:ln>
        </p:spPr>
      </p:pic>
      <p:sp>
        <p:nvSpPr>
          <p:cNvPr id="274" name="Google Shape;274;p13"/>
          <p:cNvSpPr/>
          <p:nvPr/>
        </p:nvSpPr>
        <p:spPr>
          <a:xfrm>
            <a:off x="960120" y="3703320"/>
            <a:ext cx="3218688"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Real-time Data Integration</a:t>
            </a:r>
            <a:endParaRPr b="0" i="0" sz="1400" u="none" cap="none" strike="noStrike">
              <a:solidFill>
                <a:schemeClr val="dk1"/>
              </a:solidFill>
              <a:latin typeface="Calibri"/>
              <a:ea typeface="Calibri"/>
              <a:cs typeface="Calibri"/>
              <a:sym typeface="Calibri"/>
            </a:endParaRPr>
          </a:p>
        </p:txBody>
      </p:sp>
      <p:sp>
        <p:nvSpPr>
          <p:cNvPr id="275" name="Google Shape;275;p13"/>
          <p:cNvSpPr/>
          <p:nvPr/>
        </p:nvSpPr>
        <p:spPr>
          <a:xfrm>
            <a:off x="960120" y="4087368"/>
            <a:ext cx="3218688"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Connect to live HR systems for dynamic, up-to-date predictions and monitoring.</a:t>
            </a:r>
            <a:endParaRPr b="0" i="0" sz="1100" u="none" cap="none" strike="noStrike">
              <a:solidFill>
                <a:schemeClr val="dk1"/>
              </a:solidFill>
              <a:latin typeface="Calibri"/>
              <a:ea typeface="Calibri"/>
              <a:cs typeface="Calibri"/>
              <a:sym typeface="Calibri"/>
            </a:endParaRPr>
          </a:p>
        </p:txBody>
      </p:sp>
      <p:sp>
        <p:nvSpPr>
          <p:cNvPr id="276" name="Google Shape;276;p13"/>
          <p:cNvSpPr/>
          <p:nvPr/>
        </p:nvSpPr>
        <p:spPr>
          <a:xfrm>
            <a:off x="4800600" y="960120"/>
            <a:ext cx="3931920" cy="1188720"/>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7" name="Google Shape;277;p13"/>
          <p:cNvPicPr preferRelativeResize="0"/>
          <p:nvPr/>
        </p:nvPicPr>
        <p:blipFill rotWithShape="1">
          <a:blip r:embed="rId7">
            <a:alphaModFix/>
          </a:blip>
          <a:srcRect b="0" l="0" r="0" t="0"/>
          <a:stretch/>
        </p:blipFill>
        <p:spPr>
          <a:xfrm>
            <a:off x="4910328" y="1353312"/>
            <a:ext cx="384048" cy="384048"/>
          </a:xfrm>
          <a:prstGeom prst="rect">
            <a:avLst/>
          </a:prstGeom>
          <a:noFill/>
          <a:ln>
            <a:noFill/>
          </a:ln>
        </p:spPr>
      </p:pic>
      <p:sp>
        <p:nvSpPr>
          <p:cNvPr id="278" name="Google Shape;278;p13"/>
          <p:cNvSpPr/>
          <p:nvPr/>
        </p:nvSpPr>
        <p:spPr>
          <a:xfrm>
            <a:off x="5394960" y="1051560"/>
            <a:ext cx="3218688"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Personalized Intervention</a:t>
            </a:r>
            <a:endParaRPr b="0" i="0" sz="1400" u="none" cap="none" strike="noStrike">
              <a:solidFill>
                <a:schemeClr val="dk1"/>
              </a:solidFill>
              <a:latin typeface="Calibri"/>
              <a:ea typeface="Calibri"/>
              <a:cs typeface="Calibri"/>
              <a:sym typeface="Calibri"/>
            </a:endParaRPr>
          </a:p>
        </p:txBody>
      </p:sp>
      <p:sp>
        <p:nvSpPr>
          <p:cNvPr id="279" name="Google Shape;279;p13"/>
          <p:cNvSpPr/>
          <p:nvPr/>
        </p:nvSpPr>
        <p:spPr>
          <a:xfrm>
            <a:off x="5394960" y="1435608"/>
            <a:ext cx="3218688"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Generate employee-specific retention strategies based on SHAP explanations.</a:t>
            </a:r>
            <a:endParaRPr b="0" i="0" sz="1100" u="none" cap="none" strike="noStrike">
              <a:solidFill>
                <a:schemeClr val="dk1"/>
              </a:solidFill>
              <a:latin typeface="Calibri"/>
              <a:ea typeface="Calibri"/>
              <a:cs typeface="Calibri"/>
              <a:sym typeface="Calibri"/>
            </a:endParaRPr>
          </a:p>
        </p:txBody>
      </p:sp>
      <p:sp>
        <p:nvSpPr>
          <p:cNvPr id="280" name="Google Shape;280;p13"/>
          <p:cNvSpPr/>
          <p:nvPr/>
        </p:nvSpPr>
        <p:spPr>
          <a:xfrm>
            <a:off x="4800600" y="2286000"/>
            <a:ext cx="3931920" cy="1188720"/>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1" name="Google Shape;281;p13"/>
          <p:cNvPicPr preferRelativeResize="0"/>
          <p:nvPr/>
        </p:nvPicPr>
        <p:blipFill rotWithShape="1">
          <a:blip r:embed="rId8">
            <a:alphaModFix/>
          </a:blip>
          <a:srcRect b="0" l="0" r="0" t="0"/>
          <a:stretch/>
        </p:blipFill>
        <p:spPr>
          <a:xfrm>
            <a:off x="4910328" y="2679192"/>
            <a:ext cx="384048" cy="384048"/>
          </a:xfrm>
          <a:prstGeom prst="rect">
            <a:avLst/>
          </a:prstGeom>
          <a:noFill/>
          <a:ln>
            <a:noFill/>
          </a:ln>
        </p:spPr>
      </p:pic>
      <p:sp>
        <p:nvSpPr>
          <p:cNvPr id="282" name="Google Shape;282;p13"/>
          <p:cNvSpPr/>
          <p:nvPr/>
        </p:nvSpPr>
        <p:spPr>
          <a:xfrm>
            <a:off x="5394960" y="2377440"/>
            <a:ext cx="3218688"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Multi-company Dataset</a:t>
            </a:r>
            <a:endParaRPr b="0" i="0" sz="1400" u="none" cap="none" strike="noStrike">
              <a:solidFill>
                <a:schemeClr val="dk1"/>
              </a:solidFill>
              <a:latin typeface="Calibri"/>
              <a:ea typeface="Calibri"/>
              <a:cs typeface="Calibri"/>
              <a:sym typeface="Calibri"/>
            </a:endParaRPr>
          </a:p>
        </p:txBody>
      </p:sp>
      <p:sp>
        <p:nvSpPr>
          <p:cNvPr id="283" name="Google Shape;283;p13"/>
          <p:cNvSpPr/>
          <p:nvPr/>
        </p:nvSpPr>
        <p:spPr>
          <a:xfrm>
            <a:off x="5394960" y="2761488"/>
            <a:ext cx="3218688"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Validate the model on diverse datasets across industries for broader generalization.</a:t>
            </a:r>
            <a:endParaRPr b="0" i="0" sz="1100" u="none" cap="none" strike="noStrike">
              <a:solidFill>
                <a:schemeClr val="dk1"/>
              </a:solidFill>
              <a:latin typeface="Calibri"/>
              <a:ea typeface="Calibri"/>
              <a:cs typeface="Calibri"/>
              <a:sym typeface="Calibri"/>
            </a:endParaRPr>
          </a:p>
        </p:txBody>
      </p:sp>
      <p:sp>
        <p:nvSpPr>
          <p:cNvPr id="284" name="Google Shape;284;p13"/>
          <p:cNvSpPr/>
          <p:nvPr/>
        </p:nvSpPr>
        <p:spPr>
          <a:xfrm>
            <a:off x="4800600" y="3611880"/>
            <a:ext cx="3931920" cy="1188720"/>
          </a:xfrm>
          <a:prstGeom prst="rect">
            <a:avLst/>
          </a:prstGeom>
          <a:solidFill>
            <a:srgbClr val="1B3A5C"/>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5" name="Google Shape;285;p13"/>
          <p:cNvPicPr preferRelativeResize="0"/>
          <p:nvPr/>
        </p:nvPicPr>
        <p:blipFill rotWithShape="1">
          <a:blip r:embed="rId9">
            <a:alphaModFix/>
          </a:blip>
          <a:srcRect b="0" l="0" r="0" t="0"/>
          <a:stretch/>
        </p:blipFill>
        <p:spPr>
          <a:xfrm>
            <a:off x="4910328" y="4005072"/>
            <a:ext cx="384048" cy="384048"/>
          </a:xfrm>
          <a:prstGeom prst="rect">
            <a:avLst/>
          </a:prstGeom>
          <a:noFill/>
          <a:ln>
            <a:noFill/>
          </a:ln>
        </p:spPr>
      </p:pic>
      <p:sp>
        <p:nvSpPr>
          <p:cNvPr id="286" name="Google Shape;286;p13"/>
          <p:cNvSpPr/>
          <p:nvPr/>
        </p:nvSpPr>
        <p:spPr>
          <a:xfrm>
            <a:off x="5394960" y="3703320"/>
            <a:ext cx="3218688"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400"/>
              <a:buFont typeface="Calibri"/>
              <a:buNone/>
            </a:pPr>
            <a:r>
              <a:rPr b="1" i="0" lang="en-US" sz="1400" u="none" cap="none" strike="noStrike">
                <a:solidFill>
                  <a:srgbClr val="14B8A6"/>
                </a:solidFill>
                <a:latin typeface="Calibri"/>
                <a:ea typeface="Calibri"/>
                <a:cs typeface="Calibri"/>
                <a:sym typeface="Calibri"/>
              </a:rPr>
              <a:t>Interactive Dashboard</a:t>
            </a:r>
            <a:endParaRPr b="0" i="0" sz="1400" u="none" cap="none" strike="noStrike">
              <a:solidFill>
                <a:schemeClr val="dk1"/>
              </a:solidFill>
              <a:latin typeface="Calibri"/>
              <a:ea typeface="Calibri"/>
              <a:cs typeface="Calibri"/>
              <a:sym typeface="Calibri"/>
            </a:endParaRPr>
          </a:p>
        </p:txBody>
      </p:sp>
      <p:sp>
        <p:nvSpPr>
          <p:cNvPr id="287" name="Google Shape;287;p13"/>
          <p:cNvSpPr/>
          <p:nvPr/>
        </p:nvSpPr>
        <p:spPr>
          <a:xfrm>
            <a:off x="5394960" y="4087368"/>
            <a:ext cx="3218688"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E8F0"/>
              </a:buClr>
              <a:buSzPts val="1100"/>
              <a:buFont typeface="Calibri"/>
              <a:buNone/>
            </a:pPr>
            <a:r>
              <a:rPr b="0" i="0" lang="en-US" sz="1100" u="none" cap="none" strike="noStrike">
                <a:solidFill>
                  <a:srgbClr val="E2E8F0"/>
                </a:solidFill>
                <a:latin typeface="Calibri"/>
                <a:ea typeface="Calibri"/>
                <a:cs typeface="Calibri"/>
                <a:sym typeface="Calibri"/>
              </a:rPr>
              <a:t>Build a full BI dashboard with trend analysis, alerts, and department-level insights.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B2A"/>
        </a:solidFill>
      </p:bgPr>
    </p:bg>
    <p:spTree>
      <p:nvGrpSpPr>
        <p:cNvPr id="292" name="Shape 292"/>
        <p:cNvGrpSpPr/>
        <p:nvPr/>
      </p:nvGrpSpPr>
      <p:grpSpPr>
        <a:xfrm>
          <a:off x="0" y="0"/>
          <a:ext cx="0" cy="0"/>
          <a:chOff x="0" y="0"/>
          <a:chExt cx="0" cy="0"/>
        </a:xfrm>
      </p:grpSpPr>
      <p:sp>
        <p:nvSpPr>
          <p:cNvPr id="293" name="Google Shape;293;p14"/>
          <p:cNvSpPr/>
          <p:nvPr/>
        </p:nvSpPr>
        <p:spPr>
          <a:xfrm>
            <a:off x="0" y="0"/>
            <a:ext cx="164592" cy="51435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4"/>
          <p:cNvSpPr/>
          <p:nvPr/>
        </p:nvSpPr>
        <p:spPr>
          <a:xfrm>
            <a:off x="457200" y="1535660"/>
            <a:ext cx="8229600" cy="73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Thank You!</a:t>
            </a:r>
            <a:endParaRPr b="0" i="0" sz="4400" u="none" cap="none" strike="noStrike">
              <a:solidFill>
                <a:schemeClr val="dk1"/>
              </a:solidFill>
              <a:latin typeface="Calibri"/>
              <a:ea typeface="Calibri"/>
              <a:cs typeface="Calibri"/>
              <a:sym typeface="Calibri"/>
            </a:endParaRPr>
          </a:p>
        </p:txBody>
      </p:sp>
      <p:sp>
        <p:nvSpPr>
          <p:cNvPr id="295" name="Google Shape;295;p14"/>
          <p:cNvSpPr/>
          <p:nvPr/>
        </p:nvSpPr>
        <p:spPr>
          <a:xfrm>
            <a:off x="2926080" y="2358597"/>
            <a:ext cx="3291900" cy="27300"/>
          </a:xfrm>
          <a:prstGeom prst="rect">
            <a:avLst/>
          </a:prstGeom>
          <a:solidFill>
            <a:srgbClr val="0F7173"/>
          </a:solidFill>
          <a:ln cap="flat" cmpd="sng" w="12700">
            <a:solidFill>
              <a:srgbClr val="0F717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4"/>
          <p:cNvSpPr/>
          <p:nvPr/>
        </p:nvSpPr>
        <p:spPr>
          <a:xfrm>
            <a:off x="457200" y="2514045"/>
            <a:ext cx="8229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E8F0"/>
              </a:buClr>
              <a:buSzPts val="1300"/>
              <a:buFont typeface="Calibri"/>
              <a:buNone/>
            </a:pPr>
            <a:r>
              <a:rPr b="0" i="0" lang="en-US" sz="1300" u="none" cap="none" strike="noStrike">
                <a:solidFill>
                  <a:srgbClr val="E2E8F0"/>
                </a:solidFill>
                <a:latin typeface="Calibri"/>
                <a:ea typeface="Calibri"/>
                <a:cs typeface="Calibri"/>
                <a:sym typeface="Calibri"/>
              </a:rPr>
              <a:t>Anusree S  ·  Thanha Noorudheen TT  ·  Nihala Thajudeen</a:t>
            </a:r>
            <a:endParaRPr b="0" i="0" sz="1300" u="none" cap="none" strike="noStrike">
              <a:solidFill>
                <a:schemeClr val="dk1"/>
              </a:solidFill>
              <a:latin typeface="Calibri"/>
              <a:ea typeface="Calibri"/>
              <a:cs typeface="Calibri"/>
              <a:sym typeface="Calibri"/>
            </a:endParaRPr>
          </a:p>
        </p:txBody>
      </p:sp>
      <p:sp>
        <p:nvSpPr>
          <p:cNvPr id="297" name="Google Shape;297;p14"/>
          <p:cNvSpPr/>
          <p:nvPr/>
        </p:nvSpPr>
        <p:spPr>
          <a:xfrm>
            <a:off x="457200" y="2925525"/>
            <a:ext cx="8229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300"/>
              <a:buFont typeface="Calibri"/>
              <a:buNone/>
            </a:pPr>
            <a:r>
              <a:rPr b="0" i="0" lang="en-US" sz="1300" u="none" cap="none" strike="noStrike">
                <a:solidFill>
                  <a:srgbClr val="64748B"/>
                </a:solidFill>
                <a:latin typeface="Calibri"/>
                <a:ea typeface="Calibri"/>
                <a:cs typeface="Calibri"/>
                <a:sym typeface="Calibri"/>
              </a:rPr>
              <a:t>Predictive Analytics  |  Prof. Aswin V S  |  Digital University Kerala</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