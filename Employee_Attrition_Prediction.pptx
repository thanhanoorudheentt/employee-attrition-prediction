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7BD24E-CC61-4FB8-8116-07ADD4E63FAA}">
  <a:tblStyle styleId="{6C7BD24E-CC61-4FB8-8116-07ADD4E63FA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4.png"/><Relationship Id="rId7" Type="http://schemas.openxmlformats.org/officeDocument/2006/relationships/image" Target="../media/image1.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8.png"/><Relationship Id="rId4"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8.png"/><Relationship Id="rId8"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sp>
        <p:nvSpPr>
          <p:cNvPr id="16" name="Google Shape;16;p3"/>
          <p:cNvSpPr/>
          <p:nvPr/>
        </p:nvSpPr>
        <p:spPr>
          <a:xfrm>
            <a:off x="0" y="0"/>
            <a:ext cx="164592" cy="5143500"/>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p:cNvPicPr preferRelativeResize="0"/>
          <p:nvPr/>
        </p:nvPicPr>
        <p:blipFill rotWithShape="1">
          <a:blip r:embed="rId3">
            <a:alphaModFix/>
          </a:blip>
          <a:srcRect b="0" l="0" r="0" t="0"/>
          <a:stretch/>
        </p:blipFill>
        <p:spPr>
          <a:xfrm>
            <a:off x="4023360" y="502920"/>
            <a:ext cx="1097280" cy="1097280"/>
          </a:xfrm>
          <a:prstGeom prst="rect">
            <a:avLst/>
          </a:prstGeom>
          <a:noFill/>
          <a:ln>
            <a:noFill/>
          </a:ln>
        </p:spPr>
      </p:pic>
      <p:sp>
        <p:nvSpPr>
          <p:cNvPr id="18" name="Google Shape;18;p3"/>
          <p:cNvSpPr/>
          <p:nvPr/>
        </p:nvSpPr>
        <p:spPr>
          <a:xfrm>
            <a:off x="457200" y="1645920"/>
            <a:ext cx="82296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Employee Attrition</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457200" y="242316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2800"/>
              <a:buFont typeface="Calibri"/>
              <a:buNone/>
            </a:pPr>
            <a:r>
              <a:rPr b="0" i="0" lang="en-US" sz="2800" u="none" cap="none" strike="noStrike">
                <a:solidFill>
                  <a:srgbClr val="14B8A6"/>
                </a:solidFill>
                <a:latin typeface="Calibri"/>
                <a:ea typeface="Calibri"/>
                <a:cs typeface="Calibri"/>
                <a:sym typeface="Calibri"/>
              </a:rPr>
              <a:t>Prediction Using HR Analytics</a:t>
            </a:r>
            <a:endParaRPr b="0" i="0" sz="2800" u="none" cap="none" strike="noStrike">
              <a:solidFill>
                <a:schemeClr val="dk1"/>
              </a:solidFill>
              <a:latin typeface="Calibri"/>
              <a:ea typeface="Calibri"/>
              <a:cs typeface="Calibri"/>
              <a:sym typeface="Calibri"/>
            </a:endParaRPr>
          </a:p>
        </p:txBody>
      </p:sp>
      <p:sp>
        <p:nvSpPr>
          <p:cNvPr id="20" name="Google Shape;20;p3"/>
          <p:cNvSpPr/>
          <p:nvPr/>
        </p:nvSpPr>
        <p:spPr>
          <a:xfrm>
            <a:off x="2743200" y="3127248"/>
            <a:ext cx="3657600" cy="27432"/>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457200" y="324612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Predictive Analytics  |  Digital University Kerala  |  202</a:t>
            </a:r>
            <a:r>
              <a:rPr lang="en-US" sz="1300">
                <a:solidFill>
                  <a:srgbClr val="64748B"/>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457200" y="365760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300"/>
              <a:buFont typeface="Calibri"/>
              <a:buNone/>
            </a:pPr>
            <a:r>
              <a:rPr b="0" i="0" lang="en-US" sz="1300" u="none" cap="none" strike="noStrike">
                <a:solidFill>
                  <a:srgbClr val="E2E8F0"/>
                </a:solidFill>
                <a:latin typeface="Calibri"/>
                <a:ea typeface="Calibri"/>
                <a:cs typeface="Calibri"/>
                <a:sym typeface="Calibri"/>
              </a:rPr>
              <a:t>Anusree S   ·   Thanha Noorudheen TT   ·   Nihala Thajudeen</a:t>
            </a:r>
            <a:endParaRPr b="0" i="0" sz="1300" u="none" cap="none" strike="noStrike">
              <a:solidFill>
                <a:schemeClr val="dk1"/>
              </a:solidFill>
              <a:latin typeface="Calibri"/>
              <a:ea typeface="Calibri"/>
              <a:cs typeface="Calibri"/>
              <a:sym typeface="Calibri"/>
            </a:endParaRPr>
          </a:p>
        </p:txBody>
      </p:sp>
      <p:sp>
        <p:nvSpPr>
          <p:cNvPr id="23" name="Google Shape;23;p3"/>
          <p:cNvSpPr/>
          <p:nvPr/>
        </p:nvSpPr>
        <p:spPr>
          <a:xfrm>
            <a:off x="457200" y="4069080"/>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u="none" cap="none" strike="noStrike">
                <a:solidFill>
                  <a:srgbClr val="64748B"/>
                </a:solidFill>
                <a:latin typeface="Calibri"/>
                <a:ea typeface="Calibri"/>
                <a:cs typeface="Calibri"/>
                <a:sym typeface="Calibri"/>
              </a:rPr>
              <a:t>Instructor: Prof. Aswin V S</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8" name="Shape 28"/>
        <p:cNvGrpSpPr/>
        <p:nvPr/>
      </p:nvGrpSpPr>
      <p:grpSpPr>
        <a:xfrm>
          <a:off x="0" y="0"/>
          <a:ext cx="0" cy="0"/>
          <a:chOff x="0" y="0"/>
          <a:chExt cx="0" cy="0"/>
        </a:xfrm>
      </p:grpSpPr>
      <p:sp>
        <p:nvSpPr>
          <p:cNvPr id="29" name="Google Shape;29;p4"/>
          <p:cNvSpPr/>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3600"/>
              <a:buFont typeface="Calibri"/>
              <a:buNone/>
            </a:pPr>
            <a:r>
              <a:rPr b="1" i="0" lang="en-US" sz="3600" u="none" cap="none" strike="noStrike">
                <a:solidFill>
                  <a:srgbClr val="0D1B2A"/>
                </a:solidFill>
                <a:latin typeface="Calibri"/>
                <a:ea typeface="Calibri"/>
                <a:cs typeface="Calibri"/>
                <a:sym typeface="Calibri"/>
              </a:rPr>
              <a:t>Agenda</a:t>
            </a:r>
            <a:endParaRPr b="0" i="0" sz="3600" u="none" cap="none" strike="noStrike">
              <a:solidFill>
                <a:schemeClr val="dk1"/>
              </a:solidFill>
              <a:latin typeface="Calibri"/>
              <a:ea typeface="Calibri"/>
              <a:cs typeface="Calibri"/>
              <a:sym typeface="Calibri"/>
            </a:endParaRPr>
          </a:p>
        </p:txBody>
      </p:sp>
      <p:sp>
        <p:nvSpPr>
          <p:cNvPr id="30" name="Google Shape;30;p4"/>
          <p:cNvSpPr/>
          <p:nvPr/>
        </p:nvSpPr>
        <p:spPr>
          <a:xfrm>
            <a:off x="457200" y="868680"/>
            <a:ext cx="8229600" cy="27432"/>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57200" y="1051560"/>
            <a:ext cx="3840480" cy="96012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594360" y="1097280"/>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173"/>
              </a:buClr>
              <a:buSzPts val="2200"/>
              <a:buFont typeface="Calibri"/>
              <a:buNone/>
            </a:pPr>
            <a:r>
              <a:rPr b="1" i="0" lang="en-US" sz="2200" u="none" cap="none" strike="noStrike">
                <a:solidFill>
                  <a:srgbClr val="0F7173"/>
                </a:solidFill>
                <a:latin typeface="Calibri"/>
                <a:ea typeface="Calibri"/>
                <a:cs typeface="Calibri"/>
                <a:sym typeface="Calibri"/>
              </a:rPr>
              <a:t>01</a:t>
            </a:r>
            <a:endParaRPr b="0" i="0" sz="2200" u="none" cap="none" strike="noStrike">
              <a:solidFill>
                <a:schemeClr val="dk1"/>
              </a:solidFill>
              <a:latin typeface="Calibri"/>
              <a:ea typeface="Calibri"/>
              <a:cs typeface="Calibri"/>
              <a:sym typeface="Calibri"/>
            </a:endParaRPr>
          </a:p>
        </p:txBody>
      </p:sp>
      <p:pic>
        <p:nvPicPr>
          <p:cNvPr descr="preencoded.png" id="33" name="Google Shape;33;p4"/>
          <p:cNvPicPr preferRelativeResize="0"/>
          <p:nvPr/>
        </p:nvPicPr>
        <p:blipFill rotWithShape="1">
          <a:blip r:embed="rId3">
            <a:alphaModFix/>
          </a:blip>
          <a:srcRect b="0" l="0" r="0" t="0"/>
          <a:stretch/>
        </p:blipFill>
        <p:spPr>
          <a:xfrm>
            <a:off x="1078992" y="1298448"/>
            <a:ext cx="365760" cy="365760"/>
          </a:xfrm>
          <a:prstGeom prst="rect">
            <a:avLst/>
          </a:prstGeom>
          <a:noFill/>
          <a:ln>
            <a:noFill/>
          </a:ln>
        </p:spPr>
      </p:pic>
      <p:sp>
        <p:nvSpPr>
          <p:cNvPr id="34" name="Google Shape;34;p4"/>
          <p:cNvSpPr/>
          <p:nvPr/>
        </p:nvSpPr>
        <p:spPr>
          <a:xfrm>
            <a:off x="1508760" y="1234440"/>
            <a:ext cx="26974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0" i="0" lang="en-US" sz="1400" u="none" cap="none" strike="noStrike">
                <a:solidFill>
                  <a:srgbClr val="0D1B2A"/>
                </a:solidFill>
                <a:latin typeface="Calibri"/>
                <a:ea typeface="Calibri"/>
                <a:cs typeface="Calibri"/>
                <a:sym typeface="Calibri"/>
              </a:rPr>
              <a:t>Problem Statement &amp; Motivation</a:t>
            </a:r>
            <a:endParaRPr b="0" i="0" sz="1400" u="none" cap="none" strike="noStrike">
              <a:solidFill>
                <a:schemeClr val="dk1"/>
              </a:solidFill>
              <a:latin typeface="Calibri"/>
              <a:ea typeface="Calibri"/>
              <a:cs typeface="Calibri"/>
              <a:sym typeface="Calibri"/>
            </a:endParaRPr>
          </a:p>
        </p:txBody>
      </p:sp>
      <p:sp>
        <p:nvSpPr>
          <p:cNvPr id="35" name="Google Shape;35;p4"/>
          <p:cNvSpPr/>
          <p:nvPr/>
        </p:nvSpPr>
        <p:spPr>
          <a:xfrm>
            <a:off x="457200" y="2240280"/>
            <a:ext cx="3840480" cy="96012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594360" y="2286000"/>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173"/>
              </a:buClr>
              <a:buSzPts val="2200"/>
              <a:buFont typeface="Calibri"/>
              <a:buNone/>
            </a:pPr>
            <a:r>
              <a:rPr b="1" i="0" lang="en-US" sz="2200" u="none" cap="none" strike="noStrike">
                <a:solidFill>
                  <a:srgbClr val="0F7173"/>
                </a:solidFill>
                <a:latin typeface="Calibri"/>
                <a:ea typeface="Calibri"/>
                <a:cs typeface="Calibri"/>
                <a:sym typeface="Calibri"/>
              </a:rPr>
              <a:t>02</a:t>
            </a:r>
            <a:endParaRPr b="0" i="0" sz="2200" u="none" cap="none" strike="noStrike">
              <a:solidFill>
                <a:schemeClr val="dk1"/>
              </a:solidFill>
              <a:latin typeface="Calibri"/>
              <a:ea typeface="Calibri"/>
              <a:cs typeface="Calibri"/>
              <a:sym typeface="Calibri"/>
            </a:endParaRPr>
          </a:p>
        </p:txBody>
      </p:sp>
      <p:pic>
        <p:nvPicPr>
          <p:cNvPr descr="preencoded.png" id="37" name="Google Shape;37;p4"/>
          <p:cNvPicPr preferRelativeResize="0"/>
          <p:nvPr/>
        </p:nvPicPr>
        <p:blipFill rotWithShape="1">
          <a:blip r:embed="rId4">
            <a:alphaModFix/>
          </a:blip>
          <a:srcRect b="0" l="0" r="0" t="0"/>
          <a:stretch/>
        </p:blipFill>
        <p:spPr>
          <a:xfrm>
            <a:off x="1078992" y="2487168"/>
            <a:ext cx="365760" cy="365760"/>
          </a:xfrm>
          <a:prstGeom prst="rect">
            <a:avLst/>
          </a:prstGeom>
          <a:noFill/>
          <a:ln>
            <a:noFill/>
          </a:ln>
        </p:spPr>
      </p:pic>
      <p:sp>
        <p:nvSpPr>
          <p:cNvPr id="38" name="Google Shape;38;p4"/>
          <p:cNvSpPr/>
          <p:nvPr/>
        </p:nvSpPr>
        <p:spPr>
          <a:xfrm>
            <a:off x="1508760" y="2423160"/>
            <a:ext cx="26974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0" i="0" lang="en-US" sz="1400" u="none" cap="none" strike="noStrike">
                <a:solidFill>
                  <a:srgbClr val="0D1B2A"/>
                </a:solidFill>
                <a:latin typeface="Calibri"/>
                <a:ea typeface="Calibri"/>
                <a:cs typeface="Calibri"/>
                <a:sym typeface="Calibri"/>
              </a:rPr>
              <a:t>Dataset Overview</a:t>
            </a:r>
            <a:endParaRPr b="0" i="0" sz="1400" u="none" cap="none" strike="noStrike">
              <a:solidFill>
                <a:schemeClr val="dk1"/>
              </a:solidFill>
              <a:latin typeface="Calibri"/>
              <a:ea typeface="Calibri"/>
              <a:cs typeface="Calibri"/>
              <a:sym typeface="Calibri"/>
            </a:endParaRPr>
          </a:p>
        </p:txBody>
      </p:sp>
      <p:sp>
        <p:nvSpPr>
          <p:cNvPr id="39" name="Google Shape;39;p4"/>
          <p:cNvSpPr/>
          <p:nvPr/>
        </p:nvSpPr>
        <p:spPr>
          <a:xfrm>
            <a:off x="457200" y="3429000"/>
            <a:ext cx="3840480" cy="96012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594360" y="3474720"/>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173"/>
              </a:buClr>
              <a:buSzPts val="2200"/>
              <a:buFont typeface="Calibri"/>
              <a:buNone/>
            </a:pPr>
            <a:r>
              <a:rPr b="1" i="0" lang="en-US" sz="2200" u="none" cap="none" strike="noStrike">
                <a:solidFill>
                  <a:srgbClr val="0F7173"/>
                </a:solidFill>
                <a:latin typeface="Calibri"/>
                <a:ea typeface="Calibri"/>
                <a:cs typeface="Calibri"/>
                <a:sym typeface="Calibri"/>
              </a:rPr>
              <a:t>03</a:t>
            </a:r>
            <a:endParaRPr b="0" i="0" sz="2200" u="none" cap="none" strike="noStrike">
              <a:solidFill>
                <a:schemeClr val="dk1"/>
              </a:solidFill>
              <a:latin typeface="Calibri"/>
              <a:ea typeface="Calibri"/>
              <a:cs typeface="Calibri"/>
              <a:sym typeface="Calibri"/>
            </a:endParaRPr>
          </a:p>
        </p:txBody>
      </p:sp>
      <p:pic>
        <p:nvPicPr>
          <p:cNvPr descr="preencoded.png" id="41" name="Google Shape;41;p4"/>
          <p:cNvPicPr preferRelativeResize="0"/>
          <p:nvPr/>
        </p:nvPicPr>
        <p:blipFill rotWithShape="1">
          <a:blip r:embed="rId5">
            <a:alphaModFix/>
          </a:blip>
          <a:srcRect b="0" l="0" r="0" t="0"/>
          <a:stretch/>
        </p:blipFill>
        <p:spPr>
          <a:xfrm>
            <a:off x="1078992" y="3675888"/>
            <a:ext cx="365760" cy="365760"/>
          </a:xfrm>
          <a:prstGeom prst="rect">
            <a:avLst/>
          </a:prstGeom>
          <a:noFill/>
          <a:ln>
            <a:noFill/>
          </a:ln>
        </p:spPr>
      </p:pic>
      <p:sp>
        <p:nvSpPr>
          <p:cNvPr id="42" name="Google Shape;42;p4"/>
          <p:cNvSpPr/>
          <p:nvPr/>
        </p:nvSpPr>
        <p:spPr>
          <a:xfrm>
            <a:off x="1508760" y="3611880"/>
            <a:ext cx="26974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0" i="0" lang="en-US" sz="1400" u="none" cap="none" strike="noStrike">
                <a:solidFill>
                  <a:srgbClr val="0D1B2A"/>
                </a:solidFill>
                <a:latin typeface="Calibri"/>
                <a:ea typeface="Calibri"/>
                <a:cs typeface="Calibri"/>
                <a:sym typeface="Calibri"/>
              </a:rPr>
              <a:t>Methodology &amp; Pipeline</a:t>
            </a:r>
            <a:endParaRPr b="0" i="0" sz="1400" u="none" cap="none" strike="noStrike">
              <a:solidFill>
                <a:schemeClr val="dk1"/>
              </a:solidFill>
              <a:latin typeface="Calibri"/>
              <a:ea typeface="Calibri"/>
              <a:cs typeface="Calibri"/>
              <a:sym typeface="Calibri"/>
            </a:endParaRPr>
          </a:p>
        </p:txBody>
      </p:sp>
      <p:sp>
        <p:nvSpPr>
          <p:cNvPr id="43" name="Google Shape;43;p4"/>
          <p:cNvSpPr/>
          <p:nvPr/>
        </p:nvSpPr>
        <p:spPr>
          <a:xfrm>
            <a:off x="4800600" y="1051560"/>
            <a:ext cx="3840480" cy="96012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4937760" y="1097280"/>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173"/>
              </a:buClr>
              <a:buSzPts val="2200"/>
              <a:buFont typeface="Calibri"/>
              <a:buNone/>
            </a:pPr>
            <a:r>
              <a:rPr b="1" i="0" lang="en-US" sz="2200" u="none" cap="none" strike="noStrike">
                <a:solidFill>
                  <a:srgbClr val="0F7173"/>
                </a:solidFill>
                <a:latin typeface="Calibri"/>
                <a:ea typeface="Calibri"/>
                <a:cs typeface="Calibri"/>
                <a:sym typeface="Calibri"/>
              </a:rPr>
              <a:t>04</a:t>
            </a:r>
            <a:endParaRPr b="0" i="0" sz="2200" u="none" cap="none" strike="noStrike">
              <a:solidFill>
                <a:schemeClr val="dk1"/>
              </a:solidFill>
              <a:latin typeface="Calibri"/>
              <a:ea typeface="Calibri"/>
              <a:cs typeface="Calibri"/>
              <a:sym typeface="Calibri"/>
            </a:endParaRPr>
          </a:p>
        </p:txBody>
      </p:sp>
      <p:pic>
        <p:nvPicPr>
          <p:cNvPr descr="preencoded.png" id="45" name="Google Shape;45;p4"/>
          <p:cNvPicPr preferRelativeResize="0"/>
          <p:nvPr/>
        </p:nvPicPr>
        <p:blipFill rotWithShape="1">
          <a:blip r:embed="rId6">
            <a:alphaModFix/>
          </a:blip>
          <a:srcRect b="0" l="0" r="0" t="0"/>
          <a:stretch/>
        </p:blipFill>
        <p:spPr>
          <a:xfrm>
            <a:off x="5422392" y="1298448"/>
            <a:ext cx="365760" cy="365760"/>
          </a:xfrm>
          <a:prstGeom prst="rect">
            <a:avLst/>
          </a:prstGeom>
          <a:noFill/>
          <a:ln>
            <a:noFill/>
          </a:ln>
        </p:spPr>
      </p:pic>
      <p:sp>
        <p:nvSpPr>
          <p:cNvPr id="46" name="Google Shape;46;p4"/>
          <p:cNvSpPr/>
          <p:nvPr/>
        </p:nvSpPr>
        <p:spPr>
          <a:xfrm>
            <a:off x="5852160" y="1234440"/>
            <a:ext cx="26974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0" i="0" lang="en-US" sz="1400" u="none" cap="none" strike="noStrike">
                <a:solidFill>
                  <a:srgbClr val="0D1B2A"/>
                </a:solidFill>
                <a:latin typeface="Calibri"/>
                <a:ea typeface="Calibri"/>
                <a:cs typeface="Calibri"/>
                <a:sym typeface="Calibri"/>
              </a:rPr>
              <a:t>Models &amp; Key Results</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4800600" y="2240280"/>
            <a:ext cx="3840480" cy="96012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4937760" y="2286000"/>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173"/>
              </a:buClr>
              <a:buSzPts val="2200"/>
              <a:buFont typeface="Calibri"/>
              <a:buNone/>
            </a:pPr>
            <a:r>
              <a:rPr b="1" i="0" lang="en-US" sz="2200" u="none" cap="none" strike="noStrike">
                <a:solidFill>
                  <a:srgbClr val="0F7173"/>
                </a:solidFill>
                <a:latin typeface="Calibri"/>
                <a:ea typeface="Calibri"/>
                <a:cs typeface="Calibri"/>
                <a:sym typeface="Calibri"/>
              </a:rPr>
              <a:t>05</a:t>
            </a:r>
            <a:endParaRPr b="0" i="0" sz="2200" u="none" cap="none" strike="noStrike">
              <a:solidFill>
                <a:schemeClr val="dk1"/>
              </a:solidFill>
              <a:latin typeface="Calibri"/>
              <a:ea typeface="Calibri"/>
              <a:cs typeface="Calibri"/>
              <a:sym typeface="Calibri"/>
            </a:endParaRPr>
          </a:p>
        </p:txBody>
      </p:sp>
      <p:pic>
        <p:nvPicPr>
          <p:cNvPr descr="preencoded.png" id="49" name="Google Shape;49;p4"/>
          <p:cNvPicPr preferRelativeResize="0"/>
          <p:nvPr/>
        </p:nvPicPr>
        <p:blipFill rotWithShape="1">
          <a:blip r:embed="rId7">
            <a:alphaModFix/>
          </a:blip>
          <a:srcRect b="0" l="0" r="0" t="0"/>
          <a:stretch/>
        </p:blipFill>
        <p:spPr>
          <a:xfrm>
            <a:off x="5422392" y="2487168"/>
            <a:ext cx="365760" cy="365760"/>
          </a:xfrm>
          <a:prstGeom prst="rect">
            <a:avLst/>
          </a:prstGeom>
          <a:noFill/>
          <a:ln>
            <a:noFill/>
          </a:ln>
        </p:spPr>
      </p:pic>
      <p:sp>
        <p:nvSpPr>
          <p:cNvPr id="50" name="Google Shape;50;p4"/>
          <p:cNvSpPr/>
          <p:nvPr/>
        </p:nvSpPr>
        <p:spPr>
          <a:xfrm>
            <a:off x="5852160" y="2423160"/>
            <a:ext cx="26974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0" i="0" lang="en-US" sz="1400" u="none" cap="none" strike="noStrike">
                <a:solidFill>
                  <a:srgbClr val="0D1B2A"/>
                </a:solidFill>
                <a:latin typeface="Calibri"/>
                <a:ea typeface="Calibri"/>
                <a:cs typeface="Calibri"/>
                <a:sym typeface="Calibri"/>
              </a:rPr>
              <a:t>Deployment (Streamlit App)</a:t>
            </a:r>
            <a:endParaRPr b="0" i="0" sz="1400" u="none" cap="none" strike="noStrike">
              <a:solidFill>
                <a:schemeClr val="dk1"/>
              </a:solidFill>
              <a:latin typeface="Calibri"/>
              <a:ea typeface="Calibri"/>
              <a:cs typeface="Calibri"/>
              <a:sym typeface="Calibri"/>
            </a:endParaRPr>
          </a:p>
        </p:txBody>
      </p:sp>
      <p:sp>
        <p:nvSpPr>
          <p:cNvPr id="51" name="Google Shape;51;p4"/>
          <p:cNvSpPr/>
          <p:nvPr/>
        </p:nvSpPr>
        <p:spPr>
          <a:xfrm>
            <a:off x="4800600" y="3429000"/>
            <a:ext cx="3840480" cy="96012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4937760" y="3474720"/>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173"/>
              </a:buClr>
              <a:buSzPts val="2200"/>
              <a:buFont typeface="Calibri"/>
              <a:buNone/>
            </a:pPr>
            <a:r>
              <a:rPr b="1" i="0" lang="en-US" sz="2200" u="none" cap="none" strike="noStrike">
                <a:solidFill>
                  <a:srgbClr val="0F7173"/>
                </a:solidFill>
                <a:latin typeface="Calibri"/>
                <a:ea typeface="Calibri"/>
                <a:cs typeface="Calibri"/>
                <a:sym typeface="Calibri"/>
              </a:rPr>
              <a:t>06</a:t>
            </a:r>
            <a:endParaRPr b="0" i="0" sz="2200" u="none" cap="none" strike="noStrike">
              <a:solidFill>
                <a:schemeClr val="dk1"/>
              </a:solidFill>
              <a:latin typeface="Calibri"/>
              <a:ea typeface="Calibri"/>
              <a:cs typeface="Calibri"/>
              <a:sym typeface="Calibri"/>
            </a:endParaRPr>
          </a:p>
        </p:txBody>
      </p:sp>
      <p:pic>
        <p:nvPicPr>
          <p:cNvPr descr="preencoded.png" id="53" name="Google Shape;53;p4"/>
          <p:cNvPicPr preferRelativeResize="0"/>
          <p:nvPr/>
        </p:nvPicPr>
        <p:blipFill rotWithShape="1">
          <a:blip r:embed="rId8">
            <a:alphaModFix/>
          </a:blip>
          <a:srcRect b="0" l="0" r="0" t="0"/>
          <a:stretch/>
        </p:blipFill>
        <p:spPr>
          <a:xfrm>
            <a:off x="5422392" y="3675888"/>
            <a:ext cx="365760" cy="365760"/>
          </a:xfrm>
          <a:prstGeom prst="rect">
            <a:avLst/>
          </a:prstGeom>
          <a:noFill/>
          <a:ln>
            <a:noFill/>
          </a:ln>
        </p:spPr>
      </p:pic>
      <p:sp>
        <p:nvSpPr>
          <p:cNvPr id="54" name="Google Shape;54;p4"/>
          <p:cNvSpPr/>
          <p:nvPr/>
        </p:nvSpPr>
        <p:spPr>
          <a:xfrm>
            <a:off x="5852160" y="3611880"/>
            <a:ext cx="26974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0" i="0" lang="en-US" sz="1400" u="none" cap="none" strike="noStrike">
                <a:solidFill>
                  <a:srgbClr val="0D1B2A"/>
                </a:solidFill>
                <a:latin typeface="Calibri"/>
                <a:ea typeface="Calibri"/>
                <a:cs typeface="Calibri"/>
                <a:sym typeface="Calibri"/>
              </a:rPr>
              <a:t>Conclusions &amp; Future Work</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59" name="Shape 59"/>
        <p:cNvGrpSpPr/>
        <p:nvPr/>
      </p:nvGrpSpPr>
      <p:grpSpPr>
        <a:xfrm>
          <a:off x="0" y="0"/>
          <a:ext cx="0" cy="0"/>
          <a:chOff x="0" y="0"/>
          <a:chExt cx="0" cy="0"/>
        </a:xfrm>
      </p:grpSpPr>
      <p:sp>
        <p:nvSpPr>
          <p:cNvPr id="60" name="Google Shape;60;p5"/>
          <p:cNvSpPr/>
          <p:nvPr/>
        </p:nvSpPr>
        <p:spPr>
          <a:xfrm>
            <a:off x="0" y="0"/>
            <a:ext cx="164592" cy="5143500"/>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457200" y="27432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Problem Statement</a:t>
            </a:r>
            <a:endParaRPr b="0" i="0" sz="3400" u="none" cap="none" strike="noStrike">
              <a:solidFill>
                <a:schemeClr val="dk1"/>
              </a:solidFill>
              <a:latin typeface="Calibri"/>
              <a:ea typeface="Calibri"/>
              <a:cs typeface="Calibri"/>
              <a:sym typeface="Calibri"/>
            </a:endParaRPr>
          </a:p>
        </p:txBody>
      </p:sp>
      <p:sp>
        <p:nvSpPr>
          <p:cNvPr id="62" name="Google Shape;62;p5"/>
          <p:cNvSpPr/>
          <p:nvPr/>
        </p:nvSpPr>
        <p:spPr>
          <a:xfrm>
            <a:off x="457250" y="1271757"/>
            <a:ext cx="8190000" cy="23346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585169" y="1445730"/>
            <a:ext cx="7805400" cy="20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8"/>
              </a:buClr>
              <a:buSzPts val="1400"/>
              <a:buFont typeface="Calibri"/>
              <a:buNone/>
            </a:pPr>
            <a:r>
              <a:rPr i="0" lang="en-US" sz="2000" u="none" cap="none" strike="noStrike">
                <a:solidFill>
                  <a:srgbClr val="F0F4F8"/>
                </a:solidFill>
                <a:latin typeface="Times New Roman"/>
                <a:ea typeface="Times New Roman"/>
                <a:cs typeface="Times New Roman"/>
                <a:sym typeface="Times New Roman"/>
              </a:rPr>
              <a:t>Employee attrition leads to increased recruitment costs and loss of experienced talent. This project predicts whether an employee is likely to leave based on HR features like job satisfaction, overtime, salary, and tenure.</a:t>
            </a:r>
            <a:endParaRPr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8" name="Shape 68"/>
        <p:cNvGrpSpPr/>
        <p:nvPr/>
      </p:nvGrpSpPr>
      <p:grpSpPr>
        <a:xfrm>
          <a:off x="0" y="0"/>
          <a:ext cx="0" cy="0"/>
          <a:chOff x="0" y="0"/>
          <a:chExt cx="0" cy="0"/>
        </a:xfrm>
      </p:grpSpPr>
      <p:sp>
        <p:nvSpPr>
          <p:cNvPr id="69" name="Google Shape;69;p6"/>
          <p:cNvSpPr/>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3400"/>
              <a:buFont typeface="Calibri"/>
              <a:buNone/>
            </a:pPr>
            <a:r>
              <a:rPr b="1" i="0" lang="en-US" sz="3400" u="none" cap="none" strike="noStrike">
                <a:solidFill>
                  <a:srgbClr val="0D1B2A"/>
                </a:solidFill>
                <a:latin typeface="Calibri"/>
                <a:ea typeface="Calibri"/>
                <a:cs typeface="Calibri"/>
                <a:sym typeface="Calibri"/>
              </a:rPr>
              <a:t>Dataset Overview</a:t>
            </a:r>
            <a:endParaRPr b="0" i="0" sz="3400" u="none" cap="none" strike="noStrike">
              <a:solidFill>
                <a:schemeClr val="dk1"/>
              </a:solidFill>
              <a:latin typeface="Calibri"/>
              <a:ea typeface="Calibri"/>
              <a:cs typeface="Calibri"/>
              <a:sym typeface="Calibri"/>
            </a:endParaRPr>
          </a:p>
        </p:txBody>
      </p:sp>
      <p:sp>
        <p:nvSpPr>
          <p:cNvPr id="70" name="Google Shape;70;p6"/>
          <p:cNvSpPr/>
          <p:nvPr/>
        </p:nvSpPr>
        <p:spPr>
          <a:xfrm>
            <a:off x="457200" y="850392"/>
            <a:ext cx="8229600" cy="27432"/>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365760" y="1005840"/>
            <a:ext cx="1828800" cy="1005840"/>
          </a:xfrm>
          <a:prstGeom prst="rect">
            <a:avLst/>
          </a:prstGeom>
          <a:solidFill>
            <a:srgbClr val="0D1B2A"/>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365760" y="105156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2600"/>
              <a:buFont typeface="Calibri"/>
              <a:buNone/>
            </a:pPr>
            <a:r>
              <a:rPr b="1" i="0" lang="en-US" sz="2600" u="none" cap="none" strike="noStrike">
                <a:solidFill>
                  <a:srgbClr val="14B8A6"/>
                </a:solidFill>
                <a:latin typeface="Calibri"/>
                <a:ea typeface="Calibri"/>
                <a:cs typeface="Calibri"/>
                <a:sym typeface="Calibri"/>
              </a:rPr>
              <a:t>1,470</a:t>
            </a:r>
            <a:endParaRPr b="0" i="0" sz="2600" u="none" cap="none" strike="noStrike">
              <a:solidFill>
                <a:schemeClr val="dk1"/>
              </a:solidFill>
              <a:latin typeface="Calibri"/>
              <a:ea typeface="Calibri"/>
              <a:cs typeface="Calibri"/>
              <a:sym typeface="Calibri"/>
            </a:endParaRPr>
          </a:p>
        </p:txBody>
      </p:sp>
      <p:sp>
        <p:nvSpPr>
          <p:cNvPr id="73" name="Google Shape;73;p6"/>
          <p:cNvSpPr/>
          <p:nvPr/>
        </p:nvSpPr>
        <p:spPr>
          <a:xfrm>
            <a:off x="365760" y="1572768"/>
            <a:ext cx="1828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Records</a:t>
            </a:r>
            <a:endParaRPr b="0" i="0" sz="1200" u="none" cap="none" strike="noStrike">
              <a:solidFill>
                <a:schemeClr val="dk1"/>
              </a:solidFill>
              <a:latin typeface="Calibri"/>
              <a:ea typeface="Calibri"/>
              <a:cs typeface="Calibri"/>
              <a:sym typeface="Calibri"/>
            </a:endParaRPr>
          </a:p>
        </p:txBody>
      </p:sp>
      <p:sp>
        <p:nvSpPr>
          <p:cNvPr id="74" name="Google Shape;74;p6"/>
          <p:cNvSpPr/>
          <p:nvPr/>
        </p:nvSpPr>
        <p:spPr>
          <a:xfrm>
            <a:off x="2468880" y="1005840"/>
            <a:ext cx="1828800" cy="1005840"/>
          </a:xfrm>
          <a:prstGeom prst="rect">
            <a:avLst/>
          </a:prstGeom>
          <a:solidFill>
            <a:srgbClr val="0D1B2A"/>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2468880" y="105156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2600"/>
              <a:buFont typeface="Calibri"/>
              <a:buNone/>
            </a:pPr>
            <a:r>
              <a:rPr b="1" i="0" lang="en-US" sz="2600" u="none" cap="none" strike="noStrike">
                <a:solidFill>
                  <a:srgbClr val="14B8A6"/>
                </a:solidFill>
                <a:latin typeface="Calibri"/>
                <a:ea typeface="Calibri"/>
                <a:cs typeface="Calibri"/>
                <a:sym typeface="Calibri"/>
              </a:rPr>
              <a:t>35+</a:t>
            </a:r>
            <a:endParaRPr b="0" i="0" sz="2600" u="none" cap="none" strike="noStrike">
              <a:solidFill>
                <a:schemeClr val="dk1"/>
              </a:solidFill>
              <a:latin typeface="Calibri"/>
              <a:ea typeface="Calibri"/>
              <a:cs typeface="Calibri"/>
              <a:sym typeface="Calibri"/>
            </a:endParaRPr>
          </a:p>
        </p:txBody>
      </p:sp>
      <p:sp>
        <p:nvSpPr>
          <p:cNvPr id="76" name="Google Shape;76;p6"/>
          <p:cNvSpPr/>
          <p:nvPr/>
        </p:nvSpPr>
        <p:spPr>
          <a:xfrm>
            <a:off x="2468880" y="1572768"/>
            <a:ext cx="1828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Features</a:t>
            </a:r>
            <a:endParaRPr b="0" i="0" sz="1200" u="none" cap="none" strike="noStrike">
              <a:solidFill>
                <a:schemeClr val="dk1"/>
              </a:solidFill>
              <a:latin typeface="Calibri"/>
              <a:ea typeface="Calibri"/>
              <a:cs typeface="Calibri"/>
              <a:sym typeface="Calibri"/>
            </a:endParaRPr>
          </a:p>
        </p:txBody>
      </p:sp>
      <p:sp>
        <p:nvSpPr>
          <p:cNvPr id="77" name="Google Shape;77;p6"/>
          <p:cNvSpPr/>
          <p:nvPr/>
        </p:nvSpPr>
        <p:spPr>
          <a:xfrm>
            <a:off x="4572000" y="1005840"/>
            <a:ext cx="1828800" cy="1005840"/>
          </a:xfrm>
          <a:prstGeom prst="rect">
            <a:avLst/>
          </a:prstGeom>
          <a:solidFill>
            <a:srgbClr val="0D1B2A"/>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4572000" y="105156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2600"/>
              <a:buFont typeface="Calibri"/>
              <a:buNone/>
            </a:pPr>
            <a:r>
              <a:rPr b="1" i="0" lang="en-US" sz="2600" u="none" cap="none" strike="noStrike">
                <a:solidFill>
                  <a:srgbClr val="14B8A6"/>
                </a:solidFill>
                <a:latin typeface="Calibri"/>
                <a:ea typeface="Calibri"/>
                <a:cs typeface="Calibri"/>
                <a:sym typeface="Calibri"/>
              </a:rPr>
              <a:t>2</a:t>
            </a:r>
            <a:endParaRPr b="0" i="0" sz="2600" u="none" cap="none" strike="noStrike">
              <a:solidFill>
                <a:schemeClr val="dk1"/>
              </a:solidFill>
              <a:latin typeface="Calibri"/>
              <a:ea typeface="Calibri"/>
              <a:cs typeface="Calibri"/>
              <a:sym typeface="Calibri"/>
            </a:endParaRPr>
          </a:p>
        </p:txBody>
      </p:sp>
      <p:sp>
        <p:nvSpPr>
          <p:cNvPr id="79" name="Google Shape;79;p6"/>
          <p:cNvSpPr/>
          <p:nvPr/>
        </p:nvSpPr>
        <p:spPr>
          <a:xfrm>
            <a:off x="4572000" y="1572768"/>
            <a:ext cx="1828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Classes</a:t>
            </a:r>
            <a:endParaRPr b="0" i="0" sz="1200" u="none" cap="none" strike="noStrike">
              <a:solidFill>
                <a:schemeClr val="dk1"/>
              </a:solidFill>
              <a:latin typeface="Calibri"/>
              <a:ea typeface="Calibri"/>
              <a:cs typeface="Calibri"/>
              <a:sym typeface="Calibri"/>
            </a:endParaRPr>
          </a:p>
        </p:txBody>
      </p:sp>
      <p:sp>
        <p:nvSpPr>
          <p:cNvPr id="80" name="Google Shape;80;p6"/>
          <p:cNvSpPr/>
          <p:nvPr/>
        </p:nvSpPr>
        <p:spPr>
          <a:xfrm>
            <a:off x="6675120" y="1005840"/>
            <a:ext cx="1828800" cy="1005840"/>
          </a:xfrm>
          <a:prstGeom prst="rect">
            <a:avLst/>
          </a:prstGeom>
          <a:solidFill>
            <a:srgbClr val="0D1B2A"/>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6675120" y="105156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2600"/>
              <a:buFont typeface="Calibri"/>
              <a:buNone/>
            </a:pPr>
            <a:r>
              <a:rPr b="1" i="0" lang="en-US" sz="2600" u="none" cap="none" strike="noStrike">
                <a:solidFill>
                  <a:srgbClr val="14B8A6"/>
                </a:solidFill>
                <a:latin typeface="Calibri"/>
                <a:ea typeface="Calibri"/>
                <a:cs typeface="Calibri"/>
                <a:sym typeface="Calibri"/>
              </a:rPr>
              <a:t>IBM</a:t>
            </a:r>
            <a:endParaRPr b="0" i="0" sz="2600" u="none" cap="none" strike="noStrike">
              <a:solidFill>
                <a:schemeClr val="dk1"/>
              </a:solidFill>
              <a:latin typeface="Calibri"/>
              <a:ea typeface="Calibri"/>
              <a:cs typeface="Calibri"/>
              <a:sym typeface="Calibri"/>
            </a:endParaRPr>
          </a:p>
        </p:txBody>
      </p:sp>
      <p:sp>
        <p:nvSpPr>
          <p:cNvPr id="82" name="Google Shape;82;p6"/>
          <p:cNvSpPr/>
          <p:nvPr/>
        </p:nvSpPr>
        <p:spPr>
          <a:xfrm>
            <a:off x="6675120" y="1572768"/>
            <a:ext cx="1828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Source</a:t>
            </a:r>
            <a:endParaRPr b="0" i="0" sz="1200" u="none" cap="none" strike="noStrike">
              <a:solidFill>
                <a:schemeClr val="dk1"/>
              </a:solidFill>
              <a:latin typeface="Calibri"/>
              <a:ea typeface="Calibri"/>
              <a:cs typeface="Calibri"/>
              <a:sym typeface="Calibri"/>
            </a:endParaRPr>
          </a:p>
        </p:txBody>
      </p:sp>
      <p:sp>
        <p:nvSpPr>
          <p:cNvPr id="83" name="Google Shape;83;p6"/>
          <p:cNvSpPr/>
          <p:nvPr/>
        </p:nvSpPr>
        <p:spPr>
          <a:xfrm>
            <a:off x="457200" y="224028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600"/>
              <a:buFont typeface="Calibri"/>
              <a:buNone/>
            </a:pPr>
            <a:r>
              <a:rPr b="1" i="0" lang="en-US" sz="1600" u="none" cap="none" strike="noStrike">
                <a:solidFill>
                  <a:srgbClr val="0D1B2A"/>
                </a:solidFill>
                <a:latin typeface="Calibri"/>
                <a:ea typeface="Calibri"/>
                <a:cs typeface="Calibri"/>
                <a:sym typeface="Calibri"/>
              </a:rPr>
              <a:t>Key Features</a:t>
            </a:r>
            <a:endParaRPr b="0" i="0" sz="1600" u="none" cap="none" strike="noStrike">
              <a:solidFill>
                <a:schemeClr val="dk1"/>
              </a:solidFill>
              <a:latin typeface="Calibri"/>
              <a:ea typeface="Calibri"/>
              <a:cs typeface="Calibri"/>
              <a:sym typeface="Calibri"/>
            </a:endParaRPr>
          </a:p>
        </p:txBody>
      </p:sp>
      <p:pic>
        <p:nvPicPr>
          <p:cNvPr descr="preencoded.png" id="84" name="Google Shape;84;p6"/>
          <p:cNvPicPr preferRelativeResize="0"/>
          <p:nvPr/>
        </p:nvPicPr>
        <p:blipFill rotWithShape="1">
          <a:blip r:embed="rId3">
            <a:alphaModFix/>
          </a:blip>
          <a:srcRect b="0" l="0" r="0" t="0"/>
          <a:stretch/>
        </p:blipFill>
        <p:spPr>
          <a:xfrm>
            <a:off x="457200" y="2724912"/>
            <a:ext cx="301752" cy="301752"/>
          </a:xfrm>
          <a:prstGeom prst="rect">
            <a:avLst/>
          </a:prstGeom>
          <a:noFill/>
          <a:ln>
            <a:noFill/>
          </a:ln>
        </p:spPr>
      </p:pic>
      <p:sp>
        <p:nvSpPr>
          <p:cNvPr id="85" name="Google Shape;85;p6"/>
          <p:cNvSpPr/>
          <p:nvPr/>
        </p:nvSpPr>
        <p:spPr>
          <a:xfrm>
            <a:off x="868680" y="2697480"/>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JobSatisfaction</a:t>
            </a:r>
            <a:endParaRPr b="0" i="0" sz="1300" u="none" cap="none" strike="noStrike">
              <a:solidFill>
                <a:schemeClr val="dk1"/>
              </a:solidFill>
              <a:latin typeface="Calibri"/>
              <a:ea typeface="Calibri"/>
              <a:cs typeface="Calibri"/>
              <a:sym typeface="Calibri"/>
            </a:endParaRPr>
          </a:p>
        </p:txBody>
      </p:sp>
      <p:sp>
        <p:nvSpPr>
          <p:cNvPr id="86" name="Google Shape;86;p6"/>
          <p:cNvSpPr/>
          <p:nvPr/>
        </p:nvSpPr>
        <p:spPr>
          <a:xfrm>
            <a:off x="2514600" y="2697480"/>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Employee satisfaction score (1–4)</a:t>
            </a:r>
            <a:endParaRPr b="0" i="0" sz="1200" u="none" cap="none" strike="noStrike">
              <a:solidFill>
                <a:schemeClr val="dk1"/>
              </a:solidFill>
              <a:latin typeface="Calibri"/>
              <a:ea typeface="Calibri"/>
              <a:cs typeface="Calibri"/>
              <a:sym typeface="Calibri"/>
            </a:endParaRPr>
          </a:p>
        </p:txBody>
      </p:sp>
      <p:pic>
        <p:nvPicPr>
          <p:cNvPr descr="preencoded.png" id="87" name="Google Shape;87;p6"/>
          <p:cNvPicPr preferRelativeResize="0"/>
          <p:nvPr/>
        </p:nvPicPr>
        <p:blipFill rotWithShape="1">
          <a:blip r:embed="rId4">
            <a:alphaModFix/>
          </a:blip>
          <a:srcRect b="0" l="0" r="0" t="0"/>
          <a:stretch/>
        </p:blipFill>
        <p:spPr>
          <a:xfrm>
            <a:off x="457200" y="3154680"/>
            <a:ext cx="301752" cy="301752"/>
          </a:xfrm>
          <a:prstGeom prst="rect">
            <a:avLst/>
          </a:prstGeom>
          <a:noFill/>
          <a:ln>
            <a:noFill/>
          </a:ln>
        </p:spPr>
      </p:pic>
      <p:sp>
        <p:nvSpPr>
          <p:cNvPr id="88" name="Google Shape;88;p6"/>
          <p:cNvSpPr/>
          <p:nvPr/>
        </p:nvSpPr>
        <p:spPr>
          <a:xfrm>
            <a:off x="868680" y="3127248"/>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OverTime</a:t>
            </a:r>
            <a:endParaRPr b="0" i="0" sz="1300" u="none" cap="none" strike="noStrike">
              <a:solidFill>
                <a:schemeClr val="dk1"/>
              </a:solidFill>
              <a:latin typeface="Calibri"/>
              <a:ea typeface="Calibri"/>
              <a:cs typeface="Calibri"/>
              <a:sym typeface="Calibri"/>
            </a:endParaRPr>
          </a:p>
        </p:txBody>
      </p:sp>
      <p:sp>
        <p:nvSpPr>
          <p:cNvPr id="89" name="Google Shape;89;p6"/>
          <p:cNvSpPr/>
          <p:nvPr/>
        </p:nvSpPr>
        <p:spPr>
          <a:xfrm>
            <a:off x="2514600" y="3127248"/>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Whether employee works overtime</a:t>
            </a:r>
            <a:endParaRPr b="0" i="0" sz="1200" u="none" cap="none" strike="noStrike">
              <a:solidFill>
                <a:schemeClr val="dk1"/>
              </a:solidFill>
              <a:latin typeface="Calibri"/>
              <a:ea typeface="Calibri"/>
              <a:cs typeface="Calibri"/>
              <a:sym typeface="Calibri"/>
            </a:endParaRPr>
          </a:p>
        </p:txBody>
      </p:sp>
      <p:pic>
        <p:nvPicPr>
          <p:cNvPr descr="preencoded.png" id="90" name="Google Shape;90;p6"/>
          <p:cNvPicPr preferRelativeResize="0"/>
          <p:nvPr/>
        </p:nvPicPr>
        <p:blipFill rotWithShape="1">
          <a:blip r:embed="rId5">
            <a:alphaModFix/>
          </a:blip>
          <a:srcRect b="0" l="0" r="0" t="0"/>
          <a:stretch/>
        </p:blipFill>
        <p:spPr>
          <a:xfrm>
            <a:off x="457200" y="3584448"/>
            <a:ext cx="301752" cy="301752"/>
          </a:xfrm>
          <a:prstGeom prst="rect">
            <a:avLst/>
          </a:prstGeom>
          <a:noFill/>
          <a:ln>
            <a:noFill/>
          </a:ln>
        </p:spPr>
      </p:pic>
      <p:sp>
        <p:nvSpPr>
          <p:cNvPr id="91" name="Google Shape;91;p6"/>
          <p:cNvSpPr/>
          <p:nvPr/>
        </p:nvSpPr>
        <p:spPr>
          <a:xfrm>
            <a:off x="868680" y="3557016"/>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MonthlyIncome</a:t>
            </a:r>
            <a:endParaRPr b="0" i="0" sz="1300" u="none" cap="none" strike="noStrike">
              <a:solidFill>
                <a:schemeClr val="dk1"/>
              </a:solidFill>
              <a:latin typeface="Calibri"/>
              <a:ea typeface="Calibri"/>
              <a:cs typeface="Calibri"/>
              <a:sym typeface="Calibri"/>
            </a:endParaRPr>
          </a:p>
        </p:txBody>
      </p:sp>
      <p:sp>
        <p:nvSpPr>
          <p:cNvPr id="92" name="Google Shape;92;p6"/>
          <p:cNvSpPr/>
          <p:nvPr/>
        </p:nvSpPr>
        <p:spPr>
          <a:xfrm>
            <a:off x="2514600" y="3557016"/>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Monthly salary in USD</a:t>
            </a:r>
            <a:endParaRPr b="0" i="0" sz="1200" u="none" cap="none" strike="noStrike">
              <a:solidFill>
                <a:schemeClr val="dk1"/>
              </a:solidFill>
              <a:latin typeface="Calibri"/>
              <a:ea typeface="Calibri"/>
              <a:cs typeface="Calibri"/>
              <a:sym typeface="Calibri"/>
            </a:endParaRPr>
          </a:p>
        </p:txBody>
      </p:sp>
      <p:pic>
        <p:nvPicPr>
          <p:cNvPr descr="preencoded.png" id="93" name="Google Shape;93;p6"/>
          <p:cNvPicPr preferRelativeResize="0"/>
          <p:nvPr/>
        </p:nvPicPr>
        <p:blipFill rotWithShape="1">
          <a:blip r:embed="rId6">
            <a:alphaModFix/>
          </a:blip>
          <a:srcRect b="0" l="0" r="0" t="0"/>
          <a:stretch/>
        </p:blipFill>
        <p:spPr>
          <a:xfrm>
            <a:off x="457200" y="4014216"/>
            <a:ext cx="301752" cy="301752"/>
          </a:xfrm>
          <a:prstGeom prst="rect">
            <a:avLst/>
          </a:prstGeom>
          <a:noFill/>
          <a:ln>
            <a:noFill/>
          </a:ln>
        </p:spPr>
      </p:pic>
      <p:sp>
        <p:nvSpPr>
          <p:cNvPr id="94" name="Google Shape;94;p6"/>
          <p:cNvSpPr/>
          <p:nvPr/>
        </p:nvSpPr>
        <p:spPr>
          <a:xfrm>
            <a:off x="868680" y="3986784"/>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YearsAtCompany</a:t>
            </a:r>
            <a:endParaRPr b="0" i="0" sz="1300" u="none" cap="none" strike="noStrike">
              <a:solidFill>
                <a:schemeClr val="dk1"/>
              </a:solidFill>
              <a:latin typeface="Calibri"/>
              <a:ea typeface="Calibri"/>
              <a:cs typeface="Calibri"/>
              <a:sym typeface="Calibri"/>
            </a:endParaRPr>
          </a:p>
        </p:txBody>
      </p:sp>
      <p:sp>
        <p:nvSpPr>
          <p:cNvPr id="95" name="Google Shape;95;p6"/>
          <p:cNvSpPr/>
          <p:nvPr/>
        </p:nvSpPr>
        <p:spPr>
          <a:xfrm>
            <a:off x="2514600" y="3986784"/>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Tenure at the organization</a:t>
            </a:r>
            <a:endParaRPr b="0" i="0" sz="1200" u="none" cap="none" strike="noStrike">
              <a:solidFill>
                <a:schemeClr val="dk1"/>
              </a:solidFill>
              <a:latin typeface="Calibri"/>
              <a:ea typeface="Calibri"/>
              <a:cs typeface="Calibri"/>
              <a:sym typeface="Calibri"/>
            </a:endParaRPr>
          </a:p>
        </p:txBody>
      </p:sp>
      <p:pic>
        <p:nvPicPr>
          <p:cNvPr descr="preencoded.png" id="96" name="Google Shape;96;p6"/>
          <p:cNvPicPr preferRelativeResize="0"/>
          <p:nvPr/>
        </p:nvPicPr>
        <p:blipFill rotWithShape="1">
          <a:blip r:embed="rId7">
            <a:alphaModFix/>
          </a:blip>
          <a:srcRect b="0" l="0" r="0" t="0"/>
          <a:stretch/>
        </p:blipFill>
        <p:spPr>
          <a:xfrm>
            <a:off x="457200" y="4443984"/>
            <a:ext cx="301752" cy="301752"/>
          </a:xfrm>
          <a:prstGeom prst="rect">
            <a:avLst/>
          </a:prstGeom>
          <a:noFill/>
          <a:ln>
            <a:noFill/>
          </a:ln>
        </p:spPr>
      </p:pic>
      <p:sp>
        <p:nvSpPr>
          <p:cNvPr id="97" name="Google Shape;97;p6"/>
          <p:cNvSpPr/>
          <p:nvPr/>
        </p:nvSpPr>
        <p:spPr>
          <a:xfrm>
            <a:off x="868680" y="4416552"/>
            <a:ext cx="1645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Department</a:t>
            </a:r>
            <a:endParaRPr b="0" i="0" sz="1300" u="none" cap="none" strike="noStrike">
              <a:solidFill>
                <a:schemeClr val="dk1"/>
              </a:solidFill>
              <a:latin typeface="Calibri"/>
              <a:ea typeface="Calibri"/>
              <a:cs typeface="Calibri"/>
              <a:sym typeface="Calibri"/>
            </a:endParaRPr>
          </a:p>
        </p:txBody>
      </p:sp>
      <p:sp>
        <p:nvSpPr>
          <p:cNvPr id="98" name="Google Shape;98;p6"/>
          <p:cNvSpPr/>
          <p:nvPr/>
        </p:nvSpPr>
        <p:spPr>
          <a:xfrm>
            <a:off x="2514600" y="4416552"/>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HR, Sales, R&amp;D divisions</a:t>
            </a:r>
            <a:endParaRPr b="0" i="0" sz="1200" u="none" cap="none" strike="noStrike">
              <a:solidFill>
                <a:schemeClr val="dk1"/>
              </a:solidFill>
              <a:latin typeface="Calibri"/>
              <a:ea typeface="Calibri"/>
              <a:cs typeface="Calibri"/>
              <a:sym typeface="Calibri"/>
            </a:endParaRPr>
          </a:p>
        </p:txBody>
      </p:sp>
      <p:sp>
        <p:nvSpPr>
          <p:cNvPr id="99" name="Google Shape;99;p6"/>
          <p:cNvSpPr/>
          <p:nvPr/>
        </p:nvSpPr>
        <p:spPr>
          <a:xfrm>
            <a:off x="5029200" y="224028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600"/>
              <a:buFont typeface="Calibri"/>
              <a:buNone/>
            </a:pPr>
            <a:r>
              <a:rPr b="1" i="0" lang="en-US" sz="1600" u="none" cap="none" strike="noStrike">
                <a:solidFill>
                  <a:srgbClr val="0D1B2A"/>
                </a:solidFill>
                <a:latin typeface="Calibri"/>
                <a:ea typeface="Calibri"/>
                <a:cs typeface="Calibri"/>
                <a:sym typeface="Calibri"/>
              </a:rPr>
              <a:t>Target: Attrition</a:t>
            </a:r>
            <a:endParaRPr b="0" i="0" sz="1600" u="none" cap="none" strike="noStrike">
              <a:solidFill>
                <a:schemeClr val="dk1"/>
              </a:solidFill>
              <a:latin typeface="Calibri"/>
              <a:ea typeface="Calibri"/>
              <a:cs typeface="Calibri"/>
              <a:sym typeface="Calibri"/>
            </a:endParaRPr>
          </a:p>
        </p:txBody>
      </p:sp>
      <p:pic>
        <p:nvPicPr>
          <p:cNvPr id="100" name="Google Shape;100;p6"/>
          <p:cNvPicPr preferRelativeResize="0"/>
          <p:nvPr/>
        </p:nvPicPr>
        <p:blipFill rotWithShape="1">
          <a:blip r:embed="rId8">
            <a:alphaModFix/>
          </a:blip>
          <a:srcRect b="0" l="0" r="0" t="0"/>
          <a:stretch/>
        </p:blipFill>
        <p:spPr>
          <a:xfrm>
            <a:off x="5029200" y="2651760"/>
            <a:ext cx="3657600" cy="2286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05" name="Shape 105"/>
        <p:cNvGrpSpPr/>
        <p:nvPr/>
      </p:nvGrpSpPr>
      <p:grpSpPr>
        <a:xfrm>
          <a:off x="0" y="0"/>
          <a:ext cx="0" cy="0"/>
          <a:chOff x="0" y="0"/>
          <a:chExt cx="0" cy="0"/>
        </a:xfrm>
      </p:grpSpPr>
      <p:sp>
        <p:nvSpPr>
          <p:cNvPr id="106" name="Google Shape;106;p7"/>
          <p:cNvSpPr/>
          <p:nvPr/>
        </p:nvSpPr>
        <p:spPr>
          <a:xfrm>
            <a:off x="0" y="0"/>
            <a:ext cx="164592" cy="5143500"/>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Methodology &amp; Pipeline</a:t>
            </a:r>
            <a:endParaRPr b="0" i="0" sz="3400" u="none" cap="none" strike="noStrike">
              <a:solidFill>
                <a:schemeClr val="dk1"/>
              </a:solidFill>
              <a:latin typeface="Calibri"/>
              <a:ea typeface="Calibri"/>
              <a:cs typeface="Calibri"/>
              <a:sym typeface="Calibri"/>
            </a:endParaRPr>
          </a:p>
        </p:txBody>
      </p:sp>
      <p:cxnSp>
        <p:nvCxnSpPr>
          <p:cNvPr id="108" name="Google Shape;108;p7"/>
          <p:cNvCxnSpPr/>
          <p:nvPr/>
        </p:nvCxnSpPr>
        <p:spPr>
          <a:xfrm>
            <a:off x="2240280" y="1673352"/>
            <a:ext cx="0" cy="292608"/>
          </a:xfrm>
          <a:prstGeom prst="straightConnector1">
            <a:avLst/>
          </a:prstGeom>
          <a:noFill/>
          <a:ln cap="flat" cmpd="sng" w="25400">
            <a:solidFill>
              <a:srgbClr val="0F7173"/>
            </a:solidFill>
            <a:prstDash val="solid"/>
            <a:round/>
            <a:headEnd len="sm" w="sm" type="none"/>
            <a:tailEnd len="sm" w="sm" type="none"/>
          </a:ln>
        </p:spPr>
      </p:cxnSp>
      <p:sp>
        <p:nvSpPr>
          <p:cNvPr id="109" name="Google Shape;109;p7"/>
          <p:cNvSpPr/>
          <p:nvPr/>
        </p:nvSpPr>
        <p:spPr>
          <a:xfrm>
            <a:off x="365760" y="960120"/>
            <a:ext cx="3931920" cy="713232"/>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438912" y="1088136"/>
            <a:ext cx="411480" cy="411480"/>
          </a:xfrm>
          <a:prstGeom prst="ellipse">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438912" y="108813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112" name="Google Shape;112;p7"/>
          <p:cNvSpPr/>
          <p:nvPr/>
        </p:nvSpPr>
        <p:spPr>
          <a:xfrm>
            <a:off x="932688" y="1005840"/>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Data Collection</a:t>
            </a:r>
            <a:endParaRPr b="0" i="0" sz="1400" u="none" cap="none" strike="noStrike">
              <a:solidFill>
                <a:schemeClr val="dk1"/>
              </a:solidFill>
              <a:latin typeface="Calibri"/>
              <a:ea typeface="Calibri"/>
              <a:cs typeface="Calibri"/>
              <a:sym typeface="Calibri"/>
            </a:endParaRPr>
          </a:p>
        </p:txBody>
      </p:sp>
      <p:sp>
        <p:nvSpPr>
          <p:cNvPr id="113" name="Google Shape;113;p7"/>
          <p:cNvSpPr/>
          <p:nvPr/>
        </p:nvSpPr>
        <p:spPr>
          <a:xfrm>
            <a:off x="932688" y="1307592"/>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IBM HR Dataset (1,470 records, 35+ features)</a:t>
            </a:r>
            <a:endParaRPr b="0" i="0" sz="1100" u="none" cap="none" strike="noStrike">
              <a:solidFill>
                <a:schemeClr val="dk1"/>
              </a:solidFill>
              <a:latin typeface="Calibri"/>
              <a:ea typeface="Calibri"/>
              <a:cs typeface="Calibri"/>
              <a:sym typeface="Calibri"/>
            </a:endParaRPr>
          </a:p>
        </p:txBody>
      </p:sp>
      <p:cxnSp>
        <p:nvCxnSpPr>
          <p:cNvPr id="114" name="Google Shape;114;p7"/>
          <p:cNvCxnSpPr/>
          <p:nvPr/>
        </p:nvCxnSpPr>
        <p:spPr>
          <a:xfrm>
            <a:off x="2240280" y="2679192"/>
            <a:ext cx="0" cy="292608"/>
          </a:xfrm>
          <a:prstGeom prst="straightConnector1">
            <a:avLst/>
          </a:prstGeom>
          <a:noFill/>
          <a:ln cap="flat" cmpd="sng" w="25400">
            <a:solidFill>
              <a:srgbClr val="0F7173"/>
            </a:solidFill>
            <a:prstDash val="solid"/>
            <a:round/>
            <a:headEnd len="sm" w="sm" type="none"/>
            <a:tailEnd len="sm" w="sm" type="none"/>
          </a:ln>
        </p:spPr>
      </p:cxnSp>
      <p:sp>
        <p:nvSpPr>
          <p:cNvPr id="115" name="Google Shape;115;p7"/>
          <p:cNvSpPr/>
          <p:nvPr/>
        </p:nvSpPr>
        <p:spPr>
          <a:xfrm>
            <a:off x="365760" y="1965960"/>
            <a:ext cx="3931920" cy="713232"/>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438912" y="2093976"/>
            <a:ext cx="411480" cy="411480"/>
          </a:xfrm>
          <a:prstGeom prst="ellipse">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438912" y="209397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118" name="Google Shape;118;p7"/>
          <p:cNvSpPr/>
          <p:nvPr/>
        </p:nvSpPr>
        <p:spPr>
          <a:xfrm>
            <a:off x="932688" y="2011680"/>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Preprocessing</a:t>
            </a:r>
            <a:endParaRPr b="0" i="0" sz="1400" u="none" cap="none" strike="noStrike">
              <a:solidFill>
                <a:schemeClr val="dk1"/>
              </a:solidFill>
              <a:latin typeface="Calibri"/>
              <a:ea typeface="Calibri"/>
              <a:cs typeface="Calibri"/>
              <a:sym typeface="Calibri"/>
            </a:endParaRPr>
          </a:p>
        </p:txBody>
      </p:sp>
      <p:sp>
        <p:nvSpPr>
          <p:cNvPr id="119" name="Google Shape;119;p7"/>
          <p:cNvSpPr/>
          <p:nvPr/>
        </p:nvSpPr>
        <p:spPr>
          <a:xfrm>
            <a:off x="932688" y="2313432"/>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Missing values • Label encoding • Feature scaling</a:t>
            </a:r>
            <a:endParaRPr b="0" i="0" sz="1100" u="none" cap="none" strike="noStrike">
              <a:solidFill>
                <a:schemeClr val="dk1"/>
              </a:solidFill>
              <a:latin typeface="Calibri"/>
              <a:ea typeface="Calibri"/>
              <a:cs typeface="Calibri"/>
              <a:sym typeface="Calibri"/>
            </a:endParaRPr>
          </a:p>
        </p:txBody>
      </p:sp>
      <p:cxnSp>
        <p:nvCxnSpPr>
          <p:cNvPr id="120" name="Google Shape;120;p7"/>
          <p:cNvCxnSpPr/>
          <p:nvPr/>
        </p:nvCxnSpPr>
        <p:spPr>
          <a:xfrm>
            <a:off x="2240280" y="3685032"/>
            <a:ext cx="0" cy="292608"/>
          </a:xfrm>
          <a:prstGeom prst="straightConnector1">
            <a:avLst/>
          </a:prstGeom>
          <a:noFill/>
          <a:ln cap="flat" cmpd="sng" w="25400">
            <a:solidFill>
              <a:srgbClr val="0F7173"/>
            </a:solidFill>
            <a:prstDash val="solid"/>
            <a:round/>
            <a:headEnd len="sm" w="sm" type="none"/>
            <a:tailEnd len="sm" w="sm" type="none"/>
          </a:ln>
        </p:spPr>
      </p:cxnSp>
      <p:sp>
        <p:nvSpPr>
          <p:cNvPr id="121" name="Google Shape;121;p7"/>
          <p:cNvSpPr/>
          <p:nvPr/>
        </p:nvSpPr>
        <p:spPr>
          <a:xfrm>
            <a:off x="365760" y="2971800"/>
            <a:ext cx="3931920" cy="713232"/>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438912" y="3099816"/>
            <a:ext cx="411480" cy="411480"/>
          </a:xfrm>
          <a:prstGeom prst="ellipse">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438912" y="309981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124" name="Google Shape;124;p7"/>
          <p:cNvSpPr/>
          <p:nvPr/>
        </p:nvSpPr>
        <p:spPr>
          <a:xfrm>
            <a:off x="932688" y="3017520"/>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EDA</a:t>
            </a:r>
            <a:endParaRPr b="0" i="0" sz="1400" u="none" cap="none" strike="noStrike">
              <a:solidFill>
                <a:schemeClr val="dk1"/>
              </a:solidFill>
              <a:latin typeface="Calibri"/>
              <a:ea typeface="Calibri"/>
              <a:cs typeface="Calibri"/>
              <a:sym typeface="Calibri"/>
            </a:endParaRPr>
          </a:p>
        </p:txBody>
      </p:sp>
      <p:sp>
        <p:nvSpPr>
          <p:cNvPr id="125" name="Google Shape;125;p7"/>
          <p:cNvSpPr/>
          <p:nvPr/>
        </p:nvSpPr>
        <p:spPr>
          <a:xfrm>
            <a:off x="932688" y="3319272"/>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Count plots • Salary vs Attrition • Correlations</a:t>
            </a:r>
            <a:endParaRPr b="0" i="0" sz="1100" u="none" cap="none" strike="noStrike">
              <a:solidFill>
                <a:schemeClr val="dk1"/>
              </a:solidFill>
              <a:latin typeface="Calibri"/>
              <a:ea typeface="Calibri"/>
              <a:cs typeface="Calibri"/>
              <a:sym typeface="Calibri"/>
            </a:endParaRPr>
          </a:p>
        </p:txBody>
      </p:sp>
      <p:sp>
        <p:nvSpPr>
          <p:cNvPr id="126" name="Google Shape;126;p7"/>
          <p:cNvSpPr/>
          <p:nvPr/>
        </p:nvSpPr>
        <p:spPr>
          <a:xfrm>
            <a:off x="365760" y="3977640"/>
            <a:ext cx="3931920" cy="713232"/>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438912" y="4105656"/>
            <a:ext cx="411480" cy="411480"/>
          </a:xfrm>
          <a:prstGeom prst="ellipse">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438912" y="410565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129" name="Google Shape;129;p7"/>
          <p:cNvSpPr/>
          <p:nvPr/>
        </p:nvSpPr>
        <p:spPr>
          <a:xfrm>
            <a:off x="932688" y="4023360"/>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Feature Selection</a:t>
            </a:r>
            <a:endParaRPr b="0" i="0" sz="1400" u="none" cap="none" strike="noStrike">
              <a:solidFill>
                <a:schemeClr val="dk1"/>
              </a:solidFill>
              <a:latin typeface="Calibri"/>
              <a:ea typeface="Calibri"/>
              <a:cs typeface="Calibri"/>
              <a:sym typeface="Calibri"/>
            </a:endParaRPr>
          </a:p>
        </p:txBody>
      </p:sp>
      <p:sp>
        <p:nvSpPr>
          <p:cNvPr id="130" name="Google Shape;130;p7"/>
          <p:cNvSpPr/>
          <p:nvPr/>
        </p:nvSpPr>
        <p:spPr>
          <a:xfrm>
            <a:off x="932688" y="4325112"/>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Chi-Square Test + ANOVA (F-test)</a:t>
            </a:r>
            <a:endParaRPr b="0" i="0" sz="1100" u="none" cap="none" strike="noStrike">
              <a:solidFill>
                <a:schemeClr val="dk1"/>
              </a:solidFill>
              <a:latin typeface="Calibri"/>
              <a:ea typeface="Calibri"/>
              <a:cs typeface="Calibri"/>
              <a:sym typeface="Calibri"/>
            </a:endParaRPr>
          </a:p>
        </p:txBody>
      </p:sp>
      <p:cxnSp>
        <p:nvCxnSpPr>
          <p:cNvPr id="131" name="Google Shape;131;p7"/>
          <p:cNvCxnSpPr/>
          <p:nvPr/>
        </p:nvCxnSpPr>
        <p:spPr>
          <a:xfrm>
            <a:off x="6675120" y="1673352"/>
            <a:ext cx="0" cy="292608"/>
          </a:xfrm>
          <a:prstGeom prst="straightConnector1">
            <a:avLst/>
          </a:prstGeom>
          <a:noFill/>
          <a:ln cap="flat" cmpd="sng" w="25400">
            <a:solidFill>
              <a:srgbClr val="0F7173"/>
            </a:solidFill>
            <a:prstDash val="solid"/>
            <a:round/>
            <a:headEnd len="sm" w="sm" type="none"/>
            <a:tailEnd len="sm" w="sm" type="none"/>
          </a:ln>
        </p:spPr>
      </p:cxnSp>
      <p:sp>
        <p:nvSpPr>
          <p:cNvPr id="132" name="Google Shape;132;p7"/>
          <p:cNvSpPr/>
          <p:nvPr/>
        </p:nvSpPr>
        <p:spPr>
          <a:xfrm>
            <a:off x="4800600" y="960120"/>
            <a:ext cx="3931920" cy="713232"/>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4873752" y="1088136"/>
            <a:ext cx="411480" cy="411480"/>
          </a:xfrm>
          <a:prstGeom prst="ellipse">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4873752" y="108813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135" name="Google Shape;135;p7"/>
          <p:cNvSpPr/>
          <p:nvPr/>
        </p:nvSpPr>
        <p:spPr>
          <a:xfrm>
            <a:off x="5367528" y="1005840"/>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Model Building</a:t>
            </a:r>
            <a:endParaRPr b="0" i="0" sz="1400" u="none" cap="none" strike="noStrike">
              <a:solidFill>
                <a:schemeClr val="dk1"/>
              </a:solidFill>
              <a:latin typeface="Calibri"/>
              <a:ea typeface="Calibri"/>
              <a:cs typeface="Calibri"/>
              <a:sym typeface="Calibri"/>
            </a:endParaRPr>
          </a:p>
        </p:txBody>
      </p:sp>
      <p:sp>
        <p:nvSpPr>
          <p:cNvPr id="136" name="Google Shape;136;p7"/>
          <p:cNvSpPr/>
          <p:nvPr/>
        </p:nvSpPr>
        <p:spPr>
          <a:xfrm>
            <a:off x="5367528" y="1307592"/>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Logistic Regression • Decision Tree • XGBoost</a:t>
            </a:r>
            <a:endParaRPr b="0" i="0" sz="1100" u="none" cap="none" strike="noStrike">
              <a:solidFill>
                <a:schemeClr val="dk1"/>
              </a:solidFill>
              <a:latin typeface="Calibri"/>
              <a:ea typeface="Calibri"/>
              <a:cs typeface="Calibri"/>
              <a:sym typeface="Calibri"/>
            </a:endParaRPr>
          </a:p>
        </p:txBody>
      </p:sp>
      <p:cxnSp>
        <p:nvCxnSpPr>
          <p:cNvPr id="137" name="Google Shape;137;p7"/>
          <p:cNvCxnSpPr/>
          <p:nvPr/>
        </p:nvCxnSpPr>
        <p:spPr>
          <a:xfrm>
            <a:off x="6675120" y="2679192"/>
            <a:ext cx="0" cy="292608"/>
          </a:xfrm>
          <a:prstGeom prst="straightConnector1">
            <a:avLst/>
          </a:prstGeom>
          <a:noFill/>
          <a:ln cap="flat" cmpd="sng" w="25400">
            <a:solidFill>
              <a:srgbClr val="0F7173"/>
            </a:solidFill>
            <a:prstDash val="solid"/>
            <a:round/>
            <a:headEnd len="sm" w="sm" type="none"/>
            <a:tailEnd len="sm" w="sm" type="none"/>
          </a:ln>
        </p:spPr>
      </p:cxnSp>
      <p:sp>
        <p:nvSpPr>
          <p:cNvPr id="138" name="Google Shape;138;p7"/>
          <p:cNvSpPr/>
          <p:nvPr/>
        </p:nvSpPr>
        <p:spPr>
          <a:xfrm>
            <a:off x="4800600" y="1965960"/>
            <a:ext cx="3931920" cy="713232"/>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4873752" y="2093976"/>
            <a:ext cx="411480" cy="411480"/>
          </a:xfrm>
          <a:prstGeom prst="ellipse">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4873752" y="209397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141" name="Google Shape;141;p7"/>
          <p:cNvSpPr/>
          <p:nvPr/>
        </p:nvSpPr>
        <p:spPr>
          <a:xfrm>
            <a:off x="5367528" y="2011680"/>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Evaluation</a:t>
            </a:r>
            <a:endParaRPr b="0" i="0" sz="1400" u="none" cap="none" strike="noStrike">
              <a:solidFill>
                <a:schemeClr val="dk1"/>
              </a:solidFill>
              <a:latin typeface="Calibri"/>
              <a:ea typeface="Calibri"/>
              <a:cs typeface="Calibri"/>
              <a:sym typeface="Calibri"/>
            </a:endParaRPr>
          </a:p>
        </p:txBody>
      </p:sp>
      <p:sp>
        <p:nvSpPr>
          <p:cNvPr id="142" name="Google Shape;142;p7"/>
          <p:cNvSpPr/>
          <p:nvPr/>
        </p:nvSpPr>
        <p:spPr>
          <a:xfrm>
            <a:off x="5367528" y="2313432"/>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Accuracy • Confusion Matrix • Classification Report</a:t>
            </a:r>
            <a:endParaRPr b="0" i="0" sz="1100" u="none" cap="none" strike="noStrike">
              <a:solidFill>
                <a:schemeClr val="dk1"/>
              </a:solidFill>
              <a:latin typeface="Calibri"/>
              <a:ea typeface="Calibri"/>
              <a:cs typeface="Calibri"/>
              <a:sym typeface="Calibri"/>
            </a:endParaRPr>
          </a:p>
        </p:txBody>
      </p:sp>
      <p:cxnSp>
        <p:nvCxnSpPr>
          <p:cNvPr id="143" name="Google Shape;143;p7"/>
          <p:cNvCxnSpPr/>
          <p:nvPr/>
        </p:nvCxnSpPr>
        <p:spPr>
          <a:xfrm>
            <a:off x="6675120" y="3685032"/>
            <a:ext cx="0" cy="292608"/>
          </a:xfrm>
          <a:prstGeom prst="straightConnector1">
            <a:avLst/>
          </a:prstGeom>
          <a:noFill/>
          <a:ln cap="flat" cmpd="sng" w="25400">
            <a:solidFill>
              <a:srgbClr val="0F7173"/>
            </a:solidFill>
            <a:prstDash val="solid"/>
            <a:round/>
            <a:headEnd len="sm" w="sm" type="none"/>
            <a:tailEnd len="sm" w="sm" type="none"/>
          </a:ln>
        </p:spPr>
      </p:cxnSp>
      <p:sp>
        <p:nvSpPr>
          <p:cNvPr id="144" name="Google Shape;144;p7"/>
          <p:cNvSpPr/>
          <p:nvPr/>
        </p:nvSpPr>
        <p:spPr>
          <a:xfrm>
            <a:off x="4800600" y="2971800"/>
            <a:ext cx="3931920" cy="713232"/>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4873752" y="3099816"/>
            <a:ext cx="411480" cy="411480"/>
          </a:xfrm>
          <a:prstGeom prst="ellipse">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4873752" y="309981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7</a:t>
            </a:r>
            <a:endParaRPr b="0" i="0" sz="1400" u="none" cap="none" strike="noStrike">
              <a:solidFill>
                <a:schemeClr val="dk1"/>
              </a:solidFill>
              <a:latin typeface="Calibri"/>
              <a:ea typeface="Calibri"/>
              <a:cs typeface="Calibri"/>
              <a:sym typeface="Calibri"/>
            </a:endParaRPr>
          </a:p>
        </p:txBody>
      </p:sp>
      <p:sp>
        <p:nvSpPr>
          <p:cNvPr id="147" name="Google Shape;147;p7"/>
          <p:cNvSpPr/>
          <p:nvPr/>
        </p:nvSpPr>
        <p:spPr>
          <a:xfrm>
            <a:off x="5367528" y="3017520"/>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Explainability</a:t>
            </a:r>
            <a:endParaRPr b="0" i="0" sz="1400" u="none" cap="none" strike="noStrike">
              <a:solidFill>
                <a:schemeClr val="dk1"/>
              </a:solidFill>
              <a:latin typeface="Calibri"/>
              <a:ea typeface="Calibri"/>
              <a:cs typeface="Calibri"/>
              <a:sym typeface="Calibri"/>
            </a:endParaRPr>
          </a:p>
        </p:txBody>
      </p:sp>
      <p:sp>
        <p:nvSpPr>
          <p:cNvPr id="148" name="Google Shape;148;p7"/>
          <p:cNvSpPr/>
          <p:nvPr/>
        </p:nvSpPr>
        <p:spPr>
          <a:xfrm>
            <a:off x="5367528" y="3319272"/>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SHAP values for feature importance</a:t>
            </a:r>
            <a:endParaRPr b="0" i="0" sz="1100" u="none" cap="none" strike="noStrike">
              <a:solidFill>
                <a:schemeClr val="dk1"/>
              </a:solidFill>
              <a:latin typeface="Calibri"/>
              <a:ea typeface="Calibri"/>
              <a:cs typeface="Calibri"/>
              <a:sym typeface="Calibri"/>
            </a:endParaRPr>
          </a:p>
        </p:txBody>
      </p:sp>
      <p:sp>
        <p:nvSpPr>
          <p:cNvPr id="149" name="Google Shape;149;p7"/>
          <p:cNvSpPr/>
          <p:nvPr/>
        </p:nvSpPr>
        <p:spPr>
          <a:xfrm>
            <a:off x="4800600" y="3977640"/>
            <a:ext cx="3931920" cy="713232"/>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4873752" y="4105656"/>
            <a:ext cx="411480" cy="411480"/>
          </a:xfrm>
          <a:prstGeom prst="ellipse">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4873752" y="410565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8</a:t>
            </a:r>
            <a:endParaRPr b="0" i="0" sz="1400" u="none" cap="none" strike="noStrike">
              <a:solidFill>
                <a:schemeClr val="dk1"/>
              </a:solidFill>
              <a:latin typeface="Calibri"/>
              <a:ea typeface="Calibri"/>
              <a:cs typeface="Calibri"/>
              <a:sym typeface="Calibri"/>
            </a:endParaRPr>
          </a:p>
        </p:txBody>
      </p:sp>
      <p:sp>
        <p:nvSpPr>
          <p:cNvPr id="152" name="Google Shape;152;p7"/>
          <p:cNvSpPr/>
          <p:nvPr/>
        </p:nvSpPr>
        <p:spPr>
          <a:xfrm>
            <a:off x="5367528" y="4023360"/>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Deployment</a:t>
            </a:r>
            <a:endParaRPr b="0" i="0" sz="1400" u="none" cap="none" strike="noStrike">
              <a:solidFill>
                <a:schemeClr val="dk1"/>
              </a:solidFill>
              <a:latin typeface="Calibri"/>
              <a:ea typeface="Calibri"/>
              <a:cs typeface="Calibri"/>
              <a:sym typeface="Calibri"/>
            </a:endParaRPr>
          </a:p>
        </p:txBody>
      </p:sp>
      <p:sp>
        <p:nvSpPr>
          <p:cNvPr id="153" name="Google Shape;153;p7"/>
          <p:cNvSpPr/>
          <p:nvPr/>
        </p:nvSpPr>
        <p:spPr>
          <a:xfrm>
            <a:off x="5367528" y="4325112"/>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Streamlit app with prediction + probability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58" name="Shape 158"/>
        <p:cNvGrpSpPr/>
        <p:nvPr/>
      </p:nvGrpSpPr>
      <p:grpSpPr>
        <a:xfrm>
          <a:off x="0" y="0"/>
          <a:ext cx="0" cy="0"/>
          <a:chOff x="0" y="0"/>
          <a:chExt cx="0" cy="0"/>
        </a:xfrm>
      </p:grpSpPr>
      <p:sp>
        <p:nvSpPr>
          <p:cNvPr id="159" name="Google Shape;159;p8"/>
          <p:cNvSpPr/>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3400"/>
              <a:buFont typeface="Calibri"/>
              <a:buNone/>
            </a:pPr>
            <a:r>
              <a:rPr b="1" i="0" lang="en-US" sz="3400" u="none" cap="none" strike="noStrike">
                <a:solidFill>
                  <a:srgbClr val="0D1B2A"/>
                </a:solidFill>
                <a:latin typeface="Calibri"/>
                <a:ea typeface="Calibri"/>
                <a:cs typeface="Calibri"/>
                <a:sym typeface="Calibri"/>
              </a:rPr>
              <a:t>Exploratory Data Analysis</a:t>
            </a:r>
            <a:endParaRPr b="0" i="0" sz="3400" u="none" cap="none" strike="noStrike">
              <a:solidFill>
                <a:schemeClr val="dk1"/>
              </a:solidFill>
              <a:latin typeface="Calibri"/>
              <a:ea typeface="Calibri"/>
              <a:cs typeface="Calibri"/>
              <a:sym typeface="Calibri"/>
            </a:endParaRPr>
          </a:p>
        </p:txBody>
      </p:sp>
      <p:sp>
        <p:nvSpPr>
          <p:cNvPr id="160" name="Google Shape;160;p8"/>
          <p:cNvSpPr/>
          <p:nvPr/>
        </p:nvSpPr>
        <p:spPr>
          <a:xfrm>
            <a:off x="457200" y="850392"/>
            <a:ext cx="8229600" cy="27432"/>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1" name="Google Shape;161;p8"/>
          <p:cNvPicPr preferRelativeResize="0"/>
          <p:nvPr/>
        </p:nvPicPr>
        <p:blipFill rotWithShape="1">
          <a:blip r:embed="rId3">
            <a:alphaModFix/>
          </a:blip>
          <a:srcRect b="0" l="0" r="0" t="0"/>
          <a:stretch/>
        </p:blipFill>
        <p:spPr>
          <a:xfrm>
            <a:off x="365760" y="914400"/>
            <a:ext cx="4114800" cy="2560320"/>
          </a:xfrm>
          <a:prstGeom prst="rect">
            <a:avLst/>
          </a:prstGeom>
          <a:noFill/>
          <a:ln>
            <a:noFill/>
          </a:ln>
        </p:spPr>
      </p:pic>
      <p:pic>
        <p:nvPicPr>
          <p:cNvPr id="162" name="Google Shape;162;p8"/>
          <p:cNvPicPr preferRelativeResize="0"/>
          <p:nvPr/>
        </p:nvPicPr>
        <p:blipFill rotWithShape="1">
          <a:blip r:embed="rId4">
            <a:alphaModFix/>
          </a:blip>
          <a:srcRect b="0" l="0" r="0" t="0"/>
          <a:stretch/>
        </p:blipFill>
        <p:spPr>
          <a:xfrm>
            <a:off x="4754880" y="914400"/>
            <a:ext cx="4114800" cy="2560320"/>
          </a:xfrm>
          <a:prstGeom prst="rect">
            <a:avLst/>
          </a:prstGeom>
          <a:noFill/>
          <a:ln>
            <a:noFill/>
          </a:ln>
        </p:spPr>
      </p:pic>
      <p:sp>
        <p:nvSpPr>
          <p:cNvPr id="163" name="Google Shape;163;p8"/>
          <p:cNvSpPr/>
          <p:nvPr/>
        </p:nvSpPr>
        <p:spPr>
          <a:xfrm>
            <a:off x="365760" y="3703320"/>
            <a:ext cx="4114800" cy="822960"/>
          </a:xfrm>
          <a:prstGeom prst="rect">
            <a:avLst/>
          </a:prstGeom>
          <a:solidFill>
            <a:srgbClr val="0D1B2A"/>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 name="Google Shape;164;p8"/>
          <p:cNvPicPr preferRelativeResize="0"/>
          <p:nvPr/>
        </p:nvPicPr>
        <p:blipFill rotWithShape="1">
          <a:blip r:embed="rId5">
            <a:alphaModFix/>
          </a:blip>
          <a:srcRect b="0" l="0" r="0" t="0"/>
          <a:stretch/>
        </p:blipFill>
        <p:spPr>
          <a:xfrm>
            <a:off x="475488" y="3904488"/>
            <a:ext cx="347472" cy="347472"/>
          </a:xfrm>
          <a:prstGeom prst="rect">
            <a:avLst/>
          </a:prstGeom>
          <a:noFill/>
          <a:ln>
            <a:noFill/>
          </a:ln>
        </p:spPr>
      </p:pic>
      <p:sp>
        <p:nvSpPr>
          <p:cNvPr id="165" name="Google Shape;165;p8"/>
          <p:cNvSpPr/>
          <p:nvPr/>
        </p:nvSpPr>
        <p:spPr>
          <a:xfrm>
            <a:off x="914400" y="3749040"/>
            <a:ext cx="33832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Overtime workers have 30.5% attrition vs 10.4% for non-overtime</a:t>
            </a:r>
            <a:endParaRPr b="0" i="0" sz="1200" u="none" cap="none" strike="noStrike">
              <a:solidFill>
                <a:schemeClr val="dk1"/>
              </a:solidFill>
              <a:latin typeface="Calibri"/>
              <a:ea typeface="Calibri"/>
              <a:cs typeface="Calibri"/>
              <a:sym typeface="Calibri"/>
            </a:endParaRPr>
          </a:p>
        </p:txBody>
      </p:sp>
      <p:sp>
        <p:nvSpPr>
          <p:cNvPr id="166" name="Google Shape;166;p8"/>
          <p:cNvSpPr/>
          <p:nvPr/>
        </p:nvSpPr>
        <p:spPr>
          <a:xfrm>
            <a:off x="4754880" y="3703320"/>
            <a:ext cx="4114800" cy="822960"/>
          </a:xfrm>
          <a:prstGeom prst="rect">
            <a:avLst/>
          </a:prstGeom>
          <a:solidFill>
            <a:srgbClr val="0D1B2A"/>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 name="Google Shape;167;p8"/>
          <p:cNvPicPr preferRelativeResize="0"/>
          <p:nvPr/>
        </p:nvPicPr>
        <p:blipFill rotWithShape="1">
          <a:blip r:embed="rId6">
            <a:alphaModFix/>
          </a:blip>
          <a:srcRect b="0" l="0" r="0" t="0"/>
          <a:stretch/>
        </p:blipFill>
        <p:spPr>
          <a:xfrm>
            <a:off x="4864608" y="3904488"/>
            <a:ext cx="347472" cy="347472"/>
          </a:xfrm>
          <a:prstGeom prst="rect">
            <a:avLst/>
          </a:prstGeom>
          <a:noFill/>
          <a:ln>
            <a:noFill/>
          </a:ln>
        </p:spPr>
      </p:pic>
      <p:sp>
        <p:nvSpPr>
          <p:cNvPr id="168" name="Google Shape;168;p8"/>
          <p:cNvSpPr/>
          <p:nvPr/>
        </p:nvSpPr>
        <p:spPr>
          <a:xfrm>
            <a:off x="5303520" y="3749040"/>
            <a:ext cx="33832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Avg monthly income of leavers: $4,787 vs $6,833 for stayers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73" name="Shape 173"/>
        <p:cNvGrpSpPr/>
        <p:nvPr/>
      </p:nvGrpSpPr>
      <p:grpSpPr>
        <a:xfrm>
          <a:off x="0" y="0"/>
          <a:ext cx="0" cy="0"/>
          <a:chOff x="0" y="0"/>
          <a:chExt cx="0" cy="0"/>
        </a:xfrm>
      </p:grpSpPr>
      <p:sp>
        <p:nvSpPr>
          <p:cNvPr id="174" name="Google Shape;174;p9"/>
          <p:cNvSpPr/>
          <p:nvPr/>
        </p:nvSpPr>
        <p:spPr>
          <a:xfrm>
            <a:off x="0" y="0"/>
            <a:ext cx="164592" cy="5143500"/>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Model Comparison &amp; Results</a:t>
            </a:r>
            <a:endParaRPr b="0" i="0" sz="3400" u="none" cap="none" strike="noStrike">
              <a:solidFill>
                <a:schemeClr val="dk1"/>
              </a:solidFill>
              <a:latin typeface="Calibri"/>
              <a:ea typeface="Calibri"/>
              <a:cs typeface="Calibri"/>
              <a:sym typeface="Calibri"/>
            </a:endParaRPr>
          </a:p>
        </p:txBody>
      </p:sp>
      <p:pic>
        <p:nvPicPr>
          <p:cNvPr id="176" name="Google Shape;176;p9"/>
          <p:cNvPicPr preferRelativeResize="0"/>
          <p:nvPr/>
        </p:nvPicPr>
        <p:blipFill rotWithShape="1">
          <a:blip r:embed="rId3">
            <a:alphaModFix/>
          </a:blip>
          <a:srcRect b="0" l="0" r="0" t="0"/>
          <a:stretch/>
        </p:blipFill>
        <p:spPr>
          <a:xfrm>
            <a:off x="365760" y="914400"/>
            <a:ext cx="4937760" cy="2926080"/>
          </a:xfrm>
          <a:prstGeom prst="rect">
            <a:avLst/>
          </a:prstGeom>
          <a:noFill/>
          <a:ln>
            <a:noFill/>
          </a:ln>
        </p:spPr>
      </p:pic>
      <p:sp>
        <p:nvSpPr>
          <p:cNvPr id="177" name="Google Shape;177;p9"/>
          <p:cNvSpPr/>
          <p:nvPr/>
        </p:nvSpPr>
        <p:spPr>
          <a:xfrm>
            <a:off x="5760720" y="914400"/>
            <a:ext cx="2926080" cy="2926080"/>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8" name="Google Shape;178;p9"/>
          <p:cNvPicPr preferRelativeResize="0"/>
          <p:nvPr/>
        </p:nvPicPr>
        <p:blipFill rotWithShape="1">
          <a:blip r:embed="rId4">
            <a:alphaModFix/>
          </a:blip>
          <a:srcRect b="0" l="0" r="0" t="0"/>
          <a:stretch/>
        </p:blipFill>
        <p:spPr>
          <a:xfrm>
            <a:off x="6766560" y="1005840"/>
            <a:ext cx="914400" cy="914400"/>
          </a:xfrm>
          <a:prstGeom prst="rect">
            <a:avLst/>
          </a:prstGeom>
          <a:noFill/>
          <a:ln>
            <a:noFill/>
          </a:ln>
        </p:spPr>
      </p:pic>
      <p:sp>
        <p:nvSpPr>
          <p:cNvPr id="179" name="Google Shape;179;p9"/>
          <p:cNvSpPr/>
          <p:nvPr/>
        </p:nvSpPr>
        <p:spPr>
          <a:xfrm>
            <a:off x="5760720" y="2011680"/>
            <a:ext cx="29260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Best Model</a:t>
            </a:r>
            <a:endParaRPr b="0" i="0" sz="1600" u="none" cap="none" strike="noStrike">
              <a:solidFill>
                <a:schemeClr val="dk1"/>
              </a:solidFill>
              <a:latin typeface="Calibri"/>
              <a:ea typeface="Calibri"/>
              <a:cs typeface="Calibri"/>
              <a:sym typeface="Calibri"/>
            </a:endParaRPr>
          </a:p>
        </p:txBody>
      </p:sp>
      <p:sp>
        <p:nvSpPr>
          <p:cNvPr id="180" name="Google Shape;180;p9"/>
          <p:cNvSpPr/>
          <p:nvPr/>
        </p:nvSpPr>
        <p:spPr>
          <a:xfrm>
            <a:off x="5760720" y="2423160"/>
            <a:ext cx="2926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i="0" lang="en-US" sz="2600" u="none" cap="none" strike="noStrike">
                <a:solidFill>
                  <a:srgbClr val="0D1B2A"/>
                </a:solidFill>
                <a:latin typeface="Calibri"/>
                <a:ea typeface="Calibri"/>
                <a:cs typeface="Calibri"/>
                <a:sym typeface="Calibri"/>
              </a:rPr>
              <a:t>XGBoost</a:t>
            </a:r>
            <a:endParaRPr b="0" i="0" sz="2600" u="none" cap="none" strike="noStrike">
              <a:solidFill>
                <a:schemeClr val="dk1"/>
              </a:solidFill>
              <a:latin typeface="Calibri"/>
              <a:ea typeface="Calibri"/>
              <a:cs typeface="Calibri"/>
              <a:sym typeface="Calibri"/>
            </a:endParaRPr>
          </a:p>
        </p:txBody>
      </p:sp>
      <p:sp>
        <p:nvSpPr>
          <p:cNvPr id="181" name="Google Shape;181;p9"/>
          <p:cNvSpPr/>
          <p:nvPr/>
        </p:nvSpPr>
        <p:spPr>
          <a:xfrm>
            <a:off x="5760720" y="3017520"/>
            <a:ext cx="2926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8"/>
              </a:buClr>
              <a:buSzPts val="1600"/>
              <a:buFont typeface="Calibri"/>
              <a:buNone/>
            </a:pPr>
            <a:r>
              <a:rPr b="0" i="0" lang="en-US" sz="1600" u="none" cap="none" strike="noStrike">
                <a:solidFill>
                  <a:srgbClr val="F0F4F8"/>
                </a:solidFill>
                <a:latin typeface="Calibri"/>
                <a:ea typeface="Calibri"/>
                <a:cs typeface="Calibri"/>
                <a:sym typeface="Calibri"/>
              </a:rPr>
              <a:t>88.1% Accuracy</a:t>
            </a:r>
            <a:endParaRPr b="0" i="0" sz="1600" u="none" cap="none" strike="noStrike">
              <a:solidFill>
                <a:schemeClr val="dk1"/>
              </a:solidFill>
              <a:latin typeface="Calibri"/>
              <a:ea typeface="Calibri"/>
              <a:cs typeface="Calibri"/>
              <a:sym typeface="Calibri"/>
            </a:endParaRPr>
          </a:p>
        </p:txBody>
      </p:sp>
      <p:sp>
        <p:nvSpPr>
          <p:cNvPr id="182" name="Google Shape;182;p9"/>
          <p:cNvSpPr/>
          <p:nvPr/>
        </p:nvSpPr>
        <p:spPr>
          <a:xfrm>
            <a:off x="5760720" y="3401568"/>
            <a:ext cx="29260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F8"/>
              </a:buClr>
              <a:buSzPts val="1300"/>
              <a:buFont typeface="Calibri"/>
              <a:buNone/>
            </a:pPr>
            <a:r>
              <a:rPr b="0" i="0" lang="en-US" sz="1300" u="none" cap="none" strike="noStrike">
                <a:solidFill>
                  <a:srgbClr val="F0F4F8"/>
                </a:solidFill>
                <a:latin typeface="Calibri"/>
                <a:ea typeface="Calibri"/>
                <a:cs typeface="Calibri"/>
                <a:sym typeface="Calibri"/>
              </a:rPr>
              <a:t>F1-Score: 0.84</a:t>
            </a:r>
            <a:endParaRPr b="0" i="0" sz="1300" u="none" cap="none" strike="noStrike">
              <a:solidFill>
                <a:schemeClr val="dk1"/>
              </a:solidFill>
              <a:latin typeface="Calibri"/>
              <a:ea typeface="Calibri"/>
              <a:cs typeface="Calibri"/>
              <a:sym typeface="Calibri"/>
            </a:endParaRPr>
          </a:p>
        </p:txBody>
      </p:sp>
      <p:graphicFrame>
        <p:nvGraphicFramePr>
          <p:cNvPr id="183" name="Google Shape;183;p9"/>
          <p:cNvGraphicFramePr/>
          <p:nvPr/>
        </p:nvGraphicFramePr>
        <p:xfrm>
          <a:off x="365760" y="3931920"/>
          <a:ext cx="3000000" cy="3000000"/>
        </p:xfrm>
        <a:graphic>
          <a:graphicData uri="http://schemas.openxmlformats.org/drawingml/2006/table">
            <a:tbl>
              <a:tblPr>
                <a:noFill/>
                <a:tableStyleId>{6C7BD24E-CC61-4FB8-8116-07ADD4E63FAA}</a:tableStyleId>
              </a:tblPr>
              <a:tblGrid>
                <a:gridCol w="2011675"/>
                <a:gridCol w="1600200"/>
                <a:gridCol w="1600200"/>
                <a:gridCol w="1600200"/>
                <a:gridCol w="1600200"/>
              </a:tblGrid>
              <a:tr h="2514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Model</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B3A5C"/>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Accuracy</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B3A5C"/>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Precision</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B3A5C"/>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Recall</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B3A5C"/>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F1-Score</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B3A5C"/>
                    </a:solidFill>
                  </a:tcPr>
                </a:tc>
              </a:tr>
              <a:tr h="251450">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Logistic Reg.</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86.4%</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0.81</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0.79</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0.80</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r>
              <a:tr h="251450">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Decision Tree</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52235"/>
                    </a:solidFill>
                  </a:tcPr>
                </a:tc>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82.7%</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52235"/>
                    </a:solidFill>
                  </a:tcPr>
                </a:tc>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0.77</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52235"/>
                    </a:solidFill>
                  </a:tcPr>
                </a:tc>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0.74</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52235"/>
                    </a:solidFill>
                  </a:tcPr>
                </a:tc>
                <a:tc>
                  <a:txBody>
                    <a:bodyPr/>
                    <a:lstStyle/>
                    <a:p>
                      <a:pPr indent="0" lvl="0" marL="0" marR="0" rtl="0" algn="l">
                        <a:spcBef>
                          <a:spcPts val="0"/>
                        </a:spcBef>
                        <a:spcAft>
                          <a:spcPts val="0"/>
                        </a:spcAft>
                        <a:buClr>
                          <a:srgbClr val="F0F4F8"/>
                        </a:buClr>
                        <a:buSzPts val="1200"/>
                        <a:buFont typeface="Calibri"/>
                        <a:buNone/>
                      </a:pPr>
                      <a:r>
                        <a:rPr lang="en-US" sz="1200" u="none" cap="none" strike="noStrike">
                          <a:solidFill>
                            <a:srgbClr val="F0F4F8"/>
                          </a:solidFill>
                        </a:rPr>
                        <a:t>0.75</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152235"/>
                    </a:solidFill>
                  </a:tcPr>
                </a:tc>
              </a:tr>
              <a:tr h="251450">
                <a:tc>
                  <a:txBody>
                    <a:bodyPr/>
                    <a:lstStyle/>
                    <a:p>
                      <a:pPr indent="0" lvl="0" marL="0" marR="0" rtl="0" algn="l">
                        <a:spcBef>
                          <a:spcPts val="0"/>
                        </a:spcBef>
                        <a:spcAft>
                          <a:spcPts val="0"/>
                        </a:spcAft>
                        <a:buClr>
                          <a:srgbClr val="F59E0B"/>
                        </a:buClr>
                        <a:buSzPts val="1200"/>
                        <a:buFont typeface="Calibri"/>
                        <a:buNone/>
                      </a:pPr>
                      <a:r>
                        <a:rPr b="1" lang="en-US" sz="1200" u="none" cap="none" strike="noStrike">
                          <a:solidFill>
                            <a:srgbClr val="F59E0B"/>
                          </a:solidFill>
                        </a:rPr>
                        <a:t>XGBoost ✓</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59E0B"/>
                        </a:buClr>
                        <a:buSzPts val="1200"/>
                        <a:buFont typeface="Calibri"/>
                        <a:buNone/>
                      </a:pPr>
                      <a:r>
                        <a:rPr b="1" lang="en-US" sz="1200" u="none" cap="none" strike="noStrike">
                          <a:solidFill>
                            <a:srgbClr val="F59E0B"/>
                          </a:solidFill>
                        </a:rPr>
                        <a:t>88.1%</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59E0B"/>
                        </a:buClr>
                        <a:buSzPts val="1200"/>
                        <a:buFont typeface="Calibri"/>
                        <a:buNone/>
                      </a:pPr>
                      <a:r>
                        <a:rPr b="1" lang="en-US" sz="1200" u="none" cap="none" strike="noStrike">
                          <a:solidFill>
                            <a:srgbClr val="F59E0B"/>
                          </a:solidFill>
                        </a:rPr>
                        <a:t>0.85</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59E0B"/>
                        </a:buClr>
                        <a:buSzPts val="1200"/>
                        <a:buFont typeface="Calibri"/>
                        <a:buNone/>
                      </a:pPr>
                      <a:r>
                        <a:rPr b="1" lang="en-US" sz="1200" u="none" cap="none" strike="noStrike">
                          <a:solidFill>
                            <a:srgbClr val="F59E0B"/>
                          </a:solidFill>
                        </a:rPr>
                        <a:t>0.83</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59E0B"/>
                        </a:buClr>
                        <a:buSzPts val="1200"/>
                        <a:buFont typeface="Calibri"/>
                        <a:buNone/>
                      </a:pPr>
                      <a:r>
                        <a:rPr b="1" lang="en-US" sz="1200" u="none" cap="none" strike="noStrike">
                          <a:solidFill>
                            <a:srgbClr val="F59E0B"/>
                          </a:solidFill>
                        </a:rPr>
                        <a:t>0.84</a:t>
                      </a:r>
                      <a:endParaRPr sz="1200" u="none" cap="none" strike="noStrike"/>
                    </a:p>
                  </a:txBody>
                  <a:tcPr marT="45725" marB="45725" marR="91450" marL="91450">
                    <a:lnL cap="flat" cmpd="sng" w="12700">
                      <a:solidFill>
                        <a:srgbClr val="1B3A5C"/>
                      </a:solidFill>
                      <a:prstDash val="solid"/>
                      <a:round/>
                      <a:headEnd len="sm" w="sm" type="none"/>
                      <a:tailEnd len="sm" w="sm" type="none"/>
                    </a:lnL>
                    <a:lnR cap="flat" cmpd="sng" w="12700">
                      <a:solidFill>
                        <a:srgbClr val="1B3A5C"/>
                      </a:solidFill>
                      <a:prstDash val="solid"/>
                      <a:round/>
                      <a:headEnd len="sm" w="sm" type="none"/>
                      <a:tailEnd len="sm" w="sm" type="none"/>
                    </a:lnR>
                    <a:lnT cap="flat" cmpd="sng" w="12700">
                      <a:solidFill>
                        <a:srgbClr val="1B3A5C"/>
                      </a:solidFill>
                      <a:prstDash val="solid"/>
                      <a:round/>
                      <a:headEnd len="sm" w="sm" type="none"/>
                      <a:tailEnd len="sm" w="sm" type="none"/>
                    </a:lnT>
                    <a:lnB cap="flat" cmpd="sng" w="12700">
                      <a:solidFill>
                        <a:srgbClr val="1B3A5C"/>
                      </a:solidFill>
                      <a:prstDash val="solid"/>
                      <a:round/>
                      <a:headEnd len="sm" w="sm" type="none"/>
                      <a:tailEnd len="sm" w="sm" type="none"/>
                    </a:lnB>
                    <a:solidFill>
                      <a:srgbClr val="0D1B2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88" name="Shape 188"/>
        <p:cNvGrpSpPr/>
        <p:nvPr/>
      </p:nvGrpSpPr>
      <p:grpSpPr>
        <a:xfrm>
          <a:off x="0" y="0"/>
          <a:ext cx="0" cy="0"/>
          <a:chOff x="0" y="0"/>
          <a:chExt cx="0" cy="0"/>
        </a:xfrm>
      </p:grpSpPr>
      <p:sp>
        <p:nvSpPr>
          <p:cNvPr id="189" name="Google Shape;189;p10"/>
          <p:cNvSpPr/>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3400"/>
              <a:buFont typeface="Calibri"/>
              <a:buNone/>
            </a:pPr>
            <a:r>
              <a:rPr b="1" i="0" lang="en-US" sz="3400" u="none" cap="none" strike="noStrike">
                <a:solidFill>
                  <a:srgbClr val="0D1B2A"/>
                </a:solidFill>
                <a:latin typeface="Calibri"/>
                <a:ea typeface="Calibri"/>
                <a:cs typeface="Calibri"/>
                <a:sym typeface="Calibri"/>
              </a:rPr>
              <a:t>SHAP – Model Explainability</a:t>
            </a:r>
            <a:endParaRPr b="0" i="0" sz="3400" u="none" cap="none" strike="noStrike">
              <a:solidFill>
                <a:schemeClr val="dk1"/>
              </a:solidFill>
              <a:latin typeface="Calibri"/>
              <a:ea typeface="Calibri"/>
              <a:cs typeface="Calibri"/>
              <a:sym typeface="Calibri"/>
            </a:endParaRPr>
          </a:p>
        </p:txBody>
      </p:sp>
      <p:sp>
        <p:nvSpPr>
          <p:cNvPr id="190" name="Google Shape;190;p10"/>
          <p:cNvSpPr/>
          <p:nvPr/>
        </p:nvSpPr>
        <p:spPr>
          <a:xfrm>
            <a:off x="457200" y="850392"/>
            <a:ext cx="8229600" cy="27432"/>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1" name="Google Shape;191;p10"/>
          <p:cNvPicPr preferRelativeResize="0"/>
          <p:nvPr/>
        </p:nvPicPr>
        <p:blipFill rotWithShape="1">
          <a:blip r:embed="rId3">
            <a:alphaModFix/>
          </a:blip>
          <a:srcRect b="0" l="0" r="0" t="0"/>
          <a:stretch/>
        </p:blipFill>
        <p:spPr>
          <a:xfrm>
            <a:off x="365760" y="960120"/>
            <a:ext cx="5303520" cy="3840480"/>
          </a:xfrm>
          <a:prstGeom prst="rect">
            <a:avLst/>
          </a:prstGeom>
          <a:noFill/>
          <a:ln>
            <a:noFill/>
          </a:ln>
        </p:spPr>
      </p:pic>
      <p:sp>
        <p:nvSpPr>
          <p:cNvPr id="192" name="Google Shape;192;p10"/>
          <p:cNvSpPr/>
          <p:nvPr/>
        </p:nvSpPr>
        <p:spPr>
          <a:xfrm>
            <a:off x="5943600" y="96012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600"/>
              <a:buFont typeface="Calibri"/>
              <a:buNone/>
            </a:pPr>
            <a:r>
              <a:rPr b="1" i="0" lang="en-US" sz="1600" u="none" cap="none" strike="noStrike">
                <a:solidFill>
                  <a:srgbClr val="0D1B2A"/>
                </a:solidFill>
                <a:latin typeface="Calibri"/>
                <a:ea typeface="Calibri"/>
                <a:cs typeface="Calibri"/>
                <a:sym typeface="Calibri"/>
              </a:rPr>
              <a:t>Key Findings</a:t>
            </a:r>
            <a:endParaRPr b="0" i="0" sz="1600" u="none" cap="none" strike="noStrike">
              <a:solidFill>
                <a:schemeClr val="dk1"/>
              </a:solidFill>
              <a:latin typeface="Calibri"/>
              <a:ea typeface="Calibri"/>
              <a:cs typeface="Calibri"/>
              <a:sym typeface="Calibri"/>
            </a:endParaRPr>
          </a:p>
        </p:txBody>
      </p:sp>
      <p:sp>
        <p:nvSpPr>
          <p:cNvPr id="193" name="Google Shape;193;p10"/>
          <p:cNvSpPr/>
          <p:nvPr/>
        </p:nvSpPr>
        <p:spPr>
          <a:xfrm>
            <a:off x="5943600" y="1417320"/>
            <a:ext cx="2834640" cy="749808"/>
          </a:xfrm>
          <a:prstGeom prst="rect">
            <a:avLst/>
          </a:prstGeom>
          <a:solidFill>
            <a:srgbClr val="0D1B2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4" name="Google Shape;194;p10"/>
          <p:cNvPicPr preferRelativeResize="0"/>
          <p:nvPr/>
        </p:nvPicPr>
        <p:blipFill rotWithShape="1">
          <a:blip r:embed="rId4">
            <a:alphaModFix/>
          </a:blip>
          <a:srcRect b="0" l="0" r="0" t="0"/>
          <a:stretch/>
        </p:blipFill>
        <p:spPr>
          <a:xfrm>
            <a:off x="6053328" y="1600200"/>
            <a:ext cx="320040" cy="320040"/>
          </a:xfrm>
          <a:prstGeom prst="rect">
            <a:avLst/>
          </a:prstGeom>
          <a:noFill/>
          <a:ln>
            <a:noFill/>
          </a:ln>
        </p:spPr>
      </p:pic>
      <p:sp>
        <p:nvSpPr>
          <p:cNvPr id="195" name="Google Shape;195;p10"/>
          <p:cNvSpPr/>
          <p:nvPr/>
        </p:nvSpPr>
        <p:spPr>
          <a:xfrm>
            <a:off x="6446520" y="1481328"/>
            <a:ext cx="2286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Overtime is the strongest predictor of attrition</a:t>
            </a:r>
            <a:endParaRPr b="0" i="0" sz="1200" u="none" cap="none" strike="noStrike">
              <a:solidFill>
                <a:schemeClr val="dk1"/>
              </a:solidFill>
              <a:latin typeface="Calibri"/>
              <a:ea typeface="Calibri"/>
              <a:cs typeface="Calibri"/>
              <a:sym typeface="Calibri"/>
            </a:endParaRPr>
          </a:p>
        </p:txBody>
      </p:sp>
      <p:sp>
        <p:nvSpPr>
          <p:cNvPr id="196" name="Google Shape;196;p10"/>
          <p:cNvSpPr/>
          <p:nvPr/>
        </p:nvSpPr>
        <p:spPr>
          <a:xfrm>
            <a:off x="5943600" y="2286000"/>
            <a:ext cx="2834640" cy="749808"/>
          </a:xfrm>
          <a:prstGeom prst="rect">
            <a:avLst/>
          </a:prstGeom>
          <a:solidFill>
            <a:srgbClr val="0D1B2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10"/>
          <p:cNvPicPr preferRelativeResize="0"/>
          <p:nvPr/>
        </p:nvPicPr>
        <p:blipFill rotWithShape="1">
          <a:blip r:embed="rId5">
            <a:alphaModFix/>
          </a:blip>
          <a:srcRect b="0" l="0" r="0" t="0"/>
          <a:stretch/>
        </p:blipFill>
        <p:spPr>
          <a:xfrm>
            <a:off x="6053328" y="2468880"/>
            <a:ext cx="320040" cy="320040"/>
          </a:xfrm>
          <a:prstGeom prst="rect">
            <a:avLst/>
          </a:prstGeom>
          <a:noFill/>
          <a:ln>
            <a:noFill/>
          </a:ln>
        </p:spPr>
      </p:pic>
      <p:sp>
        <p:nvSpPr>
          <p:cNvPr id="198" name="Google Shape;198;p10"/>
          <p:cNvSpPr/>
          <p:nvPr/>
        </p:nvSpPr>
        <p:spPr>
          <a:xfrm>
            <a:off x="6446520" y="2350008"/>
            <a:ext cx="2286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Lower income employees are significantly more likely to leave</a:t>
            </a:r>
            <a:endParaRPr b="0" i="0" sz="1200" u="none" cap="none" strike="noStrike">
              <a:solidFill>
                <a:schemeClr val="dk1"/>
              </a:solidFill>
              <a:latin typeface="Calibri"/>
              <a:ea typeface="Calibri"/>
              <a:cs typeface="Calibri"/>
              <a:sym typeface="Calibri"/>
            </a:endParaRPr>
          </a:p>
        </p:txBody>
      </p:sp>
      <p:sp>
        <p:nvSpPr>
          <p:cNvPr id="199" name="Google Shape;199;p10"/>
          <p:cNvSpPr/>
          <p:nvPr/>
        </p:nvSpPr>
        <p:spPr>
          <a:xfrm>
            <a:off x="5943600" y="3154680"/>
            <a:ext cx="2834640" cy="749808"/>
          </a:xfrm>
          <a:prstGeom prst="rect">
            <a:avLst/>
          </a:prstGeom>
          <a:solidFill>
            <a:srgbClr val="0D1B2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 name="Google Shape;200;p10"/>
          <p:cNvPicPr preferRelativeResize="0"/>
          <p:nvPr/>
        </p:nvPicPr>
        <p:blipFill rotWithShape="1">
          <a:blip r:embed="rId6">
            <a:alphaModFix/>
          </a:blip>
          <a:srcRect b="0" l="0" r="0" t="0"/>
          <a:stretch/>
        </p:blipFill>
        <p:spPr>
          <a:xfrm>
            <a:off x="6053328" y="3337560"/>
            <a:ext cx="320040" cy="320040"/>
          </a:xfrm>
          <a:prstGeom prst="rect">
            <a:avLst/>
          </a:prstGeom>
          <a:noFill/>
          <a:ln>
            <a:noFill/>
          </a:ln>
        </p:spPr>
      </p:pic>
      <p:sp>
        <p:nvSpPr>
          <p:cNvPr id="201" name="Google Shape;201;p10"/>
          <p:cNvSpPr/>
          <p:nvPr/>
        </p:nvSpPr>
        <p:spPr>
          <a:xfrm>
            <a:off x="6446520" y="3218688"/>
            <a:ext cx="2286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Low job satisfaction doubles the attrition risk</a:t>
            </a:r>
            <a:endParaRPr b="0" i="0" sz="1200" u="none" cap="none" strike="noStrike">
              <a:solidFill>
                <a:schemeClr val="dk1"/>
              </a:solidFill>
              <a:latin typeface="Calibri"/>
              <a:ea typeface="Calibri"/>
              <a:cs typeface="Calibri"/>
              <a:sym typeface="Calibri"/>
            </a:endParaRPr>
          </a:p>
        </p:txBody>
      </p:sp>
      <p:sp>
        <p:nvSpPr>
          <p:cNvPr id="202" name="Google Shape;202;p10"/>
          <p:cNvSpPr/>
          <p:nvPr/>
        </p:nvSpPr>
        <p:spPr>
          <a:xfrm>
            <a:off x="5943600" y="4023360"/>
            <a:ext cx="2834640" cy="749808"/>
          </a:xfrm>
          <a:prstGeom prst="rect">
            <a:avLst/>
          </a:prstGeom>
          <a:solidFill>
            <a:srgbClr val="0D1B2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 name="Google Shape;203;p10"/>
          <p:cNvPicPr preferRelativeResize="0"/>
          <p:nvPr/>
        </p:nvPicPr>
        <p:blipFill rotWithShape="1">
          <a:blip r:embed="rId7">
            <a:alphaModFix/>
          </a:blip>
          <a:srcRect b="0" l="0" r="0" t="0"/>
          <a:stretch/>
        </p:blipFill>
        <p:spPr>
          <a:xfrm>
            <a:off x="6053328" y="4206240"/>
            <a:ext cx="320040" cy="320040"/>
          </a:xfrm>
          <a:prstGeom prst="rect">
            <a:avLst/>
          </a:prstGeom>
          <a:noFill/>
          <a:ln>
            <a:noFill/>
          </a:ln>
        </p:spPr>
      </p:pic>
      <p:sp>
        <p:nvSpPr>
          <p:cNvPr id="204" name="Google Shape;204;p10"/>
          <p:cNvSpPr/>
          <p:nvPr/>
        </p:nvSpPr>
        <p:spPr>
          <a:xfrm>
            <a:off x="6446520" y="4087368"/>
            <a:ext cx="2286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F4F8"/>
              </a:buClr>
              <a:buSzPts val="1200"/>
              <a:buFont typeface="Calibri"/>
              <a:buNone/>
            </a:pPr>
            <a:r>
              <a:rPr b="0" i="0" lang="en-US" sz="1200" u="none" cap="none" strike="noStrike">
                <a:solidFill>
                  <a:srgbClr val="F0F4F8"/>
                </a:solidFill>
                <a:latin typeface="Calibri"/>
                <a:ea typeface="Calibri"/>
                <a:cs typeface="Calibri"/>
                <a:sym typeface="Calibri"/>
              </a:rPr>
              <a:t>Newer employees (&lt;2 years) show higher turnover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09" name="Shape 209"/>
        <p:cNvGrpSpPr/>
        <p:nvPr/>
      </p:nvGrpSpPr>
      <p:grpSpPr>
        <a:xfrm>
          <a:off x="0" y="0"/>
          <a:ext cx="0" cy="0"/>
          <a:chOff x="0" y="0"/>
          <a:chExt cx="0" cy="0"/>
        </a:xfrm>
      </p:grpSpPr>
      <p:sp>
        <p:nvSpPr>
          <p:cNvPr id="210" name="Google Shape;210;p11"/>
          <p:cNvSpPr/>
          <p:nvPr/>
        </p:nvSpPr>
        <p:spPr>
          <a:xfrm>
            <a:off x="0" y="0"/>
            <a:ext cx="164592" cy="5143500"/>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Streamlit Deployment</a:t>
            </a:r>
            <a:endParaRPr b="0" i="0" sz="3400" u="none" cap="none" strike="noStrike">
              <a:solidFill>
                <a:schemeClr val="dk1"/>
              </a:solidFill>
              <a:latin typeface="Calibri"/>
              <a:ea typeface="Calibri"/>
              <a:cs typeface="Calibri"/>
              <a:sym typeface="Calibri"/>
            </a:endParaRPr>
          </a:p>
        </p:txBody>
      </p:sp>
      <p:pic>
        <p:nvPicPr>
          <p:cNvPr descr="preencoded.png" id="212" name="Google Shape;212;p11"/>
          <p:cNvPicPr preferRelativeResize="0"/>
          <p:nvPr/>
        </p:nvPicPr>
        <p:blipFill rotWithShape="1">
          <a:blip r:embed="rId3">
            <a:alphaModFix/>
          </a:blip>
          <a:srcRect b="0" l="0" r="0" t="0"/>
          <a:stretch/>
        </p:blipFill>
        <p:spPr>
          <a:xfrm>
            <a:off x="8046720" y="182880"/>
            <a:ext cx="731520" cy="731520"/>
          </a:xfrm>
          <a:prstGeom prst="rect">
            <a:avLst/>
          </a:prstGeom>
          <a:noFill/>
          <a:ln>
            <a:noFill/>
          </a:ln>
        </p:spPr>
      </p:pic>
      <p:sp>
        <p:nvSpPr>
          <p:cNvPr id="213" name="Google Shape;213;p11"/>
          <p:cNvSpPr/>
          <p:nvPr/>
        </p:nvSpPr>
        <p:spPr>
          <a:xfrm>
            <a:off x="411480" y="1005840"/>
            <a:ext cx="1828800" cy="1645920"/>
          </a:xfrm>
          <a:prstGeom prst="rect">
            <a:avLst/>
          </a:prstGeom>
          <a:solidFill>
            <a:srgbClr val="1B3A5C"/>
          </a:solidFill>
          <a:ln cap="flat" cmpd="sng" w="1905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a:off x="411480" y="1097280"/>
            <a:ext cx="18288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User Input</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Form</a:t>
            </a:r>
            <a:endParaRPr b="0" i="0" sz="1400" u="none" cap="none" strike="noStrike">
              <a:solidFill>
                <a:schemeClr val="dk1"/>
              </a:solidFill>
              <a:latin typeface="Calibri"/>
              <a:ea typeface="Calibri"/>
              <a:cs typeface="Calibri"/>
              <a:sym typeface="Calibri"/>
            </a:endParaRPr>
          </a:p>
        </p:txBody>
      </p:sp>
      <p:sp>
        <p:nvSpPr>
          <p:cNvPr id="215" name="Google Shape;215;p11"/>
          <p:cNvSpPr/>
          <p:nvPr/>
        </p:nvSpPr>
        <p:spPr>
          <a:xfrm>
            <a:off x="411480" y="1691640"/>
            <a:ext cx="18288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Department, Salary</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Satisfaction, Overtime…</a:t>
            </a:r>
            <a:endParaRPr b="0" i="0" sz="1100" u="none" cap="none" strike="noStrike">
              <a:solidFill>
                <a:schemeClr val="dk1"/>
              </a:solidFill>
              <a:latin typeface="Calibri"/>
              <a:ea typeface="Calibri"/>
              <a:cs typeface="Calibri"/>
              <a:sym typeface="Calibri"/>
            </a:endParaRPr>
          </a:p>
        </p:txBody>
      </p:sp>
      <p:cxnSp>
        <p:nvCxnSpPr>
          <p:cNvPr id="216" name="Google Shape;216;p11"/>
          <p:cNvCxnSpPr/>
          <p:nvPr/>
        </p:nvCxnSpPr>
        <p:spPr>
          <a:xfrm>
            <a:off x="2240280" y="1810512"/>
            <a:ext cx="365760" cy="0"/>
          </a:xfrm>
          <a:prstGeom prst="straightConnector1">
            <a:avLst/>
          </a:prstGeom>
          <a:noFill/>
          <a:ln cap="flat" cmpd="sng" w="25400">
            <a:solidFill>
              <a:srgbClr val="0F7173"/>
            </a:solidFill>
            <a:prstDash val="solid"/>
            <a:round/>
            <a:headEnd len="sm" w="sm" type="none"/>
            <a:tailEnd len="sm" w="sm" type="none"/>
          </a:ln>
        </p:spPr>
      </p:cxnSp>
      <p:sp>
        <p:nvSpPr>
          <p:cNvPr id="217" name="Google Shape;217;p11"/>
          <p:cNvSpPr/>
          <p:nvPr/>
        </p:nvSpPr>
        <p:spPr>
          <a:xfrm>
            <a:off x="2350008" y="1719072"/>
            <a:ext cx="1828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173"/>
              </a:buClr>
              <a:buSzPts val="1000"/>
              <a:buFont typeface="Calibri"/>
              <a:buNone/>
            </a:pPr>
            <a:r>
              <a:rPr b="0" i="0" lang="en-US" sz="1000" u="none" cap="none" strike="noStrike">
                <a:solidFill>
                  <a:srgbClr val="0F7173"/>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18" name="Google Shape;218;p11"/>
          <p:cNvSpPr/>
          <p:nvPr/>
        </p:nvSpPr>
        <p:spPr>
          <a:xfrm>
            <a:off x="2606040" y="1005840"/>
            <a:ext cx="1828800" cy="1645920"/>
          </a:xfrm>
          <a:prstGeom prst="rect">
            <a:avLst/>
          </a:prstGeom>
          <a:solidFill>
            <a:srgbClr val="1B3A5C"/>
          </a:solidFill>
          <a:ln cap="flat" cmpd="sng" w="1905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2606040" y="1097280"/>
            <a:ext cx="18288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XGBoost</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Model</a:t>
            </a:r>
            <a:endParaRPr b="0" i="0" sz="1400" u="none" cap="none" strike="noStrike">
              <a:solidFill>
                <a:schemeClr val="dk1"/>
              </a:solidFill>
              <a:latin typeface="Calibri"/>
              <a:ea typeface="Calibri"/>
              <a:cs typeface="Calibri"/>
              <a:sym typeface="Calibri"/>
            </a:endParaRPr>
          </a:p>
        </p:txBody>
      </p:sp>
      <p:sp>
        <p:nvSpPr>
          <p:cNvPr id="220" name="Google Shape;220;p11"/>
          <p:cNvSpPr/>
          <p:nvPr/>
        </p:nvSpPr>
        <p:spPr>
          <a:xfrm>
            <a:off x="2606040" y="1691640"/>
            <a:ext cx="18288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Pre-trained model</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loaded via pickle</a:t>
            </a:r>
            <a:endParaRPr b="0" i="0" sz="1100" u="none" cap="none" strike="noStrike">
              <a:solidFill>
                <a:schemeClr val="dk1"/>
              </a:solidFill>
              <a:latin typeface="Calibri"/>
              <a:ea typeface="Calibri"/>
              <a:cs typeface="Calibri"/>
              <a:sym typeface="Calibri"/>
            </a:endParaRPr>
          </a:p>
        </p:txBody>
      </p:sp>
      <p:cxnSp>
        <p:nvCxnSpPr>
          <p:cNvPr id="221" name="Google Shape;221;p11"/>
          <p:cNvCxnSpPr/>
          <p:nvPr/>
        </p:nvCxnSpPr>
        <p:spPr>
          <a:xfrm>
            <a:off x="4434840" y="1810512"/>
            <a:ext cx="365760" cy="0"/>
          </a:xfrm>
          <a:prstGeom prst="straightConnector1">
            <a:avLst/>
          </a:prstGeom>
          <a:noFill/>
          <a:ln cap="flat" cmpd="sng" w="25400">
            <a:solidFill>
              <a:srgbClr val="0F7173"/>
            </a:solidFill>
            <a:prstDash val="solid"/>
            <a:round/>
            <a:headEnd len="sm" w="sm" type="none"/>
            <a:tailEnd len="sm" w="sm" type="none"/>
          </a:ln>
        </p:spPr>
      </p:cxnSp>
      <p:sp>
        <p:nvSpPr>
          <p:cNvPr id="222" name="Google Shape;222;p11"/>
          <p:cNvSpPr/>
          <p:nvPr/>
        </p:nvSpPr>
        <p:spPr>
          <a:xfrm>
            <a:off x="4544568" y="1719072"/>
            <a:ext cx="1828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173"/>
              </a:buClr>
              <a:buSzPts val="1000"/>
              <a:buFont typeface="Calibri"/>
              <a:buNone/>
            </a:pPr>
            <a:r>
              <a:rPr b="0" i="0" lang="en-US" sz="1000" u="none" cap="none" strike="noStrike">
                <a:solidFill>
                  <a:srgbClr val="0F7173"/>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23" name="Google Shape;223;p11"/>
          <p:cNvSpPr/>
          <p:nvPr/>
        </p:nvSpPr>
        <p:spPr>
          <a:xfrm>
            <a:off x="4800600" y="1005840"/>
            <a:ext cx="1828800" cy="1645920"/>
          </a:xfrm>
          <a:prstGeom prst="rect">
            <a:avLst/>
          </a:prstGeom>
          <a:solidFill>
            <a:srgbClr val="1B3A5C"/>
          </a:solidFill>
          <a:ln cap="flat" cmpd="sng" w="1905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4800600" y="1097280"/>
            <a:ext cx="18288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Prediction</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 Probability</a:t>
            </a:r>
            <a:endParaRPr b="0" i="0" sz="1400" u="none" cap="none" strike="noStrike">
              <a:solidFill>
                <a:schemeClr val="dk1"/>
              </a:solidFill>
              <a:latin typeface="Calibri"/>
              <a:ea typeface="Calibri"/>
              <a:cs typeface="Calibri"/>
              <a:sym typeface="Calibri"/>
            </a:endParaRPr>
          </a:p>
        </p:txBody>
      </p:sp>
      <p:sp>
        <p:nvSpPr>
          <p:cNvPr id="225" name="Google Shape;225;p11"/>
          <p:cNvSpPr/>
          <p:nvPr/>
        </p:nvSpPr>
        <p:spPr>
          <a:xfrm>
            <a:off x="4800600" y="1691640"/>
            <a:ext cx="18288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Stay / Leave +</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confidence score</a:t>
            </a:r>
            <a:endParaRPr b="0" i="0" sz="1100" u="none" cap="none" strike="noStrike">
              <a:solidFill>
                <a:schemeClr val="dk1"/>
              </a:solidFill>
              <a:latin typeface="Calibri"/>
              <a:ea typeface="Calibri"/>
              <a:cs typeface="Calibri"/>
              <a:sym typeface="Calibri"/>
            </a:endParaRPr>
          </a:p>
        </p:txBody>
      </p:sp>
      <p:cxnSp>
        <p:nvCxnSpPr>
          <p:cNvPr id="226" name="Google Shape;226;p11"/>
          <p:cNvCxnSpPr/>
          <p:nvPr/>
        </p:nvCxnSpPr>
        <p:spPr>
          <a:xfrm>
            <a:off x="6629400" y="1810512"/>
            <a:ext cx="365760" cy="0"/>
          </a:xfrm>
          <a:prstGeom prst="straightConnector1">
            <a:avLst/>
          </a:prstGeom>
          <a:noFill/>
          <a:ln cap="flat" cmpd="sng" w="25400">
            <a:solidFill>
              <a:srgbClr val="0F7173"/>
            </a:solidFill>
            <a:prstDash val="solid"/>
            <a:round/>
            <a:headEnd len="sm" w="sm" type="none"/>
            <a:tailEnd len="sm" w="sm" type="none"/>
          </a:ln>
        </p:spPr>
      </p:cxnSp>
      <p:sp>
        <p:nvSpPr>
          <p:cNvPr id="227" name="Google Shape;227;p11"/>
          <p:cNvSpPr/>
          <p:nvPr/>
        </p:nvSpPr>
        <p:spPr>
          <a:xfrm>
            <a:off x="6739128" y="1719072"/>
            <a:ext cx="1828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173"/>
              </a:buClr>
              <a:buSzPts val="1000"/>
              <a:buFont typeface="Calibri"/>
              <a:buNone/>
            </a:pPr>
            <a:r>
              <a:rPr b="0" i="0" lang="en-US" sz="1000" u="none" cap="none" strike="noStrike">
                <a:solidFill>
                  <a:srgbClr val="0F7173"/>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28" name="Google Shape;228;p11"/>
          <p:cNvSpPr/>
          <p:nvPr/>
        </p:nvSpPr>
        <p:spPr>
          <a:xfrm>
            <a:off x="6995160" y="1005840"/>
            <a:ext cx="1828800" cy="1645920"/>
          </a:xfrm>
          <a:prstGeom prst="rect">
            <a:avLst/>
          </a:prstGeom>
          <a:solidFill>
            <a:srgbClr val="1B3A5C"/>
          </a:solidFill>
          <a:ln cap="flat" cmpd="sng" w="1905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6995160" y="1097280"/>
            <a:ext cx="18288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Visual</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Output</a:t>
            </a:r>
            <a:endParaRPr b="0" i="0" sz="1400" u="none" cap="none" strike="noStrike">
              <a:solidFill>
                <a:schemeClr val="dk1"/>
              </a:solidFill>
              <a:latin typeface="Calibri"/>
              <a:ea typeface="Calibri"/>
              <a:cs typeface="Calibri"/>
              <a:sym typeface="Calibri"/>
            </a:endParaRPr>
          </a:p>
        </p:txBody>
      </p:sp>
      <p:sp>
        <p:nvSpPr>
          <p:cNvPr id="230" name="Google Shape;230;p11"/>
          <p:cNvSpPr/>
          <p:nvPr/>
        </p:nvSpPr>
        <p:spPr>
          <a:xfrm>
            <a:off x="6995160" y="1691640"/>
            <a:ext cx="18288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Probability bar</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&amp; risk level</a:t>
            </a:r>
            <a:endParaRPr b="0" i="0" sz="1100" u="none" cap="none" strike="noStrike">
              <a:solidFill>
                <a:schemeClr val="dk1"/>
              </a:solidFill>
              <a:latin typeface="Calibri"/>
              <a:ea typeface="Calibri"/>
              <a:cs typeface="Calibri"/>
              <a:sym typeface="Calibri"/>
            </a:endParaRPr>
          </a:p>
        </p:txBody>
      </p:sp>
      <p:sp>
        <p:nvSpPr>
          <p:cNvPr id="231" name="Google Shape;231;p11"/>
          <p:cNvSpPr/>
          <p:nvPr/>
        </p:nvSpPr>
        <p:spPr>
          <a:xfrm>
            <a:off x="457200" y="283464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600"/>
              <a:buFont typeface="Calibri"/>
              <a:buNone/>
            </a:pPr>
            <a:r>
              <a:rPr b="1" i="0" lang="en-US" sz="1600" u="none" cap="none" strike="noStrike">
                <a:solidFill>
                  <a:srgbClr val="14B8A6"/>
                </a:solidFill>
                <a:latin typeface="Calibri"/>
                <a:ea typeface="Calibri"/>
                <a:cs typeface="Calibri"/>
                <a:sym typeface="Calibri"/>
              </a:rPr>
              <a:t>App Screenshots</a:t>
            </a:r>
            <a:endParaRPr b="0" i="0" sz="1600" u="none" cap="none" strike="noStrike">
              <a:solidFill>
                <a:schemeClr val="dk1"/>
              </a:solidFill>
              <a:latin typeface="Calibri"/>
              <a:ea typeface="Calibri"/>
              <a:cs typeface="Calibri"/>
              <a:sym typeface="Calibri"/>
            </a:endParaRPr>
          </a:p>
        </p:txBody>
      </p:sp>
      <p:sp>
        <p:nvSpPr>
          <p:cNvPr id="232" name="Google Shape;232;p11"/>
          <p:cNvSpPr/>
          <p:nvPr/>
        </p:nvSpPr>
        <p:spPr>
          <a:xfrm>
            <a:off x="365760" y="3291840"/>
            <a:ext cx="2606040" cy="1600200"/>
          </a:xfrm>
          <a:prstGeom prst="rect">
            <a:avLst/>
          </a:prstGeom>
          <a:solidFill>
            <a:srgbClr val="1B3A5C"/>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365760" y="342900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[Screenshot]</a:t>
            </a:r>
            <a:endParaRPr b="0" i="0" sz="1300" u="none" cap="none" strike="noStrike">
              <a:solidFill>
                <a:schemeClr val="dk1"/>
              </a:solidFill>
              <a:latin typeface="Calibri"/>
              <a:ea typeface="Calibri"/>
              <a:cs typeface="Calibri"/>
              <a:sym typeface="Calibri"/>
            </a:endParaRPr>
          </a:p>
        </p:txBody>
      </p:sp>
      <p:sp>
        <p:nvSpPr>
          <p:cNvPr id="234" name="Google Shape;234;p11"/>
          <p:cNvSpPr/>
          <p:nvPr/>
        </p:nvSpPr>
        <p:spPr>
          <a:xfrm>
            <a:off x="365760" y="3886200"/>
            <a:ext cx="2606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300"/>
              <a:buFont typeface="Calibri"/>
              <a:buNone/>
            </a:pPr>
            <a:r>
              <a:rPr b="1" i="0" lang="en-US" sz="1300" u="none" cap="none" strike="noStrike">
                <a:solidFill>
                  <a:srgbClr val="14B8A6"/>
                </a:solidFill>
                <a:latin typeface="Calibri"/>
                <a:ea typeface="Calibri"/>
                <a:cs typeface="Calibri"/>
                <a:sym typeface="Calibri"/>
              </a:rPr>
              <a:t>Input Page</a:t>
            </a:r>
            <a:endParaRPr b="0" i="0" sz="1300" u="none" cap="none" strike="noStrike">
              <a:solidFill>
                <a:schemeClr val="dk1"/>
              </a:solidFill>
              <a:latin typeface="Calibri"/>
              <a:ea typeface="Calibri"/>
              <a:cs typeface="Calibri"/>
              <a:sym typeface="Calibri"/>
            </a:endParaRPr>
          </a:p>
        </p:txBody>
      </p:sp>
      <p:sp>
        <p:nvSpPr>
          <p:cNvPr id="235" name="Google Shape;235;p11"/>
          <p:cNvSpPr/>
          <p:nvPr/>
        </p:nvSpPr>
        <p:spPr>
          <a:xfrm>
            <a:off x="365760" y="4206240"/>
            <a:ext cx="26060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User fills HR</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attributes form</a:t>
            </a:r>
            <a:endParaRPr b="0" i="0" sz="1100" u="none" cap="none" strike="noStrike">
              <a:solidFill>
                <a:schemeClr val="dk1"/>
              </a:solidFill>
              <a:latin typeface="Calibri"/>
              <a:ea typeface="Calibri"/>
              <a:cs typeface="Calibri"/>
              <a:sym typeface="Calibri"/>
            </a:endParaRPr>
          </a:p>
        </p:txBody>
      </p:sp>
      <p:sp>
        <p:nvSpPr>
          <p:cNvPr id="236" name="Google Shape;236;p11"/>
          <p:cNvSpPr/>
          <p:nvPr/>
        </p:nvSpPr>
        <p:spPr>
          <a:xfrm>
            <a:off x="3246120" y="3291840"/>
            <a:ext cx="2606040" cy="1600200"/>
          </a:xfrm>
          <a:prstGeom prst="rect">
            <a:avLst/>
          </a:prstGeom>
          <a:solidFill>
            <a:srgbClr val="1B3A5C"/>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3246120" y="342900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[Screenshot]</a:t>
            </a:r>
            <a:endParaRPr b="0" i="0" sz="1300" u="none" cap="none" strike="noStrike">
              <a:solidFill>
                <a:schemeClr val="dk1"/>
              </a:solidFill>
              <a:latin typeface="Calibri"/>
              <a:ea typeface="Calibri"/>
              <a:cs typeface="Calibri"/>
              <a:sym typeface="Calibri"/>
            </a:endParaRPr>
          </a:p>
        </p:txBody>
      </p:sp>
      <p:sp>
        <p:nvSpPr>
          <p:cNvPr id="238" name="Google Shape;238;p11"/>
          <p:cNvSpPr/>
          <p:nvPr/>
        </p:nvSpPr>
        <p:spPr>
          <a:xfrm>
            <a:off x="3246120" y="3886200"/>
            <a:ext cx="2606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300"/>
              <a:buFont typeface="Calibri"/>
              <a:buNone/>
            </a:pPr>
            <a:r>
              <a:rPr b="1" i="0" lang="en-US" sz="1300" u="none" cap="none" strike="noStrike">
                <a:solidFill>
                  <a:srgbClr val="14B8A6"/>
                </a:solidFill>
                <a:latin typeface="Calibri"/>
                <a:ea typeface="Calibri"/>
                <a:cs typeface="Calibri"/>
                <a:sym typeface="Calibri"/>
              </a:rPr>
              <a:t>Prediction Output</a:t>
            </a:r>
            <a:endParaRPr b="0" i="0" sz="1300" u="none" cap="none" strike="noStrike">
              <a:solidFill>
                <a:schemeClr val="dk1"/>
              </a:solidFill>
              <a:latin typeface="Calibri"/>
              <a:ea typeface="Calibri"/>
              <a:cs typeface="Calibri"/>
              <a:sym typeface="Calibri"/>
            </a:endParaRPr>
          </a:p>
        </p:txBody>
      </p:sp>
      <p:sp>
        <p:nvSpPr>
          <p:cNvPr id="239" name="Google Shape;239;p11"/>
          <p:cNvSpPr/>
          <p:nvPr/>
        </p:nvSpPr>
        <p:spPr>
          <a:xfrm>
            <a:off x="3246120" y="4206240"/>
            <a:ext cx="26060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Stay / Leave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prediction shown</a:t>
            </a:r>
            <a:endParaRPr b="0" i="0" sz="1100" u="none" cap="none" strike="noStrike">
              <a:solidFill>
                <a:schemeClr val="dk1"/>
              </a:solidFill>
              <a:latin typeface="Calibri"/>
              <a:ea typeface="Calibri"/>
              <a:cs typeface="Calibri"/>
              <a:sym typeface="Calibri"/>
            </a:endParaRPr>
          </a:p>
        </p:txBody>
      </p:sp>
      <p:sp>
        <p:nvSpPr>
          <p:cNvPr id="240" name="Google Shape;240;p11"/>
          <p:cNvSpPr/>
          <p:nvPr/>
        </p:nvSpPr>
        <p:spPr>
          <a:xfrm>
            <a:off x="6126480" y="3291840"/>
            <a:ext cx="2606040" cy="1600200"/>
          </a:xfrm>
          <a:prstGeom prst="rect">
            <a:avLst/>
          </a:prstGeom>
          <a:solidFill>
            <a:srgbClr val="1B3A5C"/>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6126480" y="342900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[Screenshot]</a:t>
            </a:r>
            <a:endParaRPr b="0" i="0" sz="1300" u="none" cap="none" strike="noStrike">
              <a:solidFill>
                <a:schemeClr val="dk1"/>
              </a:solidFill>
              <a:latin typeface="Calibri"/>
              <a:ea typeface="Calibri"/>
              <a:cs typeface="Calibri"/>
              <a:sym typeface="Calibri"/>
            </a:endParaRPr>
          </a:p>
        </p:txBody>
      </p:sp>
      <p:sp>
        <p:nvSpPr>
          <p:cNvPr id="242" name="Google Shape;242;p11"/>
          <p:cNvSpPr/>
          <p:nvPr/>
        </p:nvSpPr>
        <p:spPr>
          <a:xfrm>
            <a:off x="6126480" y="3886200"/>
            <a:ext cx="2606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300"/>
              <a:buFont typeface="Calibri"/>
              <a:buNone/>
            </a:pPr>
            <a:r>
              <a:rPr b="1" i="0" lang="en-US" sz="1300" u="none" cap="none" strike="noStrike">
                <a:solidFill>
                  <a:srgbClr val="14B8A6"/>
                </a:solidFill>
                <a:latin typeface="Calibri"/>
                <a:ea typeface="Calibri"/>
                <a:cs typeface="Calibri"/>
                <a:sym typeface="Calibri"/>
              </a:rPr>
              <a:t>Probability Graph</a:t>
            </a:r>
            <a:endParaRPr b="0" i="0" sz="1300" u="none" cap="none" strike="noStrike">
              <a:solidFill>
                <a:schemeClr val="dk1"/>
              </a:solidFill>
              <a:latin typeface="Calibri"/>
              <a:ea typeface="Calibri"/>
              <a:cs typeface="Calibri"/>
              <a:sym typeface="Calibri"/>
            </a:endParaRPr>
          </a:p>
        </p:txBody>
      </p:sp>
      <p:sp>
        <p:nvSpPr>
          <p:cNvPr id="243" name="Google Shape;243;p11"/>
          <p:cNvSpPr/>
          <p:nvPr/>
        </p:nvSpPr>
        <p:spPr>
          <a:xfrm>
            <a:off x="6126480" y="4206240"/>
            <a:ext cx="26060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Confidence score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visualized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48" name="Shape 248"/>
        <p:cNvGrpSpPr/>
        <p:nvPr/>
      </p:nvGrpSpPr>
      <p:grpSpPr>
        <a:xfrm>
          <a:off x="0" y="0"/>
          <a:ext cx="0" cy="0"/>
          <a:chOff x="0" y="0"/>
          <a:chExt cx="0" cy="0"/>
        </a:xfrm>
      </p:grpSpPr>
      <p:sp>
        <p:nvSpPr>
          <p:cNvPr id="249" name="Google Shape;249;p12"/>
          <p:cNvSpPr/>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3400"/>
              <a:buFont typeface="Calibri"/>
              <a:buNone/>
            </a:pPr>
            <a:r>
              <a:rPr b="1" i="0" lang="en-US" sz="3400" u="none" cap="none" strike="noStrike">
                <a:solidFill>
                  <a:srgbClr val="0D1B2A"/>
                </a:solidFill>
                <a:latin typeface="Calibri"/>
                <a:ea typeface="Calibri"/>
                <a:cs typeface="Calibri"/>
                <a:sym typeface="Calibri"/>
              </a:rPr>
              <a:t>Conclusions &amp; Limitations</a:t>
            </a:r>
            <a:endParaRPr b="0" i="0" sz="3400" u="none" cap="none" strike="noStrike">
              <a:solidFill>
                <a:schemeClr val="dk1"/>
              </a:solidFill>
              <a:latin typeface="Calibri"/>
              <a:ea typeface="Calibri"/>
              <a:cs typeface="Calibri"/>
              <a:sym typeface="Calibri"/>
            </a:endParaRPr>
          </a:p>
        </p:txBody>
      </p:sp>
      <p:sp>
        <p:nvSpPr>
          <p:cNvPr id="250" name="Google Shape;250;p12"/>
          <p:cNvSpPr/>
          <p:nvPr/>
        </p:nvSpPr>
        <p:spPr>
          <a:xfrm>
            <a:off x="457200" y="850392"/>
            <a:ext cx="8229600" cy="27432"/>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457200" y="96012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700"/>
              <a:buFont typeface="Calibri"/>
              <a:buNone/>
            </a:pPr>
            <a:r>
              <a:rPr b="1" i="0" lang="en-US" sz="1700" u="none" cap="none" strike="noStrike">
                <a:solidFill>
                  <a:srgbClr val="0D1B2A"/>
                </a:solidFill>
                <a:latin typeface="Calibri"/>
                <a:ea typeface="Calibri"/>
                <a:cs typeface="Calibri"/>
                <a:sym typeface="Calibri"/>
              </a:rPr>
              <a:t>Conclusions</a:t>
            </a:r>
            <a:endParaRPr b="0" i="0" sz="1700" u="none" cap="none" strike="noStrike">
              <a:solidFill>
                <a:schemeClr val="dk1"/>
              </a:solidFill>
              <a:latin typeface="Calibri"/>
              <a:ea typeface="Calibri"/>
              <a:cs typeface="Calibri"/>
              <a:sym typeface="Calibri"/>
            </a:endParaRPr>
          </a:p>
        </p:txBody>
      </p:sp>
      <p:pic>
        <p:nvPicPr>
          <p:cNvPr descr="preencoded.png" id="252" name="Google Shape;252;p12"/>
          <p:cNvPicPr preferRelativeResize="0"/>
          <p:nvPr/>
        </p:nvPicPr>
        <p:blipFill rotWithShape="1">
          <a:blip r:embed="rId3">
            <a:alphaModFix/>
          </a:blip>
          <a:srcRect b="0" l="0" r="0" t="0"/>
          <a:stretch/>
        </p:blipFill>
        <p:spPr>
          <a:xfrm>
            <a:off x="457200" y="1490472"/>
            <a:ext cx="320040" cy="320040"/>
          </a:xfrm>
          <a:prstGeom prst="rect">
            <a:avLst/>
          </a:prstGeom>
          <a:noFill/>
          <a:ln>
            <a:noFill/>
          </a:ln>
        </p:spPr>
      </p:pic>
      <p:sp>
        <p:nvSpPr>
          <p:cNvPr id="253" name="Google Shape;253;p12"/>
          <p:cNvSpPr/>
          <p:nvPr/>
        </p:nvSpPr>
        <p:spPr>
          <a:xfrm>
            <a:off x="868680" y="1417320"/>
            <a:ext cx="3657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0" i="0" lang="en-US" sz="1300" u="none" cap="none" strike="noStrike">
                <a:solidFill>
                  <a:srgbClr val="0D1B2A"/>
                </a:solidFill>
                <a:latin typeface="Calibri"/>
                <a:ea typeface="Calibri"/>
                <a:cs typeface="Calibri"/>
                <a:sym typeface="Calibri"/>
              </a:rPr>
              <a:t>XGBoost achieved the best accuracy (88.1%) and F1-Score (0.84)</a:t>
            </a:r>
            <a:endParaRPr b="0" i="0" sz="1300" u="none" cap="none" strike="noStrike">
              <a:solidFill>
                <a:schemeClr val="dk1"/>
              </a:solidFill>
              <a:latin typeface="Calibri"/>
              <a:ea typeface="Calibri"/>
              <a:cs typeface="Calibri"/>
              <a:sym typeface="Calibri"/>
            </a:endParaRPr>
          </a:p>
        </p:txBody>
      </p:sp>
      <p:pic>
        <p:nvPicPr>
          <p:cNvPr descr="preencoded.png" id="254" name="Google Shape;254;p12"/>
          <p:cNvPicPr preferRelativeResize="0"/>
          <p:nvPr/>
        </p:nvPicPr>
        <p:blipFill rotWithShape="1">
          <a:blip r:embed="rId3">
            <a:alphaModFix/>
          </a:blip>
          <a:srcRect b="0" l="0" r="0" t="0"/>
          <a:stretch/>
        </p:blipFill>
        <p:spPr>
          <a:xfrm>
            <a:off x="457200" y="2176272"/>
            <a:ext cx="320040" cy="320040"/>
          </a:xfrm>
          <a:prstGeom prst="rect">
            <a:avLst/>
          </a:prstGeom>
          <a:noFill/>
          <a:ln>
            <a:noFill/>
          </a:ln>
        </p:spPr>
      </p:pic>
      <p:sp>
        <p:nvSpPr>
          <p:cNvPr id="255" name="Google Shape;255;p12"/>
          <p:cNvSpPr/>
          <p:nvPr/>
        </p:nvSpPr>
        <p:spPr>
          <a:xfrm>
            <a:off x="868680" y="2103120"/>
            <a:ext cx="3657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0" i="0" lang="en-US" sz="1300" u="none" cap="none" strike="noStrike">
                <a:solidFill>
                  <a:srgbClr val="0D1B2A"/>
                </a:solidFill>
                <a:latin typeface="Calibri"/>
                <a:ea typeface="Calibri"/>
                <a:cs typeface="Calibri"/>
                <a:sym typeface="Calibri"/>
              </a:rPr>
              <a:t>Overtime and low salary are the top drivers of attrition</a:t>
            </a:r>
            <a:endParaRPr b="0" i="0" sz="1300" u="none" cap="none" strike="noStrike">
              <a:solidFill>
                <a:schemeClr val="dk1"/>
              </a:solidFill>
              <a:latin typeface="Calibri"/>
              <a:ea typeface="Calibri"/>
              <a:cs typeface="Calibri"/>
              <a:sym typeface="Calibri"/>
            </a:endParaRPr>
          </a:p>
        </p:txBody>
      </p:sp>
      <p:pic>
        <p:nvPicPr>
          <p:cNvPr descr="preencoded.png" id="256" name="Google Shape;256;p12"/>
          <p:cNvPicPr preferRelativeResize="0"/>
          <p:nvPr/>
        </p:nvPicPr>
        <p:blipFill rotWithShape="1">
          <a:blip r:embed="rId3">
            <a:alphaModFix/>
          </a:blip>
          <a:srcRect b="0" l="0" r="0" t="0"/>
          <a:stretch/>
        </p:blipFill>
        <p:spPr>
          <a:xfrm>
            <a:off x="457200" y="2862072"/>
            <a:ext cx="320040" cy="320040"/>
          </a:xfrm>
          <a:prstGeom prst="rect">
            <a:avLst/>
          </a:prstGeom>
          <a:noFill/>
          <a:ln>
            <a:noFill/>
          </a:ln>
        </p:spPr>
      </p:pic>
      <p:sp>
        <p:nvSpPr>
          <p:cNvPr id="257" name="Google Shape;257;p12"/>
          <p:cNvSpPr/>
          <p:nvPr/>
        </p:nvSpPr>
        <p:spPr>
          <a:xfrm>
            <a:off x="868680" y="2788920"/>
            <a:ext cx="3657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0" i="0" lang="en-US" sz="1300" u="none" cap="none" strike="noStrike">
                <a:solidFill>
                  <a:srgbClr val="0D1B2A"/>
                </a:solidFill>
                <a:latin typeface="Calibri"/>
                <a:ea typeface="Calibri"/>
                <a:cs typeface="Calibri"/>
                <a:sym typeface="Calibri"/>
              </a:rPr>
              <a:t>SHAP provides actionable, interpretable insights for HR teams</a:t>
            </a:r>
            <a:endParaRPr b="0" i="0" sz="1300" u="none" cap="none" strike="noStrike">
              <a:solidFill>
                <a:schemeClr val="dk1"/>
              </a:solidFill>
              <a:latin typeface="Calibri"/>
              <a:ea typeface="Calibri"/>
              <a:cs typeface="Calibri"/>
              <a:sym typeface="Calibri"/>
            </a:endParaRPr>
          </a:p>
        </p:txBody>
      </p:sp>
      <p:pic>
        <p:nvPicPr>
          <p:cNvPr descr="preencoded.png" id="258" name="Google Shape;258;p12"/>
          <p:cNvPicPr preferRelativeResize="0"/>
          <p:nvPr/>
        </p:nvPicPr>
        <p:blipFill rotWithShape="1">
          <a:blip r:embed="rId3">
            <a:alphaModFix/>
          </a:blip>
          <a:srcRect b="0" l="0" r="0" t="0"/>
          <a:stretch/>
        </p:blipFill>
        <p:spPr>
          <a:xfrm>
            <a:off x="457200" y="3547872"/>
            <a:ext cx="320040" cy="320040"/>
          </a:xfrm>
          <a:prstGeom prst="rect">
            <a:avLst/>
          </a:prstGeom>
          <a:noFill/>
          <a:ln>
            <a:noFill/>
          </a:ln>
        </p:spPr>
      </p:pic>
      <p:sp>
        <p:nvSpPr>
          <p:cNvPr id="259" name="Google Shape;259;p12"/>
          <p:cNvSpPr/>
          <p:nvPr/>
        </p:nvSpPr>
        <p:spPr>
          <a:xfrm>
            <a:off x="868680" y="3474720"/>
            <a:ext cx="3657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0" i="0" lang="en-US" sz="1300" u="none" cap="none" strike="noStrike">
                <a:solidFill>
                  <a:srgbClr val="0D1B2A"/>
                </a:solidFill>
                <a:latin typeface="Calibri"/>
                <a:ea typeface="Calibri"/>
                <a:cs typeface="Calibri"/>
                <a:sym typeface="Calibri"/>
              </a:rPr>
              <a:t>Streamlit app enables real-time, user-friendly predictions</a:t>
            </a:r>
            <a:endParaRPr b="0" i="0" sz="1300" u="none" cap="none" strike="noStrike">
              <a:solidFill>
                <a:schemeClr val="dk1"/>
              </a:solidFill>
              <a:latin typeface="Calibri"/>
              <a:ea typeface="Calibri"/>
              <a:cs typeface="Calibri"/>
              <a:sym typeface="Calibri"/>
            </a:endParaRPr>
          </a:p>
        </p:txBody>
      </p:sp>
      <p:sp>
        <p:nvSpPr>
          <p:cNvPr id="260" name="Google Shape;260;p12"/>
          <p:cNvSpPr/>
          <p:nvPr/>
        </p:nvSpPr>
        <p:spPr>
          <a:xfrm>
            <a:off x="4846320" y="960120"/>
            <a:ext cx="3931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700"/>
              <a:buFont typeface="Calibri"/>
              <a:buNone/>
            </a:pPr>
            <a:r>
              <a:rPr b="1" i="0" lang="en-US" sz="1700" u="none" cap="none" strike="noStrike">
                <a:solidFill>
                  <a:srgbClr val="0D1B2A"/>
                </a:solidFill>
                <a:latin typeface="Calibri"/>
                <a:ea typeface="Calibri"/>
                <a:cs typeface="Calibri"/>
                <a:sym typeface="Calibri"/>
              </a:rPr>
              <a:t>Limitations</a:t>
            </a:r>
            <a:endParaRPr b="0" i="0" sz="1700" u="none" cap="none" strike="noStrike">
              <a:solidFill>
                <a:schemeClr val="dk1"/>
              </a:solidFill>
              <a:latin typeface="Calibri"/>
              <a:ea typeface="Calibri"/>
              <a:cs typeface="Calibri"/>
              <a:sym typeface="Calibri"/>
            </a:endParaRPr>
          </a:p>
        </p:txBody>
      </p:sp>
      <p:pic>
        <p:nvPicPr>
          <p:cNvPr descr="preencoded.png" id="261" name="Google Shape;261;p12"/>
          <p:cNvPicPr preferRelativeResize="0"/>
          <p:nvPr/>
        </p:nvPicPr>
        <p:blipFill rotWithShape="1">
          <a:blip r:embed="rId4">
            <a:alphaModFix/>
          </a:blip>
          <a:srcRect b="0" l="0" r="0" t="0"/>
          <a:stretch/>
        </p:blipFill>
        <p:spPr>
          <a:xfrm>
            <a:off x="4846320" y="1490472"/>
            <a:ext cx="320040" cy="320040"/>
          </a:xfrm>
          <a:prstGeom prst="rect">
            <a:avLst/>
          </a:prstGeom>
          <a:noFill/>
          <a:ln>
            <a:noFill/>
          </a:ln>
        </p:spPr>
      </p:pic>
      <p:sp>
        <p:nvSpPr>
          <p:cNvPr id="262" name="Google Shape;262;p12"/>
          <p:cNvSpPr/>
          <p:nvPr/>
        </p:nvSpPr>
        <p:spPr>
          <a:xfrm>
            <a:off x="5257800" y="1417320"/>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0" i="0" lang="en-US" sz="1300" u="none" cap="none" strike="noStrike">
                <a:solidFill>
                  <a:srgbClr val="0D1B2A"/>
                </a:solidFill>
                <a:latin typeface="Calibri"/>
                <a:ea typeface="Calibri"/>
                <a:cs typeface="Calibri"/>
                <a:sym typeface="Calibri"/>
              </a:rPr>
              <a:t>Class imbalance — minority class underrepresented</a:t>
            </a:r>
            <a:endParaRPr b="0" i="0" sz="1300" u="none" cap="none" strike="noStrike">
              <a:solidFill>
                <a:schemeClr val="dk1"/>
              </a:solidFill>
              <a:latin typeface="Calibri"/>
              <a:ea typeface="Calibri"/>
              <a:cs typeface="Calibri"/>
              <a:sym typeface="Calibri"/>
            </a:endParaRPr>
          </a:p>
        </p:txBody>
      </p:sp>
      <p:pic>
        <p:nvPicPr>
          <p:cNvPr descr="preencoded.png" id="263" name="Google Shape;263;p12"/>
          <p:cNvPicPr preferRelativeResize="0"/>
          <p:nvPr/>
        </p:nvPicPr>
        <p:blipFill rotWithShape="1">
          <a:blip r:embed="rId4">
            <a:alphaModFix/>
          </a:blip>
          <a:srcRect b="0" l="0" r="0" t="0"/>
          <a:stretch/>
        </p:blipFill>
        <p:spPr>
          <a:xfrm>
            <a:off x="4846320" y="2176272"/>
            <a:ext cx="320040" cy="320040"/>
          </a:xfrm>
          <a:prstGeom prst="rect">
            <a:avLst/>
          </a:prstGeom>
          <a:noFill/>
          <a:ln>
            <a:noFill/>
          </a:ln>
        </p:spPr>
      </p:pic>
      <p:sp>
        <p:nvSpPr>
          <p:cNvPr id="264" name="Google Shape;264;p12"/>
          <p:cNvSpPr/>
          <p:nvPr/>
        </p:nvSpPr>
        <p:spPr>
          <a:xfrm>
            <a:off x="5257800" y="2103120"/>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0" i="0" lang="en-US" sz="1300" u="none" cap="none" strike="noStrike">
                <a:solidFill>
                  <a:srgbClr val="0D1B2A"/>
                </a:solidFill>
                <a:latin typeface="Calibri"/>
                <a:ea typeface="Calibri"/>
                <a:cs typeface="Calibri"/>
                <a:sym typeface="Calibri"/>
              </a:rPr>
              <a:t>Dataset limited to IBM; may not generalize universally</a:t>
            </a:r>
            <a:endParaRPr b="0" i="0" sz="1300" u="none" cap="none" strike="noStrike">
              <a:solidFill>
                <a:schemeClr val="dk1"/>
              </a:solidFill>
              <a:latin typeface="Calibri"/>
              <a:ea typeface="Calibri"/>
              <a:cs typeface="Calibri"/>
              <a:sym typeface="Calibri"/>
            </a:endParaRPr>
          </a:p>
        </p:txBody>
      </p:sp>
      <p:pic>
        <p:nvPicPr>
          <p:cNvPr descr="preencoded.png" id="265" name="Google Shape;265;p12"/>
          <p:cNvPicPr preferRelativeResize="0"/>
          <p:nvPr/>
        </p:nvPicPr>
        <p:blipFill rotWithShape="1">
          <a:blip r:embed="rId4">
            <a:alphaModFix/>
          </a:blip>
          <a:srcRect b="0" l="0" r="0" t="0"/>
          <a:stretch/>
        </p:blipFill>
        <p:spPr>
          <a:xfrm>
            <a:off x="4846320" y="2862072"/>
            <a:ext cx="320040" cy="320040"/>
          </a:xfrm>
          <a:prstGeom prst="rect">
            <a:avLst/>
          </a:prstGeom>
          <a:noFill/>
          <a:ln>
            <a:noFill/>
          </a:ln>
        </p:spPr>
      </p:pic>
      <p:sp>
        <p:nvSpPr>
          <p:cNvPr id="266" name="Google Shape;266;p12"/>
          <p:cNvSpPr/>
          <p:nvPr/>
        </p:nvSpPr>
        <p:spPr>
          <a:xfrm>
            <a:off x="5257800" y="2788920"/>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0" i="0" lang="en-US" sz="1300" u="none" cap="none" strike="noStrike">
                <a:solidFill>
                  <a:srgbClr val="0D1B2A"/>
                </a:solidFill>
                <a:latin typeface="Calibri"/>
                <a:ea typeface="Calibri"/>
                <a:cs typeface="Calibri"/>
                <a:sym typeface="Calibri"/>
              </a:rPr>
              <a:t>Static model — does not adapt to real-time changes</a:t>
            </a:r>
            <a:endParaRPr b="0" i="0" sz="1300" u="none" cap="none" strike="noStrike">
              <a:solidFill>
                <a:schemeClr val="dk1"/>
              </a:solidFill>
              <a:latin typeface="Calibri"/>
              <a:ea typeface="Calibri"/>
              <a:cs typeface="Calibri"/>
              <a:sym typeface="Calibri"/>
            </a:endParaRPr>
          </a:p>
        </p:txBody>
      </p:sp>
      <p:pic>
        <p:nvPicPr>
          <p:cNvPr descr="preencoded.png" id="267" name="Google Shape;267;p12"/>
          <p:cNvPicPr preferRelativeResize="0"/>
          <p:nvPr/>
        </p:nvPicPr>
        <p:blipFill rotWithShape="1">
          <a:blip r:embed="rId4">
            <a:alphaModFix/>
          </a:blip>
          <a:srcRect b="0" l="0" r="0" t="0"/>
          <a:stretch/>
        </p:blipFill>
        <p:spPr>
          <a:xfrm>
            <a:off x="4846320" y="3547872"/>
            <a:ext cx="320040" cy="320040"/>
          </a:xfrm>
          <a:prstGeom prst="rect">
            <a:avLst/>
          </a:prstGeom>
          <a:noFill/>
          <a:ln>
            <a:noFill/>
          </a:ln>
        </p:spPr>
      </p:pic>
      <p:sp>
        <p:nvSpPr>
          <p:cNvPr id="268" name="Google Shape;268;p12"/>
          <p:cNvSpPr/>
          <p:nvPr/>
        </p:nvSpPr>
        <p:spPr>
          <a:xfrm>
            <a:off x="5257800" y="3474720"/>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0" i="0" lang="en-US" sz="1300" u="none" cap="none" strike="noStrike">
                <a:solidFill>
                  <a:srgbClr val="0D1B2A"/>
                </a:solidFill>
                <a:latin typeface="Calibri"/>
                <a:ea typeface="Calibri"/>
                <a:cs typeface="Calibri"/>
                <a:sym typeface="Calibri"/>
              </a:rPr>
              <a:t>No temporal features (e.g., performance trends)</a:t>
            </a:r>
            <a:endParaRPr b="0" i="0" sz="1300" u="none" cap="none" strike="noStrike">
              <a:solidFill>
                <a:schemeClr val="dk1"/>
              </a:solidFill>
              <a:latin typeface="Calibri"/>
              <a:ea typeface="Calibri"/>
              <a:cs typeface="Calibri"/>
              <a:sym typeface="Calibri"/>
            </a:endParaRPr>
          </a:p>
        </p:txBody>
      </p:sp>
      <p:cxnSp>
        <p:nvCxnSpPr>
          <p:cNvPr id="269" name="Google Shape;269;p12"/>
          <p:cNvCxnSpPr/>
          <p:nvPr/>
        </p:nvCxnSpPr>
        <p:spPr>
          <a:xfrm>
            <a:off x="4572000" y="960120"/>
            <a:ext cx="0" cy="3200400"/>
          </a:xfrm>
          <a:prstGeom prst="straightConnector1">
            <a:avLst/>
          </a:prstGeom>
          <a:noFill/>
          <a:ln cap="flat" cmpd="sng" w="19050">
            <a:solidFill>
              <a:srgbClr val="E2E8F0"/>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74" name="Shape 274"/>
        <p:cNvGrpSpPr/>
        <p:nvPr/>
      </p:nvGrpSpPr>
      <p:grpSpPr>
        <a:xfrm>
          <a:off x="0" y="0"/>
          <a:ext cx="0" cy="0"/>
          <a:chOff x="0" y="0"/>
          <a:chExt cx="0" cy="0"/>
        </a:xfrm>
      </p:grpSpPr>
      <p:sp>
        <p:nvSpPr>
          <p:cNvPr id="275" name="Google Shape;275;p13"/>
          <p:cNvSpPr/>
          <p:nvPr/>
        </p:nvSpPr>
        <p:spPr>
          <a:xfrm>
            <a:off x="0" y="0"/>
            <a:ext cx="164592" cy="5143500"/>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3"/>
          <p:cNvSpPr/>
          <p:nvPr/>
        </p:nvSpPr>
        <p:spPr>
          <a:xfrm>
            <a:off x="457200" y="22860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Future Work</a:t>
            </a:r>
            <a:endParaRPr b="0" i="0" sz="3400" u="none" cap="none" strike="noStrike">
              <a:solidFill>
                <a:schemeClr val="dk1"/>
              </a:solidFill>
              <a:latin typeface="Calibri"/>
              <a:ea typeface="Calibri"/>
              <a:cs typeface="Calibri"/>
              <a:sym typeface="Calibri"/>
            </a:endParaRPr>
          </a:p>
        </p:txBody>
      </p:sp>
      <p:pic>
        <p:nvPicPr>
          <p:cNvPr descr="preencoded.png" id="277" name="Google Shape;277;p13"/>
          <p:cNvPicPr preferRelativeResize="0"/>
          <p:nvPr/>
        </p:nvPicPr>
        <p:blipFill rotWithShape="1">
          <a:blip r:embed="rId3">
            <a:alphaModFix/>
          </a:blip>
          <a:srcRect b="0" l="0" r="0" t="0"/>
          <a:stretch/>
        </p:blipFill>
        <p:spPr>
          <a:xfrm>
            <a:off x="8046720" y="182880"/>
            <a:ext cx="731520" cy="731520"/>
          </a:xfrm>
          <a:prstGeom prst="rect">
            <a:avLst/>
          </a:prstGeom>
          <a:noFill/>
          <a:ln>
            <a:noFill/>
          </a:ln>
        </p:spPr>
      </p:pic>
      <p:sp>
        <p:nvSpPr>
          <p:cNvPr id="278" name="Google Shape;278;p13"/>
          <p:cNvSpPr/>
          <p:nvPr/>
        </p:nvSpPr>
        <p:spPr>
          <a:xfrm>
            <a:off x="365760" y="960120"/>
            <a:ext cx="3931920" cy="1188720"/>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9" name="Google Shape;279;p13"/>
          <p:cNvPicPr preferRelativeResize="0"/>
          <p:nvPr/>
        </p:nvPicPr>
        <p:blipFill rotWithShape="1">
          <a:blip r:embed="rId4">
            <a:alphaModFix/>
          </a:blip>
          <a:srcRect b="0" l="0" r="0" t="0"/>
          <a:stretch/>
        </p:blipFill>
        <p:spPr>
          <a:xfrm>
            <a:off x="475488" y="1353312"/>
            <a:ext cx="384048" cy="384048"/>
          </a:xfrm>
          <a:prstGeom prst="rect">
            <a:avLst/>
          </a:prstGeom>
          <a:noFill/>
          <a:ln>
            <a:noFill/>
          </a:ln>
        </p:spPr>
      </p:pic>
      <p:sp>
        <p:nvSpPr>
          <p:cNvPr id="280" name="Google Shape;280;p13"/>
          <p:cNvSpPr/>
          <p:nvPr/>
        </p:nvSpPr>
        <p:spPr>
          <a:xfrm>
            <a:off x="960120" y="1051560"/>
            <a:ext cx="321868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SMOTE / Class Balancing</a:t>
            </a:r>
            <a:endParaRPr b="0" i="0" sz="1400" u="none" cap="none" strike="noStrike">
              <a:solidFill>
                <a:schemeClr val="dk1"/>
              </a:solidFill>
              <a:latin typeface="Calibri"/>
              <a:ea typeface="Calibri"/>
              <a:cs typeface="Calibri"/>
              <a:sym typeface="Calibri"/>
            </a:endParaRPr>
          </a:p>
        </p:txBody>
      </p:sp>
      <p:sp>
        <p:nvSpPr>
          <p:cNvPr id="281" name="Google Shape;281;p13"/>
          <p:cNvSpPr/>
          <p:nvPr/>
        </p:nvSpPr>
        <p:spPr>
          <a:xfrm>
            <a:off x="960120" y="1435608"/>
            <a:ext cx="321868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Apply oversampling to handle class imbalance and improve recall on the minority class.</a:t>
            </a:r>
            <a:endParaRPr b="0" i="0" sz="1100" u="none" cap="none" strike="noStrike">
              <a:solidFill>
                <a:schemeClr val="dk1"/>
              </a:solidFill>
              <a:latin typeface="Calibri"/>
              <a:ea typeface="Calibri"/>
              <a:cs typeface="Calibri"/>
              <a:sym typeface="Calibri"/>
            </a:endParaRPr>
          </a:p>
        </p:txBody>
      </p:sp>
      <p:sp>
        <p:nvSpPr>
          <p:cNvPr id="282" name="Google Shape;282;p13"/>
          <p:cNvSpPr/>
          <p:nvPr/>
        </p:nvSpPr>
        <p:spPr>
          <a:xfrm>
            <a:off x="365760" y="2286000"/>
            <a:ext cx="3931920" cy="1188720"/>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3" name="Google Shape;283;p13"/>
          <p:cNvPicPr preferRelativeResize="0"/>
          <p:nvPr/>
        </p:nvPicPr>
        <p:blipFill rotWithShape="1">
          <a:blip r:embed="rId5">
            <a:alphaModFix/>
          </a:blip>
          <a:srcRect b="0" l="0" r="0" t="0"/>
          <a:stretch/>
        </p:blipFill>
        <p:spPr>
          <a:xfrm>
            <a:off x="475488" y="2679192"/>
            <a:ext cx="384048" cy="384048"/>
          </a:xfrm>
          <a:prstGeom prst="rect">
            <a:avLst/>
          </a:prstGeom>
          <a:noFill/>
          <a:ln>
            <a:noFill/>
          </a:ln>
        </p:spPr>
      </p:pic>
      <p:sp>
        <p:nvSpPr>
          <p:cNvPr id="284" name="Google Shape;284;p13"/>
          <p:cNvSpPr/>
          <p:nvPr/>
        </p:nvSpPr>
        <p:spPr>
          <a:xfrm>
            <a:off x="960120" y="2377440"/>
            <a:ext cx="321868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Deep Learning Models</a:t>
            </a:r>
            <a:endParaRPr b="0" i="0" sz="1400" u="none" cap="none" strike="noStrike">
              <a:solidFill>
                <a:schemeClr val="dk1"/>
              </a:solidFill>
              <a:latin typeface="Calibri"/>
              <a:ea typeface="Calibri"/>
              <a:cs typeface="Calibri"/>
              <a:sym typeface="Calibri"/>
            </a:endParaRPr>
          </a:p>
        </p:txBody>
      </p:sp>
      <p:sp>
        <p:nvSpPr>
          <p:cNvPr id="285" name="Google Shape;285;p13"/>
          <p:cNvSpPr/>
          <p:nvPr/>
        </p:nvSpPr>
        <p:spPr>
          <a:xfrm>
            <a:off x="960120" y="2761488"/>
            <a:ext cx="321868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Explore LSTM / Transformer-based models for time-series attrition prediction.</a:t>
            </a:r>
            <a:endParaRPr b="0" i="0" sz="1100" u="none" cap="none" strike="noStrike">
              <a:solidFill>
                <a:schemeClr val="dk1"/>
              </a:solidFill>
              <a:latin typeface="Calibri"/>
              <a:ea typeface="Calibri"/>
              <a:cs typeface="Calibri"/>
              <a:sym typeface="Calibri"/>
            </a:endParaRPr>
          </a:p>
        </p:txBody>
      </p:sp>
      <p:sp>
        <p:nvSpPr>
          <p:cNvPr id="286" name="Google Shape;286;p13"/>
          <p:cNvSpPr/>
          <p:nvPr/>
        </p:nvSpPr>
        <p:spPr>
          <a:xfrm>
            <a:off x="365760" y="3611880"/>
            <a:ext cx="3931920" cy="1188720"/>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7" name="Google Shape;287;p13"/>
          <p:cNvPicPr preferRelativeResize="0"/>
          <p:nvPr/>
        </p:nvPicPr>
        <p:blipFill rotWithShape="1">
          <a:blip r:embed="rId6">
            <a:alphaModFix/>
          </a:blip>
          <a:srcRect b="0" l="0" r="0" t="0"/>
          <a:stretch/>
        </p:blipFill>
        <p:spPr>
          <a:xfrm>
            <a:off x="475488" y="4005072"/>
            <a:ext cx="384048" cy="384048"/>
          </a:xfrm>
          <a:prstGeom prst="rect">
            <a:avLst/>
          </a:prstGeom>
          <a:noFill/>
          <a:ln>
            <a:noFill/>
          </a:ln>
        </p:spPr>
      </p:pic>
      <p:sp>
        <p:nvSpPr>
          <p:cNvPr id="288" name="Google Shape;288;p13"/>
          <p:cNvSpPr/>
          <p:nvPr/>
        </p:nvSpPr>
        <p:spPr>
          <a:xfrm>
            <a:off x="960120" y="3703320"/>
            <a:ext cx="321868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Real-time Data Integration</a:t>
            </a:r>
            <a:endParaRPr b="0" i="0" sz="1400" u="none" cap="none" strike="noStrike">
              <a:solidFill>
                <a:schemeClr val="dk1"/>
              </a:solidFill>
              <a:latin typeface="Calibri"/>
              <a:ea typeface="Calibri"/>
              <a:cs typeface="Calibri"/>
              <a:sym typeface="Calibri"/>
            </a:endParaRPr>
          </a:p>
        </p:txBody>
      </p:sp>
      <p:sp>
        <p:nvSpPr>
          <p:cNvPr id="289" name="Google Shape;289;p13"/>
          <p:cNvSpPr/>
          <p:nvPr/>
        </p:nvSpPr>
        <p:spPr>
          <a:xfrm>
            <a:off x="960120" y="4087368"/>
            <a:ext cx="321868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Connect to live HR systems for dynamic, up-to-date predictions and monitoring.</a:t>
            </a:r>
            <a:endParaRPr b="0" i="0" sz="1100" u="none" cap="none" strike="noStrike">
              <a:solidFill>
                <a:schemeClr val="dk1"/>
              </a:solidFill>
              <a:latin typeface="Calibri"/>
              <a:ea typeface="Calibri"/>
              <a:cs typeface="Calibri"/>
              <a:sym typeface="Calibri"/>
            </a:endParaRPr>
          </a:p>
        </p:txBody>
      </p:sp>
      <p:sp>
        <p:nvSpPr>
          <p:cNvPr id="290" name="Google Shape;290;p13"/>
          <p:cNvSpPr/>
          <p:nvPr/>
        </p:nvSpPr>
        <p:spPr>
          <a:xfrm>
            <a:off x="4800600" y="960120"/>
            <a:ext cx="3931920" cy="1188720"/>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1" name="Google Shape;291;p13"/>
          <p:cNvPicPr preferRelativeResize="0"/>
          <p:nvPr/>
        </p:nvPicPr>
        <p:blipFill rotWithShape="1">
          <a:blip r:embed="rId7">
            <a:alphaModFix/>
          </a:blip>
          <a:srcRect b="0" l="0" r="0" t="0"/>
          <a:stretch/>
        </p:blipFill>
        <p:spPr>
          <a:xfrm>
            <a:off x="4910328" y="1353312"/>
            <a:ext cx="384048" cy="384048"/>
          </a:xfrm>
          <a:prstGeom prst="rect">
            <a:avLst/>
          </a:prstGeom>
          <a:noFill/>
          <a:ln>
            <a:noFill/>
          </a:ln>
        </p:spPr>
      </p:pic>
      <p:sp>
        <p:nvSpPr>
          <p:cNvPr id="292" name="Google Shape;292;p13"/>
          <p:cNvSpPr/>
          <p:nvPr/>
        </p:nvSpPr>
        <p:spPr>
          <a:xfrm>
            <a:off x="5394960" y="1051560"/>
            <a:ext cx="321868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Personalized Intervention</a:t>
            </a:r>
            <a:endParaRPr b="0" i="0" sz="1400" u="none" cap="none" strike="noStrike">
              <a:solidFill>
                <a:schemeClr val="dk1"/>
              </a:solidFill>
              <a:latin typeface="Calibri"/>
              <a:ea typeface="Calibri"/>
              <a:cs typeface="Calibri"/>
              <a:sym typeface="Calibri"/>
            </a:endParaRPr>
          </a:p>
        </p:txBody>
      </p:sp>
      <p:sp>
        <p:nvSpPr>
          <p:cNvPr id="293" name="Google Shape;293;p13"/>
          <p:cNvSpPr/>
          <p:nvPr/>
        </p:nvSpPr>
        <p:spPr>
          <a:xfrm>
            <a:off x="5394960" y="1435608"/>
            <a:ext cx="321868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Generate employee-specific retention strategies based on SHAP explanations.</a:t>
            </a:r>
            <a:endParaRPr b="0" i="0" sz="1100" u="none" cap="none" strike="noStrike">
              <a:solidFill>
                <a:schemeClr val="dk1"/>
              </a:solidFill>
              <a:latin typeface="Calibri"/>
              <a:ea typeface="Calibri"/>
              <a:cs typeface="Calibri"/>
              <a:sym typeface="Calibri"/>
            </a:endParaRPr>
          </a:p>
        </p:txBody>
      </p:sp>
      <p:sp>
        <p:nvSpPr>
          <p:cNvPr id="294" name="Google Shape;294;p13"/>
          <p:cNvSpPr/>
          <p:nvPr/>
        </p:nvSpPr>
        <p:spPr>
          <a:xfrm>
            <a:off x="4800600" y="2286000"/>
            <a:ext cx="3931920" cy="1188720"/>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5" name="Google Shape;295;p13"/>
          <p:cNvPicPr preferRelativeResize="0"/>
          <p:nvPr/>
        </p:nvPicPr>
        <p:blipFill rotWithShape="1">
          <a:blip r:embed="rId8">
            <a:alphaModFix/>
          </a:blip>
          <a:srcRect b="0" l="0" r="0" t="0"/>
          <a:stretch/>
        </p:blipFill>
        <p:spPr>
          <a:xfrm>
            <a:off x="4910328" y="2679192"/>
            <a:ext cx="384048" cy="384048"/>
          </a:xfrm>
          <a:prstGeom prst="rect">
            <a:avLst/>
          </a:prstGeom>
          <a:noFill/>
          <a:ln>
            <a:noFill/>
          </a:ln>
        </p:spPr>
      </p:pic>
      <p:sp>
        <p:nvSpPr>
          <p:cNvPr id="296" name="Google Shape;296;p13"/>
          <p:cNvSpPr/>
          <p:nvPr/>
        </p:nvSpPr>
        <p:spPr>
          <a:xfrm>
            <a:off x="5394960" y="2377440"/>
            <a:ext cx="321868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Multi-company Dataset</a:t>
            </a:r>
            <a:endParaRPr b="0" i="0" sz="1400" u="none" cap="none" strike="noStrike">
              <a:solidFill>
                <a:schemeClr val="dk1"/>
              </a:solidFill>
              <a:latin typeface="Calibri"/>
              <a:ea typeface="Calibri"/>
              <a:cs typeface="Calibri"/>
              <a:sym typeface="Calibri"/>
            </a:endParaRPr>
          </a:p>
        </p:txBody>
      </p:sp>
      <p:sp>
        <p:nvSpPr>
          <p:cNvPr id="297" name="Google Shape;297;p13"/>
          <p:cNvSpPr/>
          <p:nvPr/>
        </p:nvSpPr>
        <p:spPr>
          <a:xfrm>
            <a:off x="5394960" y="2761488"/>
            <a:ext cx="321868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Validate the model on diverse datasets across industries for broader generalization.</a:t>
            </a:r>
            <a:endParaRPr b="0" i="0" sz="1100" u="none" cap="none" strike="noStrike">
              <a:solidFill>
                <a:schemeClr val="dk1"/>
              </a:solidFill>
              <a:latin typeface="Calibri"/>
              <a:ea typeface="Calibri"/>
              <a:cs typeface="Calibri"/>
              <a:sym typeface="Calibri"/>
            </a:endParaRPr>
          </a:p>
        </p:txBody>
      </p:sp>
      <p:sp>
        <p:nvSpPr>
          <p:cNvPr id="298" name="Google Shape;298;p13"/>
          <p:cNvSpPr/>
          <p:nvPr/>
        </p:nvSpPr>
        <p:spPr>
          <a:xfrm>
            <a:off x="4800600" y="3611880"/>
            <a:ext cx="3931920" cy="1188720"/>
          </a:xfrm>
          <a:prstGeom prst="rect">
            <a:avLst/>
          </a:prstGeom>
          <a:solidFill>
            <a:srgbClr val="1B3A5C"/>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13"/>
          <p:cNvPicPr preferRelativeResize="0"/>
          <p:nvPr/>
        </p:nvPicPr>
        <p:blipFill rotWithShape="1">
          <a:blip r:embed="rId9">
            <a:alphaModFix/>
          </a:blip>
          <a:srcRect b="0" l="0" r="0" t="0"/>
          <a:stretch/>
        </p:blipFill>
        <p:spPr>
          <a:xfrm>
            <a:off x="4910328" y="4005072"/>
            <a:ext cx="384048" cy="384048"/>
          </a:xfrm>
          <a:prstGeom prst="rect">
            <a:avLst/>
          </a:prstGeom>
          <a:noFill/>
          <a:ln>
            <a:noFill/>
          </a:ln>
        </p:spPr>
      </p:pic>
      <p:sp>
        <p:nvSpPr>
          <p:cNvPr id="300" name="Google Shape;300;p13"/>
          <p:cNvSpPr/>
          <p:nvPr/>
        </p:nvSpPr>
        <p:spPr>
          <a:xfrm>
            <a:off x="5394960" y="3703320"/>
            <a:ext cx="321868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1" i="0" lang="en-US" sz="1400" u="none" cap="none" strike="noStrike">
                <a:solidFill>
                  <a:srgbClr val="14B8A6"/>
                </a:solidFill>
                <a:latin typeface="Calibri"/>
                <a:ea typeface="Calibri"/>
                <a:cs typeface="Calibri"/>
                <a:sym typeface="Calibri"/>
              </a:rPr>
              <a:t>Interactive Dashboard</a:t>
            </a:r>
            <a:endParaRPr b="0" i="0" sz="1400" u="none" cap="none" strike="noStrike">
              <a:solidFill>
                <a:schemeClr val="dk1"/>
              </a:solidFill>
              <a:latin typeface="Calibri"/>
              <a:ea typeface="Calibri"/>
              <a:cs typeface="Calibri"/>
              <a:sym typeface="Calibri"/>
            </a:endParaRPr>
          </a:p>
        </p:txBody>
      </p:sp>
      <p:sp>
        <p:nvSpPr>
          <p:cNvPr id="301" name="Google Shape;301;p13"/>
          <p:cNvSpPr/>
          <p:nvPr/>
        </p:nvSpPr>
        <p:spPr>
          <a:xfrm>
            <a:off x="5394960" y="4087368"/>
            <a:ext cx="321868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Build a full BI dashboard with trend analysis, alerts, and department-level insights.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06" name="Shape 306"/>
        <p:cNvGrpSpPr/>
        <p:nvPr/>
      </p:nvGrpSpPr>
      <p:grpSpPr>
        <a:xfrm>
          <a:off x="0" y="0"/>
          <a:ext cx="0" cy="0"/>
          <a:chOff x="0" y="0"/>
          <a:chExt cx="0" cy="0"/>
        </a:xfrm>
      </p:grpSpPr>
      <p:sp>
        <p:nvSpPr>
          <p:cNvPr id="307" name="Google Shape;307;p14"/>
          <p:cNvSpPr/>
          <p:nvPr/>
        </p:nvSpPr>
        <p:spPr>
          <a:xfrm>
            <a:off x="0" y="0"/>
            <a:ext cx="164592" cy="5143500"/>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8" name="Google Shape;308;p14"/>
          <p:cNvPicPr preferRelativeResize="0"/>
          <p:nvPr/>
        </p:nvPicPr>
        <p:blipFill rotWithShape="1">
          <a:blip r:embed="rId3">
            <a:alphaModFix/>
          </a:blip>
          <a:srcRect b="0" l="0" r="0" t="0"/>
          <a:stretch/>
        </p:blipFill>
        <p:spPr>
          <a:xfrm>
            <a:off x="3977640" y="457200"/>
            <a:ext cx="1188720" cy="1188720"/>
          </a:xfrm>
          <a:prstGeom prst="rect">
            <a:avLst/>
          </a:prstGeom>
          <a:noFill/>
          <a:ln>
            <a:noFill/>
          </a:ln>
        </p:spPr>
      </p:pic>
      <p:sp>
        <p:nvSpPr>
          <p:cNvPr id="309" name="Google Shape;309;p14"/>
          <p:cNvSpPr/>
          <p:nvPr/>
        </p:nvSpPr>
        <p:spPr>
          <a:xfrm>
            <a:off x="457200" y="1737360"/>
            <a:ext cx="82296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Thank You!</a:t>
            </a:r>
            <a:endParaRPr b="0" i="0" sz="4400" u="none" cap="none" strike="noStrike">
              <a:solidFill>
                <a:schemeClr val="dk1"/>
              </a:solidFill>
              <a:latin typeface="Calibri"/>
              <a:ea typeface="Calibri"/>
              <a:cs typeface="Calibri"/>
              <a:sym typeface="Calibri"/>
            </a:endParaRPr>
          </a:p>
        </p:txBody>
      </p:sp>
      <p:sp>
        <p:nvSpPr>
          <p:cNvPr id="310" name="Google Shape;310;p14"/>
          <p:cNvSpPr/>
          <p:nvPr/>
        </p:nvSpPr>
        <p:spPr>
          <a:xfrm>
            <a:off x="457200" y="2514600"/>
            <a:ext cx="82296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2200"/>
              <a:buFont typeface="Calibri"/>
              <a:buNone/>
            </a:pPr>
            <a:r>
              <a:rPr b="0" i="0" lang="en-US" sz="2200" u="none" cap="none" strike="noStrike">
                <a:solidFill>
                  <a:srgbClr val="14B8A6"/>
                </a:solidFill>
                <a:latin typeface="Calibri"/>
                <a:ea typeface="Calibri"/>
                <a:cs typeface="Calibri"/>
                <a:sym typeface="Calibri"/>
              </a:rPr>
              <a:t>Questions &amp; Discussion</a:t>
            </a:r>
            <a:endParaRPr b="0" i="0" sz="2200" u="none" cap="none" strike="noStrike">
              <a:solidFill>
                <a:schemeClr val="dk1"/>
              </a:solidFill>
              <a:latin typeface="Calibri"/>
              <a:ea typeface="Calibri"/>
              <a:cs typeface="Calibri"/>
              <a:sym typeface="Calibri"/>
            </a:endParaRPr>
          </a:p>
        </p:txBody>
      </p:sp>
      <p:sp>
        <p:nvSpPr>
          <p:cNvPr id="311" name="Google Shape;311;p14"/>
          <p:cNvSpPr/>
          <p:nvPr/>
        </p:nvSpPr>
        <p:spPr>
          <a:xfrm>
            <a:off x="2926080" y="3090672"/>
            <a:ext cx="3291840" cy="27432"/>
          </a:xfrm>
          <a:prstGeom prst="rect">
            <a:avLst/>
          </a:prstGeom>
          <a:solidFill>
            <a:srgbClr val="0F7173"/>
          </a:solidFill>
          <a:ln cap="flat" cmpd="sng" w="12700">
            <a:solidFill>
              <a:srgbClr val="0F71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457200" y="324612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300"/>
              <a:buFont typeface="Calibri"/>
              <a:buNone/>
            </a:pPr>
            <a:r>
              <a:rPr b="0" i="0" lang="en-US" sz="1300" u="none" cap="none" strike="noStrike">
                <a:solidFill>
                  <a:srgbClr val="E2E8F0"/>
                </a:solidFill>
                <a:latin typeface="Calibri"/>
                <a:ea typeface="Calibri"/>
                <a:cs typeface="Calibri"/>
                <a:sym typeface="Calibri"/>
              </a:rPr>
              <a:t>Anusree S  ·  Thanha Noorudheen TT  ·  Nihala Thajudeen</a:t>
            </a:r>
            <a:endParaRPr b="0" i="0" sz="1300" u="none" cap="none" strike="noStrike">
              <a:solidFill>
                <a:schemeClr val="dk1"/>
              </a:solidFill>
              <a:latin typeface="Calibri"/>
              <a:ea typeface="Calibri"/>
              <a:cs typeface="Calibri"/>
              <a:sym typeface="Calibri"/>
            </a:endParaRPr>
          </a:p>
        </p:txBody>
      </p:sp>
      <p:sp>
        <p:nvSpPr>
          <p:cNvPr id="313" name="Google Shape;313;p14"/>
          <p:cNvSpPr/>
          <p:nvPr/>
        </p:nvSpPr>
        <p:spPr>
          <a:xfrm>
            <a:off x="457200" y="365760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Predictive Analytics  |  Prof. Aswin V S  |  Digital University Kerala</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